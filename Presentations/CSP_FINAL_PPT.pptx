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handoutMasterIdLst>
    <p:handoutMasterId r:id="rId25"/>
  </p:handoutMasterIdLst>
  <p:sldIdLst>
    <p:sldId id="256" r:id="rId2"/>
    <p:sldId id="258" r:id="rId3"/>
    <p:sldId id="283" r:id="rId4"/>
    <p:sldId id="260" r:id="rId5"/>
    <p:sldId id="267" r:id="rId6"/>
    <p:sldId id="265" r:id="rId7"/>
    <p:sldId id="261" r:id="rId8"/>
    <p:sldId id="276" r:id="rId9"/>
    <p:sldId id="262" r:id="rId10"/>
    <p:sldId id="263" r:id="rId11"/>
    <p:sldId id="275" r:id="rId12"/>
    <p:sldId id="270" r:id="rId13"/>
    <p:sldId id="272" r:id="rId14"/>
    <p:sldId id="271" r:id="rId15"/>
    <p:sldId id="273" r:id="rId16"/>
    <p:sldId id="284" r:id="rId17"/>
    <p:sldId id="274" r:id="rId18"/>
    <p:sldId id="277" r:id="rId19"/>
    <p:sldId id="279" r:id="rId20"/>
    <p:sldId id="266" r:id="rId21"/>
    <p:sldId id="280" r:id="rId22"/>
    <p:sldId id="26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p:scale>
          <a:sx n="62" d="100"/>
          <a:sy n="62" d="100"/>
        </p:scale>
        <p:origin x="828" y="44"/>
      </p:cViewPr>
      <p:guideLst>
        <p:guide orient="horz" pos="2160"/>
        <p:guide pos="3840"/>
      </p:guideLst>
    </p:cSldViewPr>
  </p:slideViewPr>
  <p:notesTextViewPr>
    <p:cViewPr>
      <p:scale>
        <a:sx n="1" d="1"/>
        <a:sy n="1" d="1"/>
      </p:scale>
      <p:origin x="0" y="0"/>
    </p:cViewPr>
  </p:notesTextViewPr>
  <p:sorterViewPr>
    <p:cViewPr varScale="1">
      <p:scale>
        <a:sx n="1" d="1"/>
        <a:sy n="1" d="1"/>
      </p:scale>
      <p:origin x="0" y="-698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30516E9-13CA-60E9-249E-CF89981749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E2722662-31A4-9D26-E06F-A60DCF83EB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2E24EE1-0127-459A-9FAD-F1EAC3AD1137}" type="datetimeFigureOut">
              <a:rPr lang="en-IN" smtClean="0"/>
              <a:t>06-11-2025</a:t>
            </a:fld>
            <a:endParaRPr lang="en-IN"/>
          </a:p>
        </p:txBody>
      </p:sp>
      <p:sp>
        <p:nvSpPr>
          <p:cNvPr id="4" name="Footer Placeholder 3">
            <a:extLst>
              <a:ext uri="{FF2B5EF4-FFF2-40B4-BE49-F238E27FC236}">
                <a16:creationId xmlns:a16="http://schemas.microsoft.com/office/drawing/2014/main" id="{C675323C-6D8A-5B46-ED4E-BE539F560B5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4DDA2D4-7363-EDA3-0D31-9914FE8B7B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D1158C-560E-4119-A6C2-5B4C296DA0ED}" type="slidenum">
              <a:rPr lang="en-IN" smtClean="0"/>
              <a:t>‹#›</a:t>
            </a:fld>
            <a:endParaRPr lang="en-IN"/>
          </a:p>
        </p:txBody>
      </p:sp>
    </p:spTree>
    <p:extLst>
      <p:ext uri="{BB962C8B-B14F-4D97-AF65-F5344CB8AC3E}">
        <p14:creationId xmlns:p14="http://schemas.microsoft.com/office/powerpoint/2010/main" val="256831390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3045A6-5A1D-44FA-B9DB-1B67A78335BF}" type="datetimeFigureOut">
              <a:rPr lang="en-IN" smtClean="0"/>
              <a:t>06-11-2025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BB36B1-71AD-4885-B985-B10966D9E851}" type="slidenum">
              <a:rPr lang="en-IN" smtClean="0"/>
              <a:t>‹#›</a:t>
            </a:fld>
            <a:endParaRPr lang="en-IN"/>
          </a:p>
        </p:txBody>
      </p:sp>
    </p:spTree>
    <p:extLst>
      <p:ext uri="{BB962C8B-B14F-4D97-AF65-F5344CB8AC3E}">
        <p14:creationId xmlns:p14="http://schemas.microsoft.com/office/powerpoint/2010/main" val="279438973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BB36B1-71AD-4885-B985-B10966D9E851}" type="slidenum">
              <a:rPr lang="en-IN" smtClean="0"/>
              <a:t>1</a:t>
            </a:fld>
            <a:endParaRPr lang="en-IN"/>
          </a:p>
        </p:txBody>
      </p:sp>
    </p:spTree>
    <p:extLst>
      <p:ext uri="{BB962C8B-B14F-4D97-AF65-F5344CB8AC3E}">
        <p14:creationId xmlns:p14="http://schemas.microsoft.com/office/powerpoint/2010/main" val="4161788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06-11-2025</a:t>
            </a:r>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06-11-2025</a:t>
            </a:r>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1EEA561-D3F3-4347-86C9-65A85134870C}"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06-11-2025</a:t>
            </a:r>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06-11-2025</a:t>
            </a:r>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06-11-2025</a:t>
            </a:r>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06-11-2025</a:t>
            </a:r>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1EEA561-D3F3-4347-86C9-65A85134870C}"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06-11-2025</a:t>
            </a:r>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1EEA561-D3F3-4347-86C9-65A85134870C}"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06-11-2025</a:t>
            </a:r>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1EEA561-D3F3-4347-86C9-65A85134870C}"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06-11-2025</a:t>
            </a:r>
            <a:endParaRPr lang="en-IN"/>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06-11-2025</a:t>
            </a:r>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06-11-2025</a:t>
            </a:r>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1EEA561-D3F3-4347-86C9-65A85134870C}"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r>
              <a:rPr lang="en-US"/>
              <a:t>06-11-2025</a:t>
            </a:r>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r>
              <a:rPr lang="en-US"/>
              <a:t>06-11-2025</a:t>
            </a:r>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1EEA561-D3F3-4347-86C9-65A85134870C}"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r>
              <a:rPr lang="en-US"/>
              <a:t>06-11-2025</a:t>
            </a:r>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1EEA561-D3F3-4347-86C9-65A85134870C}"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06-11-2025</a:t>
            </a:r>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1EEA561-D3F3-4347-86C9-65A85134870C}"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06-11-2025</a:t>
            </a:r>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1EEA561-D3F3-4347-86C9-65A85134870C}"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06-11-2025</a:t>
            </a:r>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EEA561-D3F3-4347-86C9-65A85134870C}"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06-11-2025</a:t>
            </a:r>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1EEA561-D3F3-4347-86C9-65A85134870C}"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51380" y="1590040"/>
            <a:ext cx="8566785" cy="1258570"/>
          </a:xfrm>
          <a:prstGeom prst="rect">
            <a:avLst/>
          </a:prstGeom>
          <a:noFill/>
        </p:spPr>
        <p:txBody>
          <a:bodyPr wrap="square">
            <a:noAutofit/>
          </a:bodyPr>
          <a:lstStyle/>
          <a:p>
            <a:pPr>
              <a:lnSpc>
                <a:spcPct val="140000"/>
              </a:lnSpc>
            </a:pPr>
            <a:r>
              <a:rPr lang="en-IN" sz="2400" b="1" dirty="0">
                <a:latin typeface="Times New Roman" panose="02020603050405020304" pitchFamily="18" charset="0"/>
                <a:cs typeface="Times New Roman" panose="02020603050405020304" pitchFamily="18" charset="0"/>
              </a:rPr>
              <a:t>A NON INVASIVE METHOD FOR DETECTION OF ANEMIA IN CHILDRENS BY USING EYE-CONJUNCTIVA IMAGES</a:t>
            </a:r>
          </a:p>
        </p:txBody>
      </p:sp>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0015" y="210312"/>
            <a:ext cx="10881360" cy="1600200"/>
          </a:xfrm>
          <a:prstGeom prst="rect">
            <a:avLst/>
          </a:prstGeom>
        </p:spPr>
      </p:pic>
      <p:sp>
        <p:nvSpPr>
          <p:cNvPr id="8" name="TextBox 7"/>
          <p:cNvSpPr txBox="1"/>
          <p:nvPr/>
        </p:nvSpPr>
        <p:spPr>
          <a:xfrm>
            <a:off x="2077452" y="5047489"/>
            <a:ext cx="6096000" cy="119888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GUIDED BY:</a:t>
            </a:r>
          </a:p>
          <a:p>
            <a:r>
              <a:rPr lang="en-US" dirty="0">
                <a:latin typeface="Times New Roman" panose="02020603050405020304" pitchFamily="18" charset="0"/>
                <a:cs typeface="Times New Roman" panose="02020603050405020304" pitchFamily="18" charset="0"/>
              </a:rPr>
              <a:t>Dr. T. DHILIPHAN RAJKUMAR</a:t>
            </a:r>
          </a:p>
          <a:p>
            <a:r>
              <a:rPr lang="en-US" dirty="0">
                <a:latin typeface="Times New Roman" panose="02020603050405020304" pitchFamily="18" charset="0"/>
                <a:cs typeface="Times New Roman" panose="02020603050405020304" pitchFamily="18" charset="0"/>
              </a:rPr>
              <a:t>DEPARTMENT OF COMPUTER SCIENCE </a:t>
            </a:r>
          </a:p>
          <a:p>
            <a:r>
              <a:rPr lang="en-US" dirty="0">
                <a:latin typeface="Times New Roman" panose="02020603050405020304" pitchFamily="18" charset="0"/>
                <a:cs typeface="Times New Roman" panose="02020603050405020304" pitchFamily="18" charset="0"/>
              </a:rPr>
              <a:t>AND  ENGINEERING(KARE)</a:t>
            </a:r>
            <a:endParaRPr lang="en-IN"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8619363" y="5150612"/>
            <a:ext cx="1353820" cy="401955"/>
          </a:xfrm>
          <a:prstGeom prst="rect">
            <a:avLst/>
          </a:prstGeom>
          <a:noFill/>
        </p:spPr>
        <p:txBody>
          <a:bodyPr wrap="square">
            <a:noAutofit/>
          </a:bodyPr>
          <a:lstStyle/>
          <a:p>
            <a:r>
              <a:rPr lang="en-US" sz="1800" b="1" dirty="0">
                <a:latin typeface="Times New Roman" panose="02020603050405020304" pitchFamily="18" charset="0"/>
                <a:cs typeface="Times New Roman" panose="02020603050405020304" pitchFamily="18" charset="0"/>
              </a:rPr>
              <a:t>GROUP-03</a:t>
            </a:r>
            <a:endParaRPr lang="en-IN" sz="1800" b="1" dirty="0">
              <a:latin typeface="Times New Roman" panose="02020603050405020304" pitchFamily="18" charset="0"/>
              <a:cs typeface="Times New Roman" panose="02020603050405020304" pitchFamily="18" charset="0"/>
            </a:endParaRPr>
          </a:p>
        </p:txBody>
      </p:sp>
      <p:graphicFrame>
        <p:nvGraphicFramePr>
          <p:cNvPr id="2" name="Table 1"/>
          <p:cNvGraphicFramePr/>
          <p:nvPr>
            <p:custDataLst>
              <p:tags r:id="rId1"/>
            </p:custDataLst>
          </p:nvPr>
        </p:nvGraphicFramePr>
        <p:xfrm>
          <a:off x="2541270" y="3010535"/>
          <a:ext cx="7259955" cy="1828800"/>
        </p:xfrm>
        <a:graphic>
          <a:graphicData uri="http://schemas.openxmlformats.org/drawingml/2006/table">
            <a:tbl>
              <a:tblPr firstRow="1" bandRow="1">
                <a:tableStyleId>{5C22544A-7EE6-4342-B048-85BDC9FD1C3A}</a:tableStyleId>
              </a:tblPr>
              <a:tblGrid>
                <a:gridCol w="3374390">
                  <a:extLst>
                    <a:ext uri="{9D8B030D-6E8A-4147-A177-3AD203B41FA5}">
                      <a16:colId xmlns:a16="http://schemas.microsoft.com/office/drawing/2014/main" val="20000"/>
                    </a:ext>
                  </a:extLst>
                </a:gridCol>
                <a:gridCol w="3885565">
                  <a:extLst>
                    <a:ext uri="{9D8B030D-6E8A-4147-A177-3AD203B41FA5}">
                      <a16:colId xmlns:a16="http://schemas.microsoft.com/office/drawing/2014/main" val="20001"/>
                    </a:ext>
                  </a:extLst>
                </a:gridCol>
              </a:tblGrid>
              <a:tr h="365760">
                <a:tc>
                  <a:txBody>
                    <a:bodyPr/>
                    <a:lstStyle/>
                    <a:p>
                      <a:pPr algn="ctr">
                        <a:buNone/>
                      </a:pPr>
                      <a:r>
                        <a:rPr lang="en-IN" altLang="en-US">
                          <a:latin typeface="Times New Roman" panose="02020603050405020304" pitchFamily="18" charset="0"/>
                          <a:cs typeface="Times New Roman" panose="02020603050405020304" pitchFamily="18" charset="0"/>
                        </a:rPr>
                        <a:t>TEAM MEMBERS</a:t>
                      </a:r>
                    </a:p>
                  </a:txBody>
                  <a:tcPr/>
                </a:tc>
                <a:tc>
                  <a:txBody>
                    <a:bodyPr/>
                    <a:lstStyle/>
                    <a:p>
                      <a:pPr algn="ctr">
                        <a:buNone/>
                      </a:pPr>
                      <a:r>
                        <a:rPr lang="en-IN" altLang="en-US">
                          <a:latin typeface="Times New Roman" panose="02020603050405020304" pitchFamily="18" charset="0"/>
                          <a:cs typeface="Times New Roman" panose="02020603050405020304" pitchFamily="18" charset="0"/>
                        </a:rPr>
                        <a:t>REGISTRATION NUMBERS</a:t>
                      </a:r>
                    </a:p>
                  </a:txBody>
                  <a:tcPr/>
                </a:tc>
                <a:extLst>
                  <a:ext uri="{0D108BD9-81ED-4DB2-BD59-A6C34878D82A}">
                    <a16:rowId xmlns:a16="http://schemas.microsoft.com/office/drawing/2014/main" val="10000"/>
                  </a:ext>
                </a:extLst>
              </a:tr>
              <a:tr h="365760">
                <a:tc>
                  <a:txBody>
                    <a:bodyPr/>
                    <a:lstStyle/>
                    <a:p>
                      <a:pPr>
                        <a:buNone/>
                      </a:pPr>
                      <a:r>
                        <a:rPr lang="en-IN" altLang="en-US" dirty="0" err="1">
                          <a:latin typeface="Times New Roman" panose="02020603050405020304" pitchFamily="18" charset="0"/>
                          <a:cs typeface="Times New Roman" panose="02020603050405020304" pitchFamily="18" charset="0"/>
                        </a:rPr>
                        <a:t>Gorsipati</a:t>
                      </a:r>
                      <a:r>
                        <a:rPr lang="en-IN" altLang="en-US" dirty="0">
                          <a:latin typeface="Times New Roman" panose="02020603050405020304" pitchFamily="18" charset="0"/>
                          <a:cs typeface="Times New Roman" panose="02020603050405020304" pitchFamily="18" charset="0"/>
                        </a:rPr>
                        <a:t> Avinash</a:t>
                      </a:r>
                    </a:p>
                  </a:txBody>
                  <a:tcPr/>
                </a:tc>
                <a:tc>
                  <a:txBody>
                    <a:bodyPr/>
                    <a:lstStyle/>
                    <a:p>
                      <a:pPr algn="ctr">
                        <a:buNone/>
                      </a:pPr>
                      <a:r>
                        <a:rPr lang="en-IN" altLang="en-US" dirty="0">
                          <a:latin typeface="Times New Roman" panose="02020603050405020304" pitchFamily="18" charset="0"/>
                          <a:cs typeface="Times New Roman" panose="02020603050405020304" pitchFamily="18" charset="0"/>
                        </a:rPr>
                        <a:t>99230040556</a:t>
                      </a:r>
                    </a:p>
                  </a:txBody>
                  <a:tcPr/>
                </a:tc>
                <a:extLst>
                  <a:ext uri="{0D108BD9-81ED-4DB2-BD59-A6C34878D82A}">
                    <a16:rowId xmlns:a16="http://schemas.microsoft.com/office/drawing/2014/main" val="10001"/>
                  </a:ext>
                </a:extLst>
              </a:tr>
              <a:tr h="365760">
                <a:tc>
                  <a:txBody>
                    <a:bodyPr/>
                    <a:lstStyle/>
                    <a:p>
                      <a:pPr>
                        <a:buNone/>
                      </a:pPr>
                      <a:r>
                        <a:rPr lang="en-IN" altLang="en-US" dirty="0" err="1">
                          <a:latin typeface="Times New Roman" panose="02020603050405020304" pitchFamily="18" charset="0"/>
                          <a:cs typeface="Times New Roman" panose="02020603050405020304" pitchFamily="18" charset="0"/>
                        </a:rPr>
                        <a:t>G.Viswa</a:t>
                      </a:r>
                      <a:r>
                        <a:rPr lang="en-IN" altLang="en-US" dirty="0">
                          <a:latin typeface="Times New Roman" panose="02020603050405020304" pitchFamily="18" charset="0"/>
                          <a:cs typeface="Times New Roman" panose="02020603050405020304" pitchFamily="18" charset="0"/>
                        </a:rPr>
                        <a:t> Datta Reddy</a:t>
                      </a:r>
                    </a:p>
                  </a:txBody>
                  <a:tcPr/>
                </a:tc>
                <a:tc>
                  <a:txBody>
                    <a:bodyPr/>
                    <a:lstStyle/>
                    <a:p>
                      <a:pPr algn="ctr">
                        <a:buNone/>
                      </a:pPr>
                      <a:r>
                        <a:rPr lang="en-IN" altLang="en-US" dirty="0">
                          <a:latin typeface="Times New Roman" panose="02020603050405020304" pitchFamily="18" charset="0"/>
                          <a:cs typeface="Times New Roman" panose="02020603050405020304" pitchFamily="18" charset="0"/>
                        </a:rPr>
                        <a:t>99230040557</a:t>
                      </a:r>
                    </a:p>
                  </a:txBody>
                  <a:tcPr/>
                </a:tc>
                <a:extLst>
                  <a:ext uri="{0D108BD9-81ED-4DB2-BD59-A6C34878D82A}">
                    <a16:rowId xmlns:a16="http://schemas.microsoft.com/office/drawing/2014/main" val="10002"/>
                  </a:ext>
                </a:extLst>
              </a:tr>
              <a:tr h="365760">
                <a:tc>
                  <a:txBody>
                    <a:bodyPr/>
                    <a:lstStyle/>
                    <a:p>
                      <a:pPr>
                        <a:buNone/>
                      </a:pPr>
                      <a:r>
                        <a:rPr lang="en-IN" altLang="en-US" dirty="0" err="1">
                          <a:latin typeface="Times New Roman" panose="02020603050405020304" pitchFamily="18" charset="0"/>
                          <a:cs typeface="Times New Roman" panose="02020603050405020304" pitchFamily="18" charset="0"/>
                        </a:rPr>
                        <a:t>M.Sumalatha</a:t>
                      </a:r>
                      <a:endParaRPr lang="en-IN" altLang="en-US" dirty="0">
                        <a:latin typeface="Times New Roman" panose="02020603050405020304" pitchFamily="18" charset="0"/>
                        <a:cs typeface="Times New Roman" panose="02020603050405020304" pitchFamily="18" charset="0"/>
                      </a:endParaRPr>
                    </a:p>
                  </a:txBody>
                  <a:tcPr/>
                </a:tc>
                <a:tc>
                  <a:txBody>
                    <a:bodyPr/>
                    <a:lstStyle/>
                    <a:p>
                      <a:pPr algn="ctr">
                        <a:buNone/>
                      </a:pPr>
                      <a:r>
                        <a:rPr lang="en-IN" altLang="en-US">
                          <a:latin typeface="Times New Roman" panose="02020603050405020304" pitchFamily="18" charset="0"/>
                          <a:cs typeface="Times New Roman" panose="02020603050405020304" pitchFamily="18" charset="0"/>
                        </a:rPr>
                        <a:t>99230040677</a:t>
                      </a:r>
                    </a:p>
                  </a:txBody>
                  <a:tcPr/>
                </a:tc>
                <a:extLst>
                  <a:ext uri="{0D108BD9-81ED-4DB2-BD59-A6C34878D82A}">
                    <a16:rowId xmlns:a16="http://schemas.microsoft.com/office/drawing/2014/main" val="10003"/>
                  </a:ext>
                </a:extLst>
              </a:tr>
              <a:tr h="365760">
                <a:tc>
                  <a:txBody>
                    <a:bodyPr/>
                    <a:lstStyle/>
                    <a:p>
                      <a:pPr>
                        <a:buNone/>
                      </a:pPr>
                      <a:r>
                        <a:rPr lang="en-IN" altLang="en-US">
                          <a:latin typeface="Times New Roman" panose="02020603050405020304" pitchFamily="18" charset="0"/>
                          <a:cs typeface="Times New Roman" panose="02020603050405020304" pitchFamily="18" charset="0"/>
                        </a:rPr>
                        <a:t>Matam Vandana</a:t>
                      </a:r>
                    </a:p>
                  </a:txBody>
                  <a:tcPr/>
                </a:tc>
                <a:tc>
                  <a:txBody>
                    <a:bodyPr/>
                    <a:lstStyle/>
                    <a:p>
                      <a:pPr algn="ctr">
                        <a:buNone/>
                      </a:pPr>
                      <a:r>
                        <a:rPr lang="en-IN" altLang="en-US" dirty="0">
                          <a:latin typeface="Times New Roman" panose="02020603050405020304" pitchFamily="18" charset="0"/>
                          <a:cs typeface="Times New Roman" panose="02020603050405020304" pitchFamily="18" charset="0"/>
                        </a:rPr>
                        <a:t>99230040665</a:t>
                      </a:r>
                    </a:p>
                  </a:txBody>
                  <a:tcPr/>
                </a:tc>
                <a:extLst>
                  <a:ext uri="{0D108BD9-81ED-4DB2-BD59-A6C34878D82A}">
                    <a16:rowId xmlns:a16="http://schemas.microsoft.com/office/drawing/2014/main" val="10004"/>
                  </a:ext>
                </a:extLst>
              </a:tr>
            </a:tbl>
          </a:graphicData>
        </a:graphic>
      </p:graphicFrame>
      <p:sp>
        <p:nvSpPr>
          <p:cNvPr id="3" name="Date Placeholder 2">
            <a:extLst>
              <a:ext uri="{FF2B5EF4-FFF2-40B4-BE49-F238E27FC236}">
                <a16:creationId xmlns:a16="http://schemas.microsoft.com/office/drawing/2014/main" id="{E895BAC1-2819-4A36-9308-08AC3A3559C8}"/>
              </a:ext>
            </a:extLst>
          </p:cNvPr>
          <p:cNvSpPr>
            <a:spLocks noGrp="1"/>
          </p:cNvSpPr>
          <p:nvPr>
            <p:ph type="dt" sz="half" idx="10"/>
          </p:nvPr>
        </p:nvSpPr>
        <p:spPr>
          <a:xfrm>
            <a:off x="10361612" y="6079067"/>
            <a:ext cx="1146283" cy="370396"/>
          </a:xfrm>
        </p:spPr>
        <p:txBody>
          <a:bodyPr/>
          <a:lstStyle/>
          <a:p>
            <a:r>
              <a:rPr lang="en-US" b="1" dirty="0"/>
              <a:t>06-11-2025  /1</a:t>
            </a:r>
            <a:endParaRPr lang="en-IN"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92968" y="1531839"/>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OBJECTIVE:</a:t>
            </a:r>
          </a:p>
        </p:txBody>
      </p:sp>
      <p:sp>
        <p:nvSpPr>
          <p:cNvPr id="5" name="TextBox 4"/>
          <p:cNvSpPr txBox="1"/>
          <p:nvPr/>
        </p:nvSpPr>
        <p:spPr>
          <a:xfrm>
            <a:off x="2277745" y="2229485"/>
            <a:ext cx="9031605" cy="2517140"/>
          </a:xfrm>
          <a:prstGeom prst="rect">
            <a:avLst/>
          </a:prstGeom>
          <a:noFill/>
        </p:spPr>
        <p:txBody>
          <a:bodyPr wrap="square">
            <a:noAutofit/>
          </a:bodyPr>
          <a:lstStyle/>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To Detect Anemia in Children with Eye-Conjunctiva Images using Convolutional Neural Network(CNN).</a:t>
            </a:r>
          </a:p>
          <a:p>
            <a:pPr algn="just"/>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provide an alternative to blood tests and minimizing discomfort and risk for children.</a:t>
            </a:r>
          </a:p>
          <a:p>
            <a:pPr algn="just"/>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analyze eye-conjunctiva images as an indicator of conjunctival pallor (a symptom of anemia).</a:t>
            </a:r>
          </a:p>
          <a:p>
            <a:pPr algn="just"/>
            <a:endParaRPr lang="en-IN"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65644465-B4B7-2806-2AAE-81ED90A20928}"/>
              </a:ext>
            </a:extLst>
          </p:cNvPr>
          <p:cNvSpPr>
            <a:spLocks noGrp="1"/>
          </p:cNvSpPr>
          <p:nvPr>
            <p:ph type="dt" sz="half" idx="10"/>
          </p:nvPr>
        </p:nvSpPr>
        <p:spPr/>
        <p:txBody>
          <a:bodyPr/>
          <a:lstStyle/>
          <a:p>
            <a:r>
              <a:rPr lang="en-US" b="1" dirty="0"/>
              <a:t>06-11-2025 /2</a:t>
            </a:r>
            <a:endParaRPr lang="en-IN"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6744B66-3080-E4FD-7318-33B3659C6031}"/>
              </a:ext>
            </a:extLst>
          </p:cNvPr>
          <p:cNvSpPr txBox="1"/>
          <p:nvPr/>
        </p:nvSpPr>
        <p:spPr>
          <a:xfrm>
            <a:off x="1968246" y="1584698"/>
            <a:ext cx="6094476" cy="369332"/>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OVERVIEW OF THE PROJECT:</a:t>
            </a:r>
          </a:p>
        </p:txBody>
      </p:sp>
      <p:sp>
        <p:nvSpPr>
          <p:cNvPr id="7" name="TextBox 6">
            <a:extLst>
              <a:ext uri="{FF2B5EF4-FFF2-40B4-BE49-F238E27FC236}">
                <a16:creationId xmlns:a16="http://schemas.microsoft.com/office/drawing/2014/main" id="{56F21F24-E8E7-CAB1-10CF-BB20ACCDF5A3}"/>
              </a:ext>
            </a:extLst>
          </p:cNvPr>
          <p:cNvSpPr txBox="1"/>
          <p:nvPr/>
        </p:nvSpPr>
        <p:spPr>
          <a:xfrm>
            <a:off x="3330575" y="1490980"/>
            <a:ext cx="6094730" cy="2740660"/>
          </a:xfrm>
          <a:prstGeom prst="rect">
            <a:avLst/>
          </a:prstGeom>
          <a:noFill/>
        </p:spPr>
        <p:txBody>
          <a:bodyPr wrap="square">
            <a:noAutofit/>
          </a:bodyPr>
          <a:lstStyle/>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OBJECTIVE</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INTRODUCTION</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PROBLEM STATEMENT</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COMMUNITY IMPACT</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LITERATURE SURVEY</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METHODOLOGY</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SOFTWARE COMPONENTS</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ALGORITHM</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IMPLEMENTATION</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MODEL ARCHITECTURE</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EXPERIMENTAL RESULTS AND DISCUSSION</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CONCLUSION</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REFERENCES</a:t>
            </a:r>
          </a:p>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D33E6890-0EB9-8F27-F801-CE37791E10DB}"/>
              </a:ext>
            </a:extLst>
          </p:cNvPr>
          <p:cNvSpPr>
            <a:spLocks noGrp="1"/>
          </p:cNvSpPr>
          <p:nvPr>
            <p:ph type="dt" sz="half" idx="10"/>
          </p:nvPr>
        </p:nvSpPr>
        <p:spPr/>
        <p:txBody>
          <a:bodyPr/>
          <a:lstStyle/>
          <a:p>
            <a:r>
              <a:rPr lang="en-US" b="1" dirty="0"/>
              <a:t>06-11-2025 /3</a:t>
            </a:r>
            <a:endParaRPr lang="en-IN" b="1" dirty="0"/>
          </a:p>
        </p:txBody>
      </p:sp>
    </p:spTree>
    <p:extLst>
      <p:ext uri="{BB962C8B-B14F-4D97-AF65-F5344CB8AC3E}">
        <p14:creationId xmlns:p14="http://schemas.microsoft.com/office/powerpoint/2010/main" val="4012475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64631" y="938281"/>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INTRODUCTION:</a:t>
            </a:r>
          </a:p>
        </p:txBody>
      </p:sp>
      <p:sp>
        <p:nvSpPr>
          <p:cNvPr id="5" name="TextBox 4"/>
          <p:cNvSpPr txBox="1"/>
          <p:nvPr/>
        </p:nvSpPr>
        <p:spPr>
          <a:xfrm>
            <a:off x="1564640" y="1400810"/>
            <a:ext cx="9869805" cy="4805680"/>
          </a:xfrm>
          <a:prstGeom prst="rect">
            <a:avLst/>
          </a:prstGeom>
          <a:noFill/>
        </p:spPr>
        <p:txBody>
          <a:bodyPr wrap="square">
            <a:noAutofit/>
          </a:bodyPr>
          <a:lstStyle/>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Iron deficiency is most commonly the cause of anemia and results in fatigue, weakness, and impaired mental development.</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Early diagnosis is necessary to avoid long-term health complications.</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Conventional methods of diagnosis depend on invasive blood tests, which are painful, expensive, and need trained operators.</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A non-invasive, fast, and friendly-to-children alternative for screening anemia is needed.</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The conjunctiva of the eye (the interior of the lower lid) exhibits visible pallor in anemic patients.</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These signs can be identified using technology through image-based analysis of the conjunctiva.</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New technologies in computer vision and machine learning provide new means for automating this detection.</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rPr>
              <a:t>This project seeks to utilize these technologies to construct an efficient and non-invasive anemia diagnosis tool for children.</a:t>
            </a:r>
          </a:p>
          <a:p>
            <a:pPr marL="285750" indent="-285750" algn="just">
              <a:lnSpc>
                <a:spcPct val="130000"/>
              </a:lnSpc>
              <a:spcAft>
                <a:spcPts val="0"/>
              </a:spcAft>
              <a:buFont typeface="Wingdings" panose="05000000000000000000" pitchFamily="2" charset="2"/>
              <a:buChar char="Ø"/>
            </a:pPr>
            <a:r>
              <a:rPr lang="en-US" altLang="zh-CN" dirty="0">
                <a:latin typeface="Times New Roman" panose="02020603050405020304" pitchFamily="18" charset="0"/>
                <a:ea typeface="仿宋" charset="0"/>
                <a:cs typeface="Times New Roman" panose="02020603050405020304" pitchFamily="18" charset="0"/>
                <a:sym typeface="+mn-ea"/>
              </a:rPr>
              <a:t>Anemia is a common health condition among children, particularly in underdeveloped nations.</a:t>
            </a:r>
            <a:endParaRPr lang="en-US" altLang="zh-CN" dirty="0">
              <a:latin typeface="Times New Roman" panose="02020603050405020304" pitchFamily="18" charset="0"/>
              <a:ea typeface="仿宋" charset="0"/>
              <a:cs typeface="Times New Roman" panose="02020603050405020304" pitchFamily="18" charset="0"/>
            </a:endParaRPr>
          </a:p>
          <a:p>
            <a:pPr marL="285750" indent="-285750" algn="just">
              <a:lnSpc>
                <a:spcPct val="130000"/>
              </a:lnSpc>
              <a:spcAft>
                <a:spcPts val="0"/>
              </a:spcAft>
              <a:buFont typeface="Wingdings" panose="05000000000000000000" pitchFamily="2" charset="2"/>
              <a:buChar char="Ø"/>
            </a:pPr>
            <a:endParaRPr lang="en-US" altLang="zh-CN" dirty="0">
              <a:latin typeface="Times New Roman" panose="02020603050405020304" pitchFamily="18" charset="0"/>
              <a:ea typeface="仿宋" charset="0"/>
              <a:cs typeface="Times New Roman" panose="02020603050405020304" pitchFamily="18" charset="0"/>
            </a:endParaRPr>
          </a:p>
          <a:p>
            <a:pPr marL="285750" indent="-285750" algn="just">
              <a:lnSpc>
                <a:spcPct val="130000"/>
              </a:lnSpc>
              <a:spcAft>
                <a:spcPts val="0"/>
              </a:spcAft>
              <a:buFont typeface="Wingdings" panose="05000000000000000000" pitchFamily="2" charset="2"/>
              <a:buChar char="Ø"/>
            </a:pPr>
            <a:endParaRPr lang="en-US" altLang="zh-CN" dirty="0">
              <a:latin typeface="Times New Roman" panose="02020603050405020304" pitchFamily="18" charset="0"/>
              <a:ea typeface="仿宋" charset="0"/>
              <a:cs typeface="Times New Roman" panose="02020603050405020304" pitchFamily="18" charset="0"/>
            </a:endParaRPr>
          </a:p>
          <a:p>
            <a:pPr algn="just">
              <a:lnSpc>
                <a:spcPct val="130000"/>
              </a:lnSpc>
            </a:pPr>
            <a:endParaRPr lang="en-US" altLang="zh-CN" dirty="0">
              <a:latin typeface="Times New Roman" panose="02020603050405020304" pitchFamily="18" charset="0"/>
              <a:ea typeface="仿宋" charset="0"/>
              <a:cs typeface="Times New Roman" panose="02020603050405020304" pitchFamily="18" charset="0"/>
            </a:endParaRPr>
          </a:p>
          <a:p>
            <a:pPr marL="285750" indent="-285750" algn="just">
              <a:lnSpc>
                <a:spcPct val="130000"/>
              </a:lnSpc>
              <a:spcAft>
                <a:spcPts val="0"/>
              </a:spcAft>
              <a:buFont typeface="Wingdings" panose="05000000000000000000" pitchFamily="2" charset="2"/>
              <a:buChar char="Ø"/>
            </a:pPr>
            <a:endParaRPr lang="en-US" altLang="zh-CN" dirty="0">
              <a:latin typeface="Times New Roman" panose="02020603050405020304" pitchFamily="18" charset="0"/>
              <a:ea typeface="仿宋"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851BE611-54BC-31B9-936D-C68BE13ACCE9}"/>
              </a:ext>
            </a:extLst>
          </p:cNvPr>
          <p:cNvSpPr>
            <a:spLocks noGrp="1"/>
          </p:cNvSpPr>
          <p:nvPr>
            <p:ph type="dt" sz="half" idx="10"/>
          </p:nvPr>
        </p:nvSpPr>
        <p:spPr/>
        <p:txBody>
          <a:bodyPr/>
          <a:lstStyle/>
          <a:p>
            <a:r>
              <a:rPr lang="en-US" b="1" dirty="0"/>
              <a:t>06-11-2025 /4</a:t>
            </a:r>
            <a:endParaRPr lang="en-IN"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68246" y="1584698"/>
            <a:ext cx="6094476"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PROBLEM STATEMENT:</a:t>
            </a:r>
          </a:p>
        </p:txBody>
      </p:sp>
      <p:sp>
        <p:nvSpPr>
          <p:cNvPr id="5" name="TextBox 4"/>
          <p:cNvSpPr txBox="1"/>
          <p:nvPr/>
        </p:nvSpPr>
        <p:spPr>
          <a:xfrm>
            <a:off x="2544256" y="1984808"/>
            <a:ext cx="8227376" cy="2277610"/>
          </a:xfrm>
          <a:prstGeom prst="rect">
            <a:avLst/>
          </a:prstGeom>
          <a:noFill/>
        </p:spPr>
        <p:txBody>
          <a:bodyPr wrap="square">
            <a:noAutofit/>
          </a:bodyPr>
          <a:lstStyle/>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lnSpc>
                <a:spcPct val="200000"/>
              </a:lnSpc>
            </a:pPr>
            <a:r>
              <a:rPr lang="en-US" dirty="0">
                <a:latin typeface="Times New Roman" panose="02020603050405020304" pitchFamily="18" charset="0"/>
                <a:cs typeface="Times New Roman" panose="02020603050405020304" pitchFamily="18" charset="0"/>
              </a:rPr>
              <a:t>There are Invasive methods to detect anemia like…(Blood Test,</a:t>
            </a:r>
            <a:r>
              <a:rPr lang="en-IN" dirty="0">
                <a:latin typeface="Times New Roman" panose="02020603050405020304" pitchFamily="18" charset="0"/>
                <a:cs typeface="Times New Roman" panose="02020603050405020304" pitchFamily="18" charset="0"/>
              </a:rPr>
              <a:t> Bone Marrow Biopsy</a:t>
            </a:r>
            <a:r>
              <a:rPr lang="en-US" dirty="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But using those methods for children's is risky and painful. So a  NON-INVASIVE method is needed.</a:t>
            </a: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D2E544F-13E5-9FC0-7505-F3AD5ADEDA33}"/>
              </a:ext>
            </a:extLst>
          </p:cNvPr>
          <p:cNvSpPr>
            <a:spLocks noGrp="1"/>
          </p:cNvSpPr>
          <p:nvPr>
            <p:ph type="dt" sz="half" idx="10"/>
          </p:nvPr>
        </p:nvSpPr>
        <p:spPr/>
        <p:txBody>
          <a:bodyPr/>
          <a:lstStyle/>
          <a:p>
            <a:r>
              <a:rPr lang="en-US" b="1" dirty="0"/>
              <a:t>06-11-2025 /5</a:t>
            </a:r>
            <a:endParaRPr lang="en-IN"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42566" y="1849874"/>
            <a:ext cx="6094476"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 COMMUNITY IMPACT:</a:t>
            </a:r>
          </a:p>
        </p:txBody>
      </p:sp>
      <p:sp>
        <p:nvSpPr>
          <p:cNvPr id="5" name="TextBox 4"/>
          <p:cNvSpPr txBox="1"/>
          <p:nvPr/>
        </p:nvSpPr>
        <p:spPr>
          <a:xfrm>
            <a:off x="2672080" y="2722245"/>
            <a:ext cx="7623810" cy="1603375"/>
          </a:xfrm>
          <a:prstGeom prst="rect">
            <a:avLst/>
          </a:prstGeom>
          <a:noFill/>
        </p:spPr>
        <p:txBody>
          <a:bodyPr wrap="square">
            <a:noAutofit/>
          </a:bodyPr>
          <a:lstStyle/>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community service project aims to detect anemia in children </a:t>
            </a:r>
            <a:r>
              <a:rPr lang="en-IN" altLang="en-US" dirty="0">
                <a:latin typeface="Times New Roman" panose="02020603050405020304" pitchFamily="18" charset="0"/>
                <a:cs typeface="Times New Roman" panose="02020603050405020304" pitchFamily="18" charset="0"/>
              </a:rPr>
              <a:t>6 years and below 6</a:t>
            </a:r>
            <a:r>
              <a:rPr lang="en-US" dirty="0">
                <a:latin typeface="Times New Roman" panose="02020603050405020304" pitchFamily="18" charset="0"/>
                <a:cs typeface="Times New Roman" panose="02020603050405020304" pitchFamily="18" charset="0"/>
              </a:rPr>
              <a:t> years by analyzing images of their eye conjunctiva. </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Early identification of anemia is crucial for preventing health complications and promoting the overall well-being of young children of age </a:t>
            </a:r>
            <a:r>
              <a:rPr lang="en-IN" altLang="en-US" dirty="0">
                <a:latin typeface="Times New Roman" panose="02020603050405020304" pitchFamily="18" charset="0"/>
                <a:cs typeface="Times New Roman" panose="02020603050405020304" pitchFamily="18" charset="0"/>
              </a:rPr>
              <a:t>6 </a:t>
            </a:r>
            <a:r>
              <a:rPr lang="en-US" dirty="0">
                <a:latin typeface="Times New Roman" panose="02020603050405020304" pitchFamily="18" charset="0"/>
                <a:cs typeface="Times New Roman" panose="02020603050405020304" pitchFamily="18" charset="0"/>
              </a:rPr>
              <a:t>years.</a:t>
            </a:r>
            <a:endParaRPr lang="en-US"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1354042-7992-D13B-C058-3BCEE08BC895}"/>
              </a:ext>
            </a:extLst>
          </p:cNvPr>
          <p:cNvSpPr>
            <a:spLocks noGrp="1"/>
          </p:cNvSpPr>
          <p:nvPr>
            <p:ph type="dt" sz="half" idx="10"/>
          </p:nvPr>
        </p:nvSpPr>
        <p:spPr/>
        <p:txBody>
          <a:bodyPr/>
          <a:lstStyle/>
          <a:p>
            <a:r>
              <a:rPr lang="en-US" b="1" dirty="0"/>
              <a:t>06-11-2025 /6</a:t>
            </a:r>
            <a:endParaRPr lang="en-IN"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72260" y="442595"/>
            <a:ext cx="6096000" cy="481965"/>
          </a:xfrm>
          <a:prstGeom prst="rect">
            <a:avLst/>
          </a:prstGeom>
          <a:noFill/>
        </p:spPr>
        <p:txBody>
          <a:bodyPr wrap="square">
            <a:noAutofit/>
          </a:bodyPr>
          <a:lstStyle/>
          <a:p>
            <a:r>
              <a:rPr lang="en-IN" sz="2400" b="1" dirty="0">
                <a:latin typeface="Times New Roman" panose="02020603050405020304" pitchFamily="18" charset="0"/>
                <a:cs typeface="Times New Roman" panose="02020603050405020304" pitchFamily="18" charset="0"/>
              </a:rPr>
              <a:t>LITERATURE SURVEY:</a:t>
            </a:r>
          </a:p>
        </p:txBody>
      </p:sp>
      <p:graphicFrame>
        <p:nvGraphicFramePr>
          <p:cNvPr id="8" name="Table 7"/>
          <p:cNvGraphicFramePr/>
          <p:nvPr>
            <p:custDataLst>
              <p:tags r:id="rId1"/>
            </p:custDataLst>
            <p:extLst>
              <p:ext uri="{D42A27DB-BD31-4B8C-83A1-F6EECF244321}">
                <p14:modId xmlns:p14="http://schemas.microsoft.com/office/powerpoint/2010/main" val="2825235397"/>
              </p:ext>
            </p:extLst>
          </p:nvPr>
        </p:nvGraphicFramePr>
        <p:xfrm>
          <a:off x="493159" y="1117602"/>
          <a:ext cx="11014735" cy="5297804"/>
        </p:xfrm>
        <a:graphic>
          <a:graphicData uri="http://schemas.openxmlformats.org/drawingml/2006/table">
            <a:tbl>
              <a:tblPr firstRow="1" bandRow="1">
                <a:tableStyleId>{5C22544A-7EE6-4342-B048-85BDC9FD1C3A}</a:tableStyleId>
              </a:tblPr>
              <a:tblGrid>
                <a:gridCol w="3702867">
                  <a:extLst>
                    <a:ext uri="{9D8B030D-6E8A-4147-A177-3AD203B41FA5}">
                      <a16:colId xmlns:a16="http://schemas.microsoft.com/office/drawing/2014/main" val="20000"/>
                    </a:ext>
                  </a:extLst>
                </a:gridCol>
                <a:gridCol w="7311868">
                  <a:extLst>
                    <a:ext uri="{9D8B030D-6E8A-4147-A177-3AD203B41FA5}">
                      <a16:colId xmlns:a16="http://schemas.microsoft.com/office/drawing/2014/main" val="20001"/>
                    </a:ext>
                  </a:extLst>
                </a:gridCol>
              </a:tblGrid>
              <a:tr h="426166">
                <a:tc>
                  <a:txBody>
                    <a:bodyPr/>
                    <a:lstStyle/>
                    <a:p>
                      <a:pPr algn="just">
                        <a:buNone/>
                      </a:pPr>
                      <a:r>
                        <a:rPr lang="en-IN" altLang="en-US" dirty="0">
                          <a:latin typeface="Times New Roman" panose="02020603050405020304" pitchFamily="18" charset="0"/>
                          <a:cs typeface="Times New Roman" panose="02020603050405020304" pitchFamily="18" charset="0"/>
                        </a:rPr>
                        <a:t>PAPER DETAILS</a:t>
                      </a:r>
                    </a:p>
                  </a:txBody>
                  <a:tcPr/>
                </a:tc>
                <a:tc>
                  <a:txBody>
                    <a:bodyPr/>
                    <a:lstStyle/>
                    <a:p>
                      <a:pPr algn="just">
                        <a:buNone/>
                      </a:pPr>
                      <a:r>
                        <a:rPr lang="en-IN" altLang="en-US">
                          <a:latin typeface="Times New Roman" panose="02020603050405020304" pitchFamily="18" charset="0"/>
                          <a:cs typeface="Times New Roman" panose="02020603050405020304" pitchFamily="18" charset="0"/>
                        </a:rPr>
                        <a:t>PAPER DESCRIPTION</a:t>
                      </a:r>
                    </a:p>
                  </a:txBody>
                  <a:tcPr/>
                </a:tc>
                <a:extLst>
                  <a:ext uri="{0D108BD9-81ED-4DB2-BD59-A6C34878D82A}">
                    <a16:rowId xmlns:a16="http://schemas.microsoft.com/office/drawing/2014/main" val="10000"/>
                  </a:ext>
                </a:extLst>
              </a:tr>
              <a:tr h="2343337">
                <a:tc>
                  <a:txBody>
                    <a:bodyPr/>
                    <a:lstStyle/>
                    <a:p>
                      <a:pPr algn="just">
                        <a:buNone/>
                      </a:pPr>
                      <a:r>
                        <a:rPr lang="en-IN" altLang="en-US" dirty="0">
                          <a:latin typeface="Times New Roman" panose="02020603050405020304" pitchFamily="18" charset="0"/>
                          <a:cs typeface="Times New Roman" panose="02020603050405020304" pitchFamily="18" charset="0"/>
                        </a:rPr>
                        <a:t>Justice Williams Asare, William Leslie Brown-Acquaye ,et.al </a:t>
                      </a:r>
                      <a:r>
                        <a:rPr lang="en-US" altLang="en-US" dirty="0">
                          <a:latin typeface="Times New Roman" panose="02020603050405020304" pitchFamily="18" charset="0"/>
                          <a:cs typeface="Times New Roman" panose="02020603050405020304" pitchFamily="18" charset="0"/>
                        </a:rPr>
                        <a:t>"Application of machine learning approach for iron deficiency anemia using conjunctiva images"</a:t>
                      </a:r>
                      <a:r>
                        <a:rPr lang="en-IN" altLang="en-US" dirty="0">
                          <a:latin typeface="Times New Roman" panose="02020603050405020304" pitchFamily="18" charset="0"/>
                          <a:cs typeface="Times New Roman" panose="02020603050405020304" pitchFamily="18" charset="0"/>
                        </a:rPr>
                        <a:t>,Informatics in Medicine Unlocked , Elsevier, 19 January 2024.</a:t>
                      </a:r>
                    </a:p>
                  </a:txBody>
                  <a:tcPr/>
                </a:tc>
                <a:tc>
                  <a:txBody>
                    <a:bodyPr/>
                    <a:lstStyle/>
                    <a:p>
                      <a:pPr algn="just">
                        <a:buNone/>
                      </a:pPr>
                      <a:r>
                        <a:rPr lang="en-US" altLang="en-US" b="1" dirty="0">
                          <a:latin typeface="Times New Roman" panose="02020603050405020304" pitchFamily="18" charset="0"/>
                          <a:cs typeface="Times New Roman" panose="02020603050405020304" pitchFamily="18" charset="0"/>
                        </a:rPr>
                        <a:t>Work:</a:t>
                      </a:r>
                      <a:r>
                        <a:rPr lang="en-US" altLang="en-US" dirty="0">
                          <a:latin typeface="Times New Roman" panose="02020603050405020304" pitchFamily="18" charset="0"/>
                          <a:cs typeface="Times New Roman" panose="02020603050405020304" pitchFamily="18" charset="0"/>
                        </a:rPr>
                        <a:t> In this work, we used images of the</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conjunctiva of the eyes to examine how well convolutional neural network, k-nearest neighbor, decision tree, Naive Bayes, </a:t>
                      </a:r>
                      <a:r>
                        <a:rPr lang="en-IN" altLang="en-US" dirty="0">
                          <a:latin typeface="Times New Roman" panose="02020603050405020304" pitchFamily="18" charset="0"/>
                          <a:cs typeface="Times New Roman" panose="02020603050405020304" pitchFamily="18" charset="0"/>
                        </a:rPr>
                        <a:t>&amp; SVM</a:t>
                      </a:r>
                      <a:r>
                        <a:rPr lang="en-US" altLang="en-US" dirty="0">
                          <a:latin typeface="Times New Roman" panose="02020603050405020304" pitchFamily="18" charset="0"/>
                          <a:cs typeface="Times New Roman" panose="02020603050405020304" pitchFamily="18" charset="0"/>
                        </a:rPr>
                        <a:t> performed in detecting anemia.</a:t>
                      </a:r>
                    </a:p>
                    <a:p>
                      <a:pPr algn="just">
                        <a:buNone/>
                      </a:pPr>
                      <a:r>
                        <a:rPr lang="en-US" altLang="en-US" b="1" dirty="0">
                          <a:latin typeface="Times New Roman" panose="02020603050405020304" pitchFamily="18" charset="0"/>
                          <a:cs typeface="Times New Roman" panose="02020603050405020304" pitchFamily="18" charset="0"/>
                        </a:rPr>
                        <a:t>Algorithm:</a:t>
                      </a:r>
                      <a:r>
                        <a:rPr lang="en-US" altLang="en-US" dirty="0">
                          <a:latin typeface="Times New Roman" panose="02020603050405020304" pitchFamily="18" charset="0"/>
                          <a:cs typeface="Times New Roman" panose="02020603050405020304" pitchFamily="18" charset="0"/>
                        </a:rPr>
                        <a:t> Machine learning algorithms like CNN, Decision Tree.</a:t>
                      </a:r>
                    </a:p>
                    <a:p>
                      <a:pPr algn="just">
                        <a:buNone/>
                      </a:pPr>
                      <a:r>
                        <a:rPr lang="en-US" altLang="en-US" b="1" dirty="0">
                          <a:latin typeface="Times New Roman" panose="02020603050405020304" pitchFamily="18" charset="0"/>
                          <a:cs typeface="Times New Roman" panose="02020603050405020304" pitchFamily="18" charset="0"/>
                        </a:rPr>
                        <a:t>Advantages : </a:t>
                      </a:r>
                      <a:r>
                        <a:rPr lang="en-US" altLang="en-US" b="0" dirty="0">
                          <a:latin typeface="Times New Roman" panose="02020603050405020304" pitchFamily="18" charset="0"/>
                          <a:cs typeface="Times New Roman" panose="02020603050405020304" pitchFamily="18" charset="0"/>
                        </a:rPr>
                        <a:t>Machine</a:t>
                      </a:r>
                      <a:r>
                        <a:rPr lang="en-IN" altLang="en-US" dirty="0">
                          <a:latin typeface="Times New Roman" panose="02020603050405020304" pitchFamily="18" charset="0"/>
                          <a:cs typeface="Times New Roman" panose="02020603050405020304" pitchFamily="18" charset="0"/>
                        </a:rPr>
                        <a:t> learning</a:t>
                      </a:r>
                      <a:r>
                        <a:rPr lang="en-US" altLang="en-US" dirty="0">
                          <a:latin typeface="Times New Roman" panose="02020603050405020304" pitchFamily="18" charset="0"/>
                          <a:cs typeface="Times New Roman" panose="02020603050405020304" pitchFamily="18" charset="0"/>
                        </a:rPr>
                        <a:t> models can process images quickly, enabling rapid</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screening of large populations for IDA.</a:t>
                      </a:r>
                    </a:p>
                    <a:p>
                      <a:pPr algn="just">
                        <a:buNone/>
                      </a:pPr>
                      <a:r>
                        <a:rPr lang="en-US" altLang="en-US" b="1" dirty="0">
                          <a:latin typeface="Times New Roman" panose="02020603050405020304" pitchFamily="18" charset="0"/>
                          <a:cs typeface="Times New Roman" panose="02020603050405020304" pitchFamily="18" charset="0"/>
                        </a:rPr>
                        <a:t>Disadvantages:</a:t>
                      </a:r>
                      <a:r>
                        <a:rPr lang="en-US" altLang="en-US" dirty="0">
                          <a:latin typeface="Times New Roman" panose="02020603050405020304" pitchFamily="18" charset="0"/>
                          <a:cs typeface="Times New Roman" panose="02020603050405020304" pitchFamily="18" charset="0"/>
                        </a:rPr>
                        <a:t> The accuracy of </a:t>
                      </a:r>
                      <a:r>
                        <a:rPr lang="en-IN" altLang="en-US" dirty="0">
                          <a:latin typeface="Times New Roman" panose="02020603050405020304" pitchFamily="18" charset="0"/>
                          <a:cs typeface="Times New Roman" panose="02020603050405020304" pitchFamily="18" charset="0"/>
                        </a:rPr>
                        <a:t>Machine learning</a:t>
                      </a:r>
                      <a:r>
                        <a:rPr lang="en-US" altLang="en-US" dirty="0">
                          <a:latin typeface="Times New Roman" panose="02020603050405020304" pitchFamily="18" charset="0"/>
                          <a:cs typeface="Times New Roman" panose="02020603050405020304" pitchFamily="18" charset="0"/>
                        </a:rPr>
                        <a:t> models heavily relies on the quality and consistency of the images used for training.</a:t>
                      </a:r>
                    </a:p>
                  </a:txBody>
                  <a:tcPr/>
                </a:tc>
                <a:extLst>
                  <a:ext uri="{0D108BD9-81ED-4DB2-BD59-A6C34878D82A}">
                    <a16:rowId xmlns:a16="http://schemas.microsoft.com/office/drawing/2014/main" val="10001"/>
                  </a:ext>
                </a:extLst>
              </a:tr>
              <a:tr h="2528301">
                <a:tc>
                  <a:txBody>
                    <a:bodyPr/>
                    <a:lstStyle/>
                    <a:p>
                      <a:pPr algn="just">
                        <a:buNone/>
                      </a:pPr>
                      <a:r>
                        <a:rPr lang="en-IN" altLang="en-US" dirty="0">
                          <a:latin typeface="Times New Roman" panose="02020603050405020304" pitchFamily="18" charset="0"/>
                          <a:cs typeface="Times New Roman" panose="02020603050405020304" pitchFamily="18" charset="0"/>
                        </a:rPr>
                        <a:t>Kasthuri.E, S.Subbalakshmi, Rajasree</a:t>
                      </a:r>
                      <a:r>
                        <a:rPr lang="en-IN" altLang="en-US" baseline="0" dirty="0">
                          <a:latin typeface="Times New Roman" panose="02020603050405020304" pitchFamily="18" charset="0"/>
                          <a:cs typeface="Times New Roman" panose="02020603050405020304" pitchFamily="18" charset="0"/>
                        </a:rPr>
                        <a:t> Sreedharan, “Insightful clinical assistance for anemia prediction with data analysis and explainable AI” Science direct, Elsevier, 2024.</a:t>
                      </a:r>
                      <a:endParaRPr lang="en-US" altLang="en-US" dirty="0">
                        <a:latin typeface="Times New Roman" panose="02020603050405020304" pitchFamily="18" charset="0"/>
                        <a:cs typeface="Times New Roman" panose="02020603050405020304" pitchFamily="18" charset="0"/>
                      </a:endParaRPr>
                    </a:p>
                  </a:txBody>
                  <a:tcPr/>
                </a:tc>
                <a:tc>
                  <a:txBody>
                    <a:bodyPr/>
                    <a:lstStyle/>
                    <a:p>
                      <a:pPr algn="just">
                        <a:buNone/>
                      </a:pPr>
                      <a:r>
                        <a:rPr lang="en-US" altLang="en-US" b="1" dirty="0">
                          <a:latin typeface="Times New Roman" panose="02020603050405020304" pitchFamily="18" charset="0"/>
                          <a:cs typeface="Times New Roman" panose="02020603050405020304" pitchFamily="18" charset="0"/>
                        </a:rPr>
                        <a:t>Work: </a:t>
                      </a:r>
                      <a:r>
                        <a:rPr lang="en-US" altLang="en-US" b="0" dirty="0">
                          <a:latin typeface="Times New Roman" panose="02020603050405020304" pitchFamily="18" charset="0"/>
                          <a:cs typeface="Times New Roman" panose="02020603050405020304" pitchFamily="18" charset="0"/>
                        </a:rPr>
                        <a:t>Developed an Explainable AI-based system to predict anemia causes using machine learning and data preprocessing techniques. </a:t>
                      </a:r>
                    </a:p>
                    <a:p>
                      <a:pPr algn="just">
                        <a:buNone/>
                      </a:pPr>
                      <a:r>
                        <a:rPr lang="en-US" altLang="en-US" b="1" dirty="0">
                          <a:latin typeface="Times New Roman" panose="02020603050405020304" pitchFamily="18" charset="0"/>
                          <a:cs typeface="Times New Roman" panose="02020603050405020304" pitchFamily="18" charset="0"/>
                        </a:rPr>
                        <a:t>Algorithm: </a:t>
                      </a:r>
                      <a:r>
                        <a:rPr lang="en-US" altLang="en-US" b="0" dirty="0">
                          <a:latin typeface="Times New Roman" panose="02020603050405020304" pitchFamily="18" charset="0"/>
                          <a:cs typeface="Times New Roman" panose="02020603050405020304" pitchFamily="18" charset="0"/>
                        </a:rPr>
                        <a:t>Used LGM Boost (Light Gradient Boosting Machine) with LIME (Explainable AI) for transparent and accurate anemia prediction.</a:t>
                      </a:r>
                    </a:p>
                    <a:p>
                      <a:pPr algn="just">
                        <a:buNone/>
                      </a:pPr>
                      <a:r>
                        <a:rPr lang="en-US" altLang="en-US" b="1" dirty="0">
                          <a:latin typeface="Times New Roman" panose="02020603050405020304" pitchFamily="18" charset="0"/>
                          <a:cs typeface="Times New Roman" panose="02020603050405020304" pitchFamily="18" charset="0"/>
                        </a:rPr>
                        <a:t>Advantages:</a:t>
                      </a:r>
                      <a:r>
                        <a:rPr lang="en-US" altLang="en-US" dirty="0">
                          <a:latin typeface="Times New Roman" panose="02020603050405020304" pitchFamily="18" charset="0"/>
                          <a:cs typeface="Times New Roman" panose="02020603050405020304" pitchFamily="18" charset="0"/>
                        </a:rPr>
                        <a:t> High accuracy (91%), interpretable results, identifies main contributing features, and aids clinical decision-making</a:t>
                      </a:r>
                    </a:p>
                    <a:p>
                      <a:pPr algn="just">
                        <a:buNone/>
                      </a:pPr>
                      <a:r>
                        <a:rPr lang="en-US" altLang="en-US" b="1" dirty="0">
                          <a:latin typeface="Times New Roman" panose="02020603050405020304" pitchFamily="18" charset="0"/>
                          <a:cs typeface="Times New Roman" panose="02020603050405020304" pitchFamily="18" charset="0"/>
                        </a:rPr>
                        <a:t>Disadvantages:</a:t>
                      </a:r>
                      <a:r>
                        <a:rPr lang="en-US" altLang="en-US" b="1" baseline="0" dirty="0">
                          <a:latin typeface="Times New Roman" panose="02020603050405020304" pitchFamily="18" charset="0"/>
                          <a:cs typeface="Times New Roman" panose="02020603050405020304" pitchFamily="18" charset="0"/>
                        </a:rPr>
                        <a:t> </a:t>
                      </a:r>
                      <a:r>
                        <a:rPr lang="en-US" altLang="en-US" b="0" baseline="0" dirty="0">
                          <a:latin typeface="Times New Roman" panose="02020603050405020304" pitchFamily="18" charset="0"/>
                          <a:cs typeface="Times New Roman" panose="02020603050405020304" pitchFamily="18" charset="0"/>
                        </a:rPr>
                        <a:t>Limited dataset diversity, potential </a:t>
                      </a:r>
                      <a:r>
                        <a:rPr lang="en-US" altLang="en-US" b="0" baseline="0" dirty="0" err="1">
                          <a:latin typeface="Times New Roman" panose="02020603050405020304" pitchFamily="18" charset="0"/>
                          <a:cs typeface="Times New Roman" panose="02020603050405020304" pitchFamily="18" charset="0"/>
                        </a:rPr>
                        <a:t>overfitting</a:t>
                      </a:r>
                      <a:r>
                        <a:rPr lang="en-US" altLang="en-US" b="0" baseline="0" dirty="0">
                          <a:latin typeface="Times New Roman" panose="02020603050405020304" pitchFamily="18" charset="0"/>
                          <a:cs typeface="Times New Roman" panose="02020603050405020304" pitchFamily="18" charset="0"/>
                        </a:rPr>
                        <a:t> without preprocessing, and requires computational resources for explainable analysis.</a:t>
                      </a:r>
                      <a:endParaRPr lang="en-US" altLang="en-US"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2" name="Date Placeholder 1">
            <a:extLst>
              <a:ext uri="{FF2B5EF4-FFF2-40B4-BE49-F238E27FC236}">
                <a16:creationId xmlns:a16="http://schemas.microsoft.com/office/drawing/2014/main" id="{07B1A92D-5846-C097-44BF-47D9744C1243}"/>
              </a:ext>
            </a:extLst>
          </p:cNvPr>
          <p:cNvSpPr>
            <a:spLocks noGrp="1"/>
          </p:cNvSpPr>
          <p:nvPr>
            <p:ph type="dt" sz="half" idx="10"/>
          </p:nvPr>
        </p:nvSpPr>
        <p:spPr>
          <a:xfrm>
            <a:off x="10361612" y="6482498"/>
            <a:ext cx="1146283" cy="375501"/>
          </a:xfrm>
        </p:spPr>
        <p:txBody>
          <a:bodyPr/>
          <a:lstStyle/>
          <a:p>
            <a:r>
              <a:rPr lang="en-US" b="1" dirty="0"/>
              <a:t>06-11-2025 /7</a:t>
            </a:r>
            <a:endParaRPr lang="en-IN"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105017034"/>
              </p:ext>
            </p:extLst>
          </p:nvPr>
        </p:nvGraphicFramePr>
        <p:xfrm>
          <a:off x="955497" y="495655"/>
          <a:ext cx="10692421" cy="6086307"/>
        </p:xfrm>
        <a:graphic>
          <a:graphicData uri="http://schemas.openxmlformats.org/drawingml/2006/table">
            <a:tbl>
              <a:tblPr firstRow="1" bandRow="1">
                <a:tableStyleId>{5C22544A-7EE6-4342-B048-85BDC9FD1C3A}</a:tableStyleId>
              </a:tblPr>
              <a:tblGrid>
                <a:gridCol w="4046642">
                  <a:extLst>
                    <a:ext uri="{9D8B030D-6E8A-4147-A177-3AD203B41FA5}">
                      <a16:colId xmlns:a16="http://schemas.microsoft.com/office/drawing/2014/main" val="20000"/>
                    </a:ext>
                  </a:extLst>
                </a:gridCol>
                <a:gridCol w="6645779">
                  <a:extLst>
                    <a:ext uri="{9D8B030D-6E8A-4147-A177-3AD203B41FA5}">
                      <a16:colId xmlns:a16="http://schemas.microsoft.com/office/drawing/2014/main" val="20001"/>
                    </a:ext>
                  </a:extLst>
                </a:gridCol>
              </a:tblGrid>
              <a:tr h="2717563">
                <a:tc>
                  <a:txBody>
                    <a:bodyPr/>
                    <a:lstStyle/>
                    <a:p>
                      <a:pPr algn="just"/>
                      <a:r>
                        <a:rPr lang="en-IN" altLang="en-US" sz="1800" b="0" dirty="0">
                          <a:solidFill>
                            <a:schemeClr val="tx1"/>
                          </a:solidFill>
                          <a:latin typeface="Times New Roman" panose="02020603050405020304" pitchFamily="18" charset="0"/>
                          <a:cs typeface="Times New Roman" panose="02020603050405020304" pitchFamily="18" charset="0"/>
                        </a:rPr>
                        <a:t>Justice Williams </a:t>
                      </a:r>
                      <a:r>
                        <a:rPr lang="en-IN" altLang="en-US" sz="1800" b="0" dirty="0" err="1">
                          <a:solidFill>
                            <a:schemeClr val="tx1"/>
                          </a:solidFill>
                          <a:latin typeface="Times New Roman" panose="02020603050405020304" pitchFamily="18" charset="0"/>
                          <a:cs typeface="Times New Roman" panose="02020603050405020304" pitchFamily="18" charset="0"/>
                        </a:rPr>
                        <a:t>Asare</a:t>
                      </a:r>
                      <a:r>
                        <a:rPr lang="en-IN" altLang="en-US" sz="1800" b="0" dirty="0">
                          <a:solidFill>
                            <a:schemeClr val="tx1"/>
                          </a:solidFill>
                          <a:latin typeface="Times New Roman" panose="02020603050405020304" pitchFamily="18" charset="0"/>
                          <a:cs typeface="Times New Roman" panose="02020603050405020304" pitchFamily="18" charset="0"/>
                        </a:rPr>
                        <a:t>, Peter Appiahene, et.al,</a:t>
                      </a:r>
                      <a:r>
                        <a:rPr lang="en-US" altLang="en-US" sz="1800" b="0" dirty="0">
                          <a:solidFill>
                            <a:schemeClr val="tx1"/>
                          </a:solidFill>
                          <a:latin typeface="Times New Roman" panose="02020603050405020304" pitchFamily="18" charset="0"/>
                          <a:cs typeface="Times New Roman" panose="02020603050405020304" pitchFamily="18" charset="0"/>
                        </a:rPr>
                        <a:t>"</a:t>
                      </a:r>
                      <a:r>
                        <a:rPr lang="en-IN" altLang="en-US" sz="1800" b="0" dirty="0">
                          <a:solidFill>
                            <a:schemeClr val="tx1"/>
                          </a:solidFill>
                          <a:latin typeface="Times New Roman" panose="02020603050405020304" pitchFamily="18" charset="0"/>
                          <a:cs typeface="Times New Roman" panose="02020603050405020304" pitchFamily="18" charset="0"/>
                        </a:rPr>
                        <a:t>Detection of anemia using medical images: A comparative study of machine learning </a:t>
                      </a:r>
                      <a:r>
                        <a:rPr lang="en-IN" altLang="en-US" sz="1800" b="0" dirty="0" err="1">
                          <a:solidFill>
                            <a:schemeClr val="tx1"/>
                          </a:solidFill>
                          <a:latin typeface="Times New Roman" panose="02020603050405020304" pitchFamily="18" charset="0"/>
                          <a:cs typeface="Times New Roman" panose="02020603050405020304" pitchFamily="18" charset="0"/>
                        </a:rPr>
                        <a:t>learing</a:t>
                      </a:r>
                      <a:r>
                        <a:rPr lang="en-IN" altLang="en-US" sz="1800" b="0" dirty="0">
                          <a:solidFill>
                            <a:schemeClr val="tx1"/>
                          </a:solidFill>
                          <a:latin typeface="Times New Roman" panose="02020603050405020304" pitchFamily="18" charset="0"/>
                          <a:cs typeface="Times New Roman" panose="02020603050405020304" pitchFamily="18" charset="0"/>
                        </a:rPr>
                        <a:t> algorithm-A systematic literature review</a:t>
                      </a:r>
                      <a:r>
                        <a:rPr lang="en-US" altLang="en-US" sz="1800" b="0" dirty="0">
                          <a:solidFill>
                            <a:schemeClr val="tx1"/>
                          </a:solidFill>
                          <a:latin typeface="Times New Roman" panose="02020603050405020304" pitchFamily="18" charset="0"/>
                          <a:cs typeface="Times New Roman" panose="02020603050405020304" pitchFamily="18" charset="0"/>
                        </a:rPr>
                        <a:t>"</a:t>
                      </a:r>
                      <a:r>
                        <a:rPr lang="en-IN" altLang="en-US" sz="1800" b="0" dirty="0">
                          <a:solidFill>
                            <a:schemeClr val="tx1"/>
                          </a:solidFill>
                          <a:latin typeface="Times New Roman" panose="02020603050405020304" pitchFamily="18" charset="0"/>
                          <a:cs typeface="Times New Roman" panose="02020603050405020304" pitchFamily="18" charset="0"/>
                        </a:rPr>
                        <a:t>, Informatics in Medicine Unlocked , Elsevier, 26 May 2023</a:t>
                      </a:r>
                      <a:r>
                        <a:rPr lang="en-IN" altLang="en-US" sz="1800" dirty="0">
                          <a:solidFill>
                            <a:schemeClr val="tx1"/>
                          </a:solidFill>
                          <a:latin typeface="Times New Roman" panose="02020603050405020304" pitchFamily="18" charset="0"/>
                          <a:cs typeface="Times New Roman" panose="02020603050405020304" pitchFamily="18" charset="0"/>
                        </a:rPr>
                        <a:t>.</a:t>
                      </a:r>
                      <a:endParaRPr lang="en-IN" sz="180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tc>
                  <a:txBody>
                    <a:bodyPr/>
                    <a:lstStyle/>
                    <a:p>
                      <a:pPr algn="just">
                        <a:buNone/>
                      </a:pPr>
                      <a:r>
                        <a:rPr lang="en-US" altLang="en-US" b="1" dirty="0">
                          <a:solidFill>
                            <a:schemeClr val="tx1"/>
                          </a:solidFill>
                          <a:latin typeface="Times New Roman" panose="02020603050405020304" pitchFamily="18" charset="0"/>
                          <a:cs typeface="Times New Roman" panose="02020603050405020304" pitchFamily="18" charset="0"/>
                        </a:rPr>
                        <a:t>Work: </a:t>
                      </a:r>
                      <a:r>
                        <a:rPr lang="en-US" altLang="en-US" b="0" dirty="0">
                          <a:solidFill>
                            <a:schemeClr val="tx1"/>
                          </a:solidFill>
                          <a:latin typeface="Times New Roman" panose="02020603050405020304" pitchFamily="18" charset="0"/>
                          <a:cs typeface="Times New Roman" panose="02020603050405020304" pitchFamily="18" charset="0"/>
                        </a:rPr>
                        <a:t>This implies that it is crucial to prevent anemia in adolescent girls and women before and during pregnancy as a part of programs to eliminate stunting in children.</a:t>
                      </a:r>
                    </a:p>
                    <a:p>
                      <a:pPr algn="just">
                        <a:buNone/>
                      </a:pPr>
                      <a:r>
                        <a:rPr lang="en-US" altLang="en-US" b="1" dirty="0">
                          <a:solidFill>
                            <a:schemeClr val="tx1"/>
                          </a:solidFill>
                          <a:latin typeface="Times New Roman" panose="02020603050405020304" pitchFamily="18" charset="0"/>
                          <a:cs typeface="Times New Roman" panose="02020603050405020304" pitchFamily="18" charset="0"/>
                        </a:rPr>
                        <a:t>Algorithm</a:t>
                      </a:r>
                      <a:r>
                        <a:rPr lang="en-US" altLang="en-US" b="0" dirty="0">
                          <a:solidFill>
                            <a:schemeClr val="tx1"/>
                          </a:solidFill>
                          <a:latin typeface="Times New Roman" panose="02020603050405020304" pitchFamily="18" charset="0"/>
                          <a:cs typeface="Times New Roman" panose="02020603050405020304" pitchFamily="18" charset="0"/>
                        </a:rPr>
                        <a:t>: Random forest, XG Boost.</a:t>
                      </a:r>
                    </a:p>
                    <a:p>
                      <a:pPr algn="just">
                        <a:buNone/>
                      </a:pPr>
                      <a:r>
                        <a:rPr lang="en-US" altLang="en-US" b="1" dirty="0">
                          <a:solidFill>
                            <a:schemeClr val="tx1"/>
                          </a:solidFill>
                          <a:latin typeface="Times New Roman" panose="02020603050405020304" pitchFamily="18" charset="0"/>
                          <a:cs typeface="Times New Roman" panose="02020603050405020304" pitchFamily="18" charset="0"/>
                        </a:rPr>
                        <a:t>Advantages</a:t>
                      </a:r>
                      <a:r>
                        <a:rPr lang="en-US" altLang="en-US" b="0" dirty="0">
                          <a:solidFill>
                            <a:schemeClr val="tx1"/>
                          </a:solidFill>
                          <a:latin typeface="Times New Roman" panose="02020603050405020304" pitchFamily="18" charset="0"/>
                          <a:cs typeface="Times New Roman" panose="02020603050405020304" pitchFamily="18" charset="0"/>
                        </a:rPr>
                        <a:t>: The review can highlight gaps in current knowledge, helping to direct future research efforts and interventions in maternal and child health.</a:t>
                      </a:r>
                    </a:p>
                    <a:p>
                      <a:pPr algn="just">
                        <a:buNone/>
                      </a:pPr>
                      <a:r>
                        <a:rPr lang="en-US" altLang="en-US" b="1" dirty="0">
                          <a:solidFill>
                            <a:schemeClr val="tx1"/>
                          </a:solidFill>
                          <a:latin typeface="Times New Roman" panose="02020603050405020304" pitchFamily="18" charset="0"/>
                          <a:cs typeface="Times New Roman" panose="02020603050405020304" pitchFamily="18" charset="0"/>
                        </a:rPr>
                        <a:t>Disadvantages</a:t>
                      </a:r>
                      <a:r>
                        <a:rPr lang="en-US" altLang="en-US" b="0" dirty="0">
                          <a:solidFill>
                            <a:schemeClr val="tx1"/>
                          </a:solidFill>
                          <a:latin typeface="Times New Roman" panose="02020603050405020304" pitchFamily="18" charset="0"/>
                          <a:cs typeface="Times New Roman" panose="02020603050405020304" pitchFamily="18" charset="0"/>
                        </a:rPr>
                        <a:t>: The variability in study</a:t>
                      </a:r>
                      <a:r>
                        <a:rPr lang="en-IN" altLang="en-US" b="0" dirty="0">
                          <a:solidFill>
                            <a:schemeClr val="tx1"/>
                          </a:solidFill>
                          <a:latin typeface="Times New Roman" panose="02020603050405020304" pitchFamily="18" charset="0"/>
                          <a:cs typeface="Times New Roman" panose="02020603050405020304" pitchFamily="18" charset="0"/>
                        </a:rPr>
                        <a:t> </a:t>
                      </a:r>
                      <a:r>
                        <a:rPr lang="en-US" altLang="en-US" b="0" dirty="0">
                          <a:solidFill>
                            <a:schemeClr val="tx1"/>
                          </a:solidFill>
                          <a:latin typeface="Times New Roman" panose="02020603050405020304" pitchFamily="18" charset="0"/>
                          <a:cs typeface="Times New Roman" panose="02020603050405020304" pitchFamily="18" charset="0"/>
                        </a:rPr>
                        <a:t>designs, populations, and methodologies can complicate the synthesis of results and affect the reliability of conclusions.</a:t>
                      </a:r>
                      <a:endParaRPr lang="en-IN" b="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extLst>
                  <a:ext uri="{0D108BD9-81ED-4DB2-BD59-A6C34878D82A}">
                    <a16:rowId xmlns:a16="http://schemas.microsoft.com/office/drawing/2014/main" val="10000"/>
                  </a:ext>
                </a:extLst>
              </a:tr>
              <a:tr h="3251667">
                <a:tc>
                  <a:txBody>
                    <a:bodyPr/>
                    <a:lstStyle/>
                    <a:p>
                      <a:r>
                        <a:rPr lang="en-IN" dirty="0">
                          <a:solidFill>
                            <a:schemeClr val="tx1"/>
                          </a:solidFill>
                          <a:latin typeface="Times New Roman" panose="02020603050405020304" pitchFamily="18" charset="0"/>
                          <a:cs typeface="Times New Roman" panose="02020603050405020304" pitchFamily="18" charset="0"/>
                        </a:rPr>
                        <a:t>Peter Appiahene, Kunal Chaturvedi</a:t>
                      </a:r>
                      <a:r>
                        <a:rPr lang="en-IN" baseline="0" dirty="0">
                          <a:solidFill>
                            <a:schemeClr val="tx1"/>
                          </a:solidFill>
                          <a:latin typeface="Times New Roman" panose="02020603050405020304" pitchFamily="18" charset="0"/>
                          <a:cs typeface="Times New Roman" panose="02020603050405020304" pitchFamily="18" charset="0"/>
                        </a:rPr>
                        <a:t> ,et.al,”A conjunctival pallor dataset and benchmark for anemia detection in children”, Elsevier, 27 May 2023.</a:t>
                      </a:r>
                      <a:endParaRPr lang="en-IN"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tc>
                  <a:txBody>
                    <a:bodyPr/>
                    <a:lstStyle/>
                    <a:p>
                      <a:pPr algn="just"/>
                      <a:r>
                        <a:rPr lang="en-IN" b="1" dirty="0">
                          <a:solidFill>
                            <a:schemeClr val="tx1"/>
                          </a:solidFill>
                          <a:latin typeface="Times New Roman" pitchFamily="18" charset="0"/>
                          <a:cs typeface="Times New Roman" pitchFamily="18" charset="0"/>
                        </a:rPr>
                        <a:t>Work: </a:t>
                      </a:r>
                      <a:r>
                        <a:rPr lang="en-US" b="0" dirty="0">
                          <a:solidFill>
                            <a:schemeClr val="tx1"/>
                          </a:solidFill>
                          <a:latin typeface="Times New Roman" pitchFamily="18" charset="0"/>
                          <a:cs typeface="Times New Roman" pitchFamily="18" charset="0"/>
                        </a:rPr>
                        <a:t>Developed a large </a:t>
                      </a:r>
                      <a:r>
                        <a:rPr lang="en-US" b="0" dirty="0" err="1">
                          <a:solidFill>
                            <a:schemeClr val="tx1"/>
                          </a:solidFill>
                          <a:latin typeface="Times New Roman" pitchFamily="18" charset="0"/>
                          <a:cs typeface="Times New Roman" pitchFamily="18" charset="0"/>
                        </a:rPr>
                        <a:t>conjunctival</a:t>
                      </a:r>
                      <a:r>
                        <a:rPr lang="en-US" b="0" dirty="0">
                          <a:solidFill>
                            <a:schemeClr val="tx1"/>
                          </a:solidFill>
                          <a:latin typeface="Times New Roman" pitchFamily="18" charset="0"/>
                          <a:cs typeface="Times New Roman" pitchFamily="18" charset="0"/>
                        </a:rPr>
                        <a:t> pallor image dataset (CP-</a:t>
                      </a:r>
                      <a:r>
                        <a:rPr lang="en-US" b="0" dirty="0" err="1">
                          <a:solidFill>
                            <a:schemeClr val="tx1"/>
                          </a:solidFill>
                          <a:latin typeface="Times New Roman" pitchFamily="18" charset="0"/>
                          <a:cs typeface="Times New Roman" pitchFamily="18" charset="0"/>
                        </a:rPr>
                        <a:t>AnemiC</a:t>
                      </a:r>
                      <a:r>
                        <a:rPr lang="en-US" b="0" dirty="0">
                          <a:solidFill>
                            <a:schemeClr val="tx1"/>
                          </a:solidFill>
                          <a:latin typeface="Times New Roman" pitchFamily="18" charset="0"/>
                          <a:cs typeface="Times New Roman" pitchFamily="18" charset="0"/>
                        </a:rPr>
                        <a:t>) and a deep neural network model for anemia detection and hemoglobin estimation in children.</a:t>
                      </a:r>
                      <a:endParaRPr lang="en-IN" b="0" dirty="0">
                        <a:solidFill>
                          <a:schemeClr val="tx1"/>
                        </a:solidFill>
                        <a:latin typeface="Times New Roman" pitchFamily="18" charset="0"/>
                        <a:cs typeface="Times New Roman" pitchFamily="18" charset="0"/>
                      </a:endParaRPr>
                    </a:p>
                    <a:p>
                      <a:pPr algn="just"/>
                      <a:r>
                        <a:rPr lang="en-IN" b="1" dirty="0">
                          <a:solidFill>
                            <a:schemeClr val="tx1"/>
                          </a:solidFill>
                          <a:latin typeface="Times New Roman" pitchFamily="18" charset="0"/>
                          <a:cs typeface="Times New Roman" pitchFamily="18" charset="0"/>
                        </a:rPr>
                        <a:t>Algorithm: </a:t>
                      </a:r>
                      <a:r>
                        <a:rPr lang="en-US" b="0" dirty="0">
                          <a:solidFill>
                            <a:schemeClr val="tx1"/>
                          </a:solidFill>
                          <a:latin typeface="Times New Roman" pitchFamily="18" charset="0"/>
                          <a:cs typeface="Times New Roman" pitchFamily="18" charset="0"/>
                        </a:rPr>
                        <a:t>Used a joint deep learning framework combining classification (anemia detection) and regression (</a:t>
                      </a:r>
                      <a:r>
                        <a:rPr lang="en-US" b="0" dirty="0" err="1">
                          <a:solidFill>
                            <a:schemeClr val="tx1"/>
                          </a:solidFill>
                          <a:latin typeface="Times New Roman" pitchFamily="18" charset="0"/>
                          <a:cs typeface="Times New Roman" pitchFamily="18" charset="0"/>
                        </a:rPr>
                        <a:t>Hb</a:t>
                      </a:r>
                      <a:r>
                        <a:rPr lang="en-US" b="0" dirty="0">
                          <a:solidFill>
                            <a:schemeClr val="tx1"/>
                          </a:solidFill>
                          <a:latin typeface="Times New Roman" pitchFamily="18" charset="0"/>
                          <a:cs typeface="Times New Roman" pitchFamily="18" charset="0"/>
                        </a:rPr>
                        <a:t> level estimation) with architectures like ResNet50, VGG16, DenseNet121, </a:t>
                      </a:r>
                      <a:r>
                        <a:rPr lang="en-US" b="0" dirty="0" err="1">
                          <a:solidFill>
                            <a:schemeClr val="tx1"/>
                          </a:solidFill>
                          <a:latin typeface="Times New Roman" pitchFamily="18" charset="0"/>
                          <a:cs typeface="Times New Roman" pitchFamily="18" charset="0"/>
                        </a:rPr>
                        <a:t>ViT</a:t>
                      </a:r>
                      <a:r>
                        <a:rPr lang="en-US" b="0" dirty="0">
                          <a:solidFill>
                            <a:schemeClr val="tx1"/>
                          </a:solidFill>
                          <a:latin typeface="Times New Roman" pitchFamily="18" charset="0"/>
                          <a:cs typeface="Times New Roman" pitchFamily="18" charset="0"/>
                        </a:rPr>
                        <a:t>, and </a:t>
                      </a:r>
                      <a:r>
                        <a:rPr lang="en-US" b="0" dirty="0" err="1">
                          <a:solidFill>
                            <a:schemeClr val="tx1"/>
                          </a:solidFill>
                          <a:latin typeface="Times New Roman" pitchFamily="18" charset="0"/>
                          <a:cs typeface="Times New Roman" pitchFamily="18" charset="0"/>
                        </a:rPr>
                        <a:t>ConvNeXtBase</a:t>
                      </a:r>
                      <a:r>
                        <a:rPr lang="en-US" b="0" dirty="0">
                          <a:solidFill>
                            <a:schemeClr val="tx1"/>
                          </a:solidFill>
                          <a:latin typeface="Times New Roman" pitchFamily="18" charset="0"/>
                          <a:cs typeface="Times New Roman" pitchFamily="18" charset="0"/>
                        </a:rPr>
                        <a:t>.</a:t>
                      </a:r>
                      <a:endParaRPr lang="en-IN" b="0" dirty="0">
                        <a:solidFill>
                          <a:schemeClr val="tx1"/>
                        </a:solidFill>
                        <a:latin typeface="Times New Roman" pitchFamily="18" charset="0"/>
                        <a:cs typeface="Times New Roman" pitchFamily="18" charset="0"/>
                      </a:endParaRPr>
                    </a:p>
                    <a:p>
                      <a:pPr algn="just"/>
                      <a:r>
                        <a:rPr lang="en-IN" b="1" dirty="0">
                          <a:solidFill>
                            <a:schemeClr val="tx1"/>
                          </a:solidFill>
                          <a:latin typeface="Times New Roman" pitchFamily="18" charset="0"/>
                          <a:cs typeface="Times New Roman" pitchFamily="18" charset="0"/>
                        </a:rPr>
                        <a:t>Advantages: </a:t>
                      </a:r>
                      <a:r>
                        <a:rPr lang="en-US" b="0" dirty="0">
                          <a:solidFill>
                            <a:schemeClr val="tx1"/>
                          </a:solidFill>
                          <a:latin typeface="Times New Roman" pitchFamily="18" charset="0"/>
                          <a:cs typeface="Times New Roman" pitchFamily="18" charset="0"/>
                        </a:rPr>
                        <a:t>Non-invasive, accurate, dataset-balanced, and effective in both classification and regression tasks.</a:t>
                      </a:r>
                      <a:endParaRPr lang="en-IN" b="0" dirty="0">
                        <a:solidFill>
                          <a:schemeClr val="tx1"/>
                        </a:solidFill>
                        <a:latin typeface="Times New Roman" pitchFamily="18" charset="0"/>
                        <a:cs typeface="Times New Roman" pitchFamily="18" charset="0"/>
                      </a:endParaRPr>
                    </a:p>
                    <a:p>
                      <a:pPr algn="just"/>
                      <a:r>
                        <a:rPr lang="en-IN" b="1" dirty="0">
                          <a:solidFill>
                            <a:schemeClr val="tx1"/>
                          </a:solidFill>
                          <a:latin typeface="Times New Roman" pitchFamily="18" charset="0"/>
                          <a:cs typeface="Times New Roman" pitchFamily="18" charset="0"/>
                        </a:rPr>
                        <a:t>Disadvantages:</a:t>
                      </a:r>
                      <a:r>
                        <a:rPr lang="en-US" b="0" dirty="0">
                          <a:solidFill>
                            <a:schemeClr val="tx1"/>
                          </a:solidFill>
                          <a:latin typeface="Times New Roman" pitchFamily="18" charset="0"/>
                          <a:cs typeface="Times New Roman" pitchFamily="18" charset="0"/>
                        </a:rPr>
                        <a:t>Ethnically limited dataset, costly and time-consuming data collection, and dependency on high-quality image capture.</a:t>
                      </a:r>
                      <a:endParaRPr lang="en-IN" b="0" dirty="0">
                        <a:solidFill>
                          <a:schemeClr val="tx1"/>
                        </a:solidFill>
                        <a:latin typeface="Times New Roman" pitchFamily="18" charset="0"/>
                        <a:cs typeface="Times New Roman" pitchFamily="18" charset="0"/>
                      </a:endParaRPr>
                    </a:p>
                  </a:txBody>
                  <a:tcPr>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2" name="Date Placeholder 1">
            <a:extLst>
              <a:ext uri="{FF2B5EF4-FFF2-40B4-BE49-F238E27FC236}">
                <a16:creationId xmlns:a16="http://schemas.microsoft.com/office/drawing/2014/main" id="{C8C38640-A2A2-0207-F00F-4A0E88C2B6F9}"/>
              </a:ext>
            </a:extLst>
          </p:cNvPr>
          <p:cNvSpPr>
            <a:spLocks noGrp="1"/>
          </p:cNvSpPr>
          <p:nvPr>
            <p:ph type="dt" sz="half" idx="10"/>
          </p:nvPr>
        </p:nvSpPr>
        <p:spPr>
          <a:xfrm>
            <a:off x="10361612" y="6130436"/>
            <a:ext cx="1146283" cy="1040925"/>
          </a:xfrm>
        </p:spPr>
        <p:txBody>
          <a:bodyPr/>
          <a:lstStyle/>
          <a:p>
            <a:r>
              <a:rPr lang="en-US" b="1" dirty="0"/>
              <a:t>06-11-2025 /8</a:t>
            </a:r>
            <a:endParaRPr lang="en-IN" b="1" dirty="0"/>
          </a:p>
        </p:txBody>
      </p:sp>
    </p:spTree>
    <p:extLst>
      <p:ext uri="{BB962C8B-B14F-4D97-AF65-F5344CB8AC3E}">
        <p14:creationId xmlns:p14="http://schemas.microsoft.com/office/powerpoint/2010/main" val="1125099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p:nvPr>
            <p:custDataLst>
              <p:tags r:id="rId1"/>
            </p:custDataLst>
          </p:nvPr>
        </p:nvGraphicFramePr>
        <p:xfrm>
          <a:off x="976630" y="415925"/>
          <a:ext cx="10939780" cy="6026150"/>
        </p:xfrm>
        <a:graphic>
          <a:graphicData uri="http://schemas.openxmlformats.org/drawingml/2006/table">
            <a:tbl>
              <a:tblPr firstRow="1" bandRow="1">
                <a:tableStyleId>{5C22544A-7EE6-4342-B048-85BDC9FD1C3A}</a:tableStyleId>
              </a:tblPr>
              <a:tblGrid>
                <a:gridCol w="3223260">
                  <a:extLst>
                    <a:ext uri="{9D8B030D-6E8A-4147-A177-3AD203B41FA5}">
                      <a16:colId xmlns:a16="http://schemas.microsoft.com/office/drawing/2014/main" val="20000"/>
                    </a:ext>
                  </a:extLst>
                </a:gridCol>
                <a:gridCol w="7716520">
                  <a:extLst>
                    <a:ext uri="{9D8B030D-6E8A-4147-A177-3AD203B41FA5}">
                      <a16:colId xmlns:a16="http://schemas.microsoft.com/office/drawing/2014/main" val="20001"/>
                    </a:ext>
                  </a:extLst>
                </a:gridCol>
              </a:tblGrid>
              <a:tr h="3213100">
                <a:tc>
                  <a:txBody>
                    <a:bodyPr/>
                    <a:lstStyle/>
                    <a:p>
                      <a:pPr algn="just">
                        <a:buNone/>
                      </a:pPr>
                      <a:r>
                        <a:rPr lang="en-US" altLang="en-US" b="0" dirty="0">
                          <a:solidFill>
                            <a:schemeClr val="tx1"/>
                          </a:solidFill>
                          <a:latin typeface="Times New Roman" panose="02020603050405020304" pitchFamily="18" charset="0"/>
                          <a:cs typeface="Times New Roman" panose="02020603050405020304" pitchFamily="18" charset="0"/>
                        </a:rPr>
                        <a:t> </a:t>
                      </a:r>
                      <a:r>
                        <a:rPr lang="en-IN" altLang="en-US" b="0" dirty="0">
                          <a:solidFill>
                            <a:schemeClr val="tx1"/>
                          </a:solidFill>
                          <a:latin typeface="Times New Roman" panose="02020603050405020304" pitchFamily="18" charset="0"/>
                          <a:cs typeface="Times New Roman" panose="02020603050405020304" pitchFamily="18" charset="0"/>
                        </a:rPr>
                        <a:t>Sana Maidoumi, Charif Radouan Ouaziz, et.al,</a:t>
                      </a:r>
                    </a:p>
                    <a:p>
                      <a:pPr algn="just">
                        <a:buNone/>
                      </a:pPr>
                      <a:r>
                        <a:rPr lang="en-US" altLang="en-US" b="0" dirty="0">
                          <a:solidFill>
                            <a:schemeClr val="tx1"/>
                          </a:solidFill>
                          <a:latin typeface="Times New Roman" panose="02020603050405020304" pitchFamily="18" charset="0"/>
                          <a:cs typeface="Times New Roman" panose="02020603050405020304" pitchFamily="18" charset="0"/>
                        </a:rPr>
                        <a:t> "Iron deficiency and cognitive impairment in children with low blood lead levels"</a:t>
                      </a:r>
                      <a:r>
                        <a:rPr lang="en-IN" altLang="en-US" b="0" dirty="0">
                          <a:solidFill>
                            <a:schemeClr val="tx1"/>
                          </a:solidFill>
                          <a:latin typeface="Times New Roman" panose="02020603050405020304" pitchFamily="18" charset="0"/>
                          <a:cs typeface="Times New Roman" panose="02020603050405020304" pitchFamily="18" charset="0"/>
                        </a:rPr>
                        <a:t>, Toxicology Reports , Elsevier, 23 August 2022.</a:t>
                      </a:r>
                    </a:p>
                  </a:txBody>
                  <a:tcPr>
                    <a:solidFill>
                      <a:schemeClr val="accent3">
                        <a:lumMod val="20000"/>
                        <a:lumOff val="80000"/>
                      </a:schemeClr>
                    </a:solidFill>
                  </a:tcPr>
                </a:tc>
                <a:tc>
                  <a:txBody>
                    <a:bodyPr/>
                    <a:lstStyle/>
                    <a:p>
                      <a:pPr algn="just">
                        <a:buNone/>
                      </a:pPr>
                      <a:r>
                        <a:rPr lang="en-US" altLang="en-US" b="1" dirty="0">
                          <a:solidFill>
                            <a:schemeClr val="tx1"/>
                          </a:solidFill>
                          <a:latin typeface="Times New Roman" panose="02020603050405020304" pitchFamily="18" charset="0"/>
                          <a:cs typeface="Times New Roman" panose="02020603050405020304" pitchFamily="18" charset="0"/>
                        </a:rPr>
                        <a:t>Work:</a:t>
                      </a:r>
                      <a:r>
                        <a:rPr lang="en-US" altLang="en-US" b="0" dirty="0">
                          <a:solidFill>
                            <a:schemeClr val="tx1"/>
                          </a:solidFill>
                          <a:latin typeface="Times New Roman" panose="02020603050405020304" pitchFamily="18" charset="0"/>
                          <a:cs typeface="Times New Roman" panose="02020603050405020304" pitchFamily="18" charset="0"/>
                        </a:rPr>
                        <a:t> After extracting the relevant emotions from the collected tweets, we attempted to determine the types of emotions that are associated with anemia. The main emotions of anger, fear, sadness, and joy were extracted from both anemia</a:t>
                      </a:r>
                      <a:r>
                        <a:rPr lang="en-IN" altLang="en-US" b="0" dirty="0">
                          <a:solidFill>
                            <a:schemeClr val="tx1"/>
                          </a:solidFill>
                          <a:latin typeface="Times New Roman" panose="02020603050405020304" pitchFamily="18" charset="0"/>
                          <a:cs typeface="Times New Roman" panose="02020603050405020304" pitchFamily="18" charset="0"/>
                        </a:rPr>
                        <a:t> &amp;</a:t>
                      </a:r>
                      <a:r>
                        <a:rPr lang="en-US" altLang="en-US" b="0" dirty="0">
                          <a:solidFill>
                            <a:schemeClr val="tx1"/>
                          </a:solidFill>
                          <a:latin typeface="Times New Roman" panose="02020603050405020304" pitchFamily="18" charset="0"/>
                          <a:cs typeface="Times New Roman" panose="02020603050405020304" pitchFamily="18" charset="0"/>
                        </a:rPr>
                        <a:t> non-anemia groups</a:t>
                      </a:r>
                      <a:r>
                        <a:rPr lang="en-IN" altLang="en-US" b="0" dirty="0">
                          <a:solidFill>
                            <a:schemeClr val="tx1"/>
                          </a:solidFill>
                          <a:latin typeface="Times New Roman" panose="02020603050405020304" pitchFamily="18" charset="0"/>
                          <a:cs typeface="Times New Roman" panose="02020603050405020304" pitchFamily="18" charset="0"/>
                        </a:rPr>
                        <a:t>.</a:t>
                      </a:r>
                    </a:p>
                    <a:p>
                      <a:pPr algn="just">
                        <a:buNone/>
                      </a:pPr>
                      <a:r>
                        <a:rPr lang="en-US" altLang="en-US" b="1" dirty="0">
                          <a:solidFill>
                            <a:schemeClr val="tx1"/>
                          </a:solidFill>
                          <a:latin typeface="Times New Roman" panose="02020603050405020304" pitchFamily="18" charset="0"/>
                          <a:cs typeface="Times New Roman" panose="02020603050405020304" pitchFamily="18" charset="0"/>
                        </a:rPr>
                        <a:t>Algorithm: </a:t>
                      </a:r>
                      <a:r>
                        <a:rPr lang="en-US" altLang="en-US" b="0" dirty="0">
                          <a:solidFill>
                            <a:schemeClr val="tx1"/>
                          </a:solidFill>
                          <a:latin typeface="Times New Roman" panose="02020603050405020304" pitchFamily="18" charset="0"/>
                          <a:cs typeface="Times New Roman" panose="02020603050405020304" pitchFamily="18" charset="0"/>
                        </a:rPr>
                        <a:t>Naïve Bayes</a:t>
                      </a:r>
                    </a:p>
                    <a:p>
                      <a:pPr algn="just">
                        <a:buNone/>
                      </a:pPr>
                      <a:r>
                        <a:rPr lang="en-US" altLang="en-US" b="1" dirty="0">
                          <a:solidFill>
                            <a:schemeClr val="tx1"/>
                          </a:solidFill>
                          <a:latin typeface="Times New Roman" panose="02020603050405020304" pitchFamily="18" charset="0"/>
                          <a:cs typeface="Times New Roman" panose="02020603050405020304" pitchFamily="18" charset="0"/>
                        </a:rPr>
                        <a:t>Advantages:</a:t>
                      </a:r>
                      <a:r>
                        <a:rPr lang="en-US" altLang="en-US" b="0" dirty="0">
                          <a:solidFill>
                            <a:schemeClr val="tx1"/>
                          </a:solidFill>
                          <a:latin typeface="Times New Roman" panose="02020603050405020304" pitchFamily="18" charset="0"/>
                          <a:cs typeface="Times New Roman" panose="02020603050405020304" pitchFamily="18" charset="0"/>
                        </a:rPr>
                        <a:t> Twitter provides a continuous</a:t>
                      </a:r>
                      <a:r>
                        <a:rPr lang="en-IN" altLang="en-US" b="0" dirty="0">
                          <a:solidFill>
                            <a:schemeClr val="tx1"/>
                          </a:solidFill>
                          <a:latin typeface="Times New Roman" panose="02020603050405020304" pitchFamily="18" charset="0"/>
                          <a:cs typeface="Times New Roman" panose="02020603050405020304" pitchFamily="18" charset="0"/>
                        </a:rPr>
                        <a:t> </a:t>
                      </a:r>
                      <a:r>
                        <a:rPr lang="en-US" altLang="en-US" b="0" dirty="0">
                          <a:solidFill>
                            <a:schemeClr val="tx1"/>
                          </a:solidFill>
                          <a:latin typeface="Times New Roman" panose="02020603050405020304" pitchFamily="18" charset="0"/>
                          <a:cs typeface="Times New Roman" panose="02020603050405020304" pitchFamily="18" charset="0"/>
                        </a:rPr>
                        <a:t>stream of real-time data, allowing for timely identification of discussions and trends. related to anemia, which can facilitate early recognition of potential outbreaks or awareness needs.</a:t>
                      </a:r>
                    </a:p>
                    <a:p>
                      <a:pPr algn="just">
                        <a:buNone/>
                      </a:pPr>
                      <a:r>
                        <a:rPr lang="en-US" altLang="en-US" b="1" dirty="0">
                          <a:solidFill>
                            <a:schemeClr val="tx1"/>
                          </a:solidFill>
                          <a:latin typeface="Times New Roman" panose="02020603050405020304" pitchFamily="18" charset="0"/>
                          <a:cs typeface="Times New Roman" panose="02020603050405020304" pitchFamily="18" charset="0"/>
                        </a:rPr>
                        <a:t>Disadvantages: </a:t>
                      </a:r>
                      <a:r>
                        <a:rPr lang="en-US" altLang="en-US" b="0" dirty="0">
                          <a:solidFill>
                            <a:schemeClr val="tx1"/>
                          </a:solidFill>
                          <a:latin typeface="Times New Roman" panose="02020603050405020304" pitchFamily="18" charset="0"/>
                          <a:cs typeface="Times New Roman" panose="02020603050405020304" pitchFamily="18" charset="0"/>
                        </a:rPr>
                        <a:t>Social media data can be</a:t>
                      </a:r>
                      <a:r>
                        <a:rPr lang="en-IN" altLang="en-US" b="0" dirty="0">
                          <a:solidFill>
                            <a:schemeClr val="tx1"/>
                          </a:solidFill>
                          <a:latin typeface="Times New Roman" panose="02020603050405020304" pitchFamily="18" charset="0"/>
                          <a:cs typeface="Times New Roman" panose="02020603050405020304" pitchFamily="18" charset="0"/>
                        </a:rPr>
                        <a:t> </a:t>
                      </a:r>
                      <a:r>
                        <a:rPr lang="en-US" altLang="en-US" b="0" dirty="0">
                          <a:solidFill>
                            <a:schemeClr val="tx1"/>
                          </a:solidFill>
                          <a:latin typeface="Times New Roman" panose="02020603050405020304" pitchFamily="18" charset="0"/>
                          <a:cs typeface="Times New Roman" panose="02020603050405020304" pitchFamily="18" charset="0"/>
                        </a:rPr>
                        <a:t>noisy and unstructured, leading to challenges in accurately identifying relevant posts and determining the context of discussions around anemia.</a:t>
                      </a:r>
                    </a:p>
                  </a:txBody>
                  <a:tcPr>
                    <a:solidFill>
                      <a:schemeClr val="accent3">
                        <a:lumMod val="20000"/>
                        <a:lumOff val="80000"/>
                      </a:schemeClr>
                    </a:solidFill>
                  </a:tcPr>
                </a:tc>
                <a:extLst>
                  <a:ext uri="{0D108BD9-81ED-4DB2-BD59-A6C34878D82A}">
                    <a16:rowId xmlns:a16="http://schemas.microsoft.com/office/drawing/2014/main" val="10000"/>
                  </a:ext>
                </a:extLst>
              </a:tr>
              <a:tr h="2813050">
                <a:tc>
                  <a:txBody>
                    <a:bodyPr/>
                    <a:lstStyle/>
                    <a:p>
                      <a:pPr algn="just">
                        <a:buNone/>
                      </a:pPr>
                      <a:r>
                        <a:rPr lang="en-IN" altLang="en-US" dirty="0">
                          <a:latin typeface="Times New Roman" panose="02020603050405020304" pitchFamily="18" charset="0"/>
                          <a:cs typeface="Times New Roman" panose="02020603050405020304" pitchFamily="18" charset="0"/>
                        </a:rPr>
                        <a:t>Tuba Karagul Yildiz, Nilufer Yurtay, Birgul Onec,</a:t>
                      </a:r>
                      <a:r>
                        <a:rPr lang="en-US" altLang="en-US" dirty="0">
                          <a:latin typeface="Times New Roman" panose="02020603050405020304" pitchFamily="18" charset="0"/>
                          <a:cs typeface="Times New Roman" panose="02020603050405020304" pitchFamily="18" charset="0"/>
                        </a:rPr>
                        <a:t>"Classifying anemia types using artificial learning methods"</a:t>
                      </a:r>
                      <a:r>
                        <a:rPr lang="en-IN"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r>
                        <a:rPr lang="en-IN" altLang="en-US" dirty="0">
                          <a:latin typeface="Times New Roman" panose="02020603050405020304" pitchFamily="18" charset="0"/>
                          <a:cs typeface="Times New Roman" panose="02020603050405020304" pitchFamily="18" charset="0"/>
                        </a:rPr>
                        <a:t>Engineering Science and Technology</a:t>
                      </a:r>
                      <a:r>
                        <a:rPr lang="en-IN" altLang="en-US" b="0" dirty="0">
                          <a:solidFill>
                            <a:schemeClr val="tx1"/>
                          </a:solidFill>
                          <a:latin typeface="Times New Roman" panose="02020603050405020304" pitchFamily="18" charset="0"/>
                          <a:cs typeface="Times New Roman" panose="02020603050405020304" pitchFamily="18" charset="0"/>
                        </a:rPr>
                        <a:t> , an international journal, Elsevier, 7 January 2021.</a:t>
                      </a:r>
                      <a:endParaRPr lang="en-US" altLang="en-US" dirty="0">
                        <a:latin typeface="Times New Roman" panose="02020603050405020304" pitchFamily="18" charset="0"/>
                        <a:cs typeface="Times New Roman" panose="02020603050405020304" pitchFamily="18" charset="0"/>
                      </a:endParaRPr>
                    </a:p>
                  </a:txBody>
                  <a:tcPr>
                    <a:solidFill>
                      <a:schemeClr val="accent3">
                        <a:lumMod val="20000"/>
                        <a:lumOff val="80000"/>
                      </a:schemeClr>
                    </a:solidFill>
                  </a:tcPr>
                </a:tc>
                <a:tc>
                  <a:txBody>
                    <a:bodyPr/>
                    <a:lstStyle/>
                    <a:p>
                      <a:pPr algn="just">
                        <a:buNone/>
                      </a:pPr>
                      <a:r>
                        <a:rPr lang="en-US" altLang="en-US" b="1" dirty="0">
                          <a:latin typeface="Times New Roman" panose="02020603050405020304" pitchFamily="18" charset="0"/>
                          <a:cs typeface="Times New Roman" panose="02020603050405020304" pitchFamily="18" charset="0"/>
                        </a:rPr>
                        <a:t>Work:</a:t>
                      </a:r>
                      <a:r>
                        <a:rPr lang="en-US" altLang="en-US" dirty="0">
                          <a:latin typeface="Times New Roman" panose="02020603050405020304" pitchFamily="18" charset="0"/>
                          <a:cs typeface="Times New Roman" panose="02020603050405020304" pitchFamily="18" charset="0"/>
                        </a:rPr>
                        <a:t> The present work proposes a system that will enable the recognition of anemia under general clinical practice conditions for this system.</a:t>
                      </a:r>
                    </a:p>
                    <a:p>
                      <a:pPr algn="just">
                        <a:buNone/>
                      </a:pPr>
                      <a:r>
                        <a:rPr lang="en-US" altLang="en-US" b="1" dirty="0">
                          <a:latin typeface="Times New Roman" panose="02020603050405020304" pitchFamily="18" charset="0"/>
                          <a:cs typeface="Times New Roman" panose="02020603050405020304" pitchFamily="18" charset="0"/>
                        </a:rPr>
                        <a:t>Algorithm:</a:t>
                      </a:r>
                      <a:r>
                        <a:rPr lang="en-US" altLang="en-US" dirty="0">
                          <a:latin typeface="Times New Roman" panose="02020603050405020304" pitchFamily="18" charset="0"/>
                          <a:cs typeface="Times New Roman" panose="02020603050405020304" pitchFamily="18" charset="0"/>
                        </a:rPr>
                        <a:t> Artificial neural</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network(ANN)</a:t>
                      </a:r>
                    </a:p>
                    <a:p>
                      <a:pPr algn="just">
                        <a:buNone/>
                      </a:pPr>
                      <a:r>
                        <a:rPr lang="en-US" altLang="en-US" b="1" dirty="0">
                          <a:latin typeface="Times New Roman" panose="02020603050405020304" pitchFamily="18" charset="0"/>
                          <a:cs typeface="Times New Roman" panose="02020603050405020304" pitchFamily="18" charset="0"/>
                        </a:rPr>
                        <a:t>Advantages:</a:t>
                      </a:r>
                      <a:r>
                        <a:rPr lang="en-US" altLang="en-US" dirty="0">
                          <a:latin typeface="Times New Roman" panose="02020603050405020304" pitchFamily="18" charset="0"/>
                          <a:cs typeface="Times New Roman" panose="02020603050405020304" pitchFamily="18" charset="0"/>
                        </a:rPr>
                        <a:t> Artificial learning methods</a:t>
                      </a:r>
                      <a:r>
                        <a:rPr lang="en-IN"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especially advanced techniques like deep learning, can improve the accuracy of anemia classification by analyzing complex patterns in large datasets that may not be evident to human experts.</a:t>
                      </a:r>
                    </a:p>
                    <a:p>
                      <a:pPr algn="just">
                        <a:buNone/>
                      </a:pPr>
                      <a:r>
                        <a:rPr lang="en-US" altLang="en-US" b="1" dirty="0">
                          <a:latin typeface="Times New Roman" panose="02020603050405020304" pitchFamily="18" charset="0"/>
                          <a:cs typeface="Times New Roman" panose="02020603050405020304" pitchFamily="18" charset="0"/>
                        </a:rPr>
                        <a:t>Disadvantages:</a:t>
                      </a:r>
                      <a:r>
                        <a:rPr lang="en-US" altLang="en-US" dirty="0">
                          <a:latin typeface="Times New Roman" panose="02020603050405020304" pitchFamily="18" charset="0"/>
                          <a:cs typeface="Times New Roman" panose="02020603050405020304" pitchFamily="18" charset="0"/>
                        </a:rPr>
                        <a:t> Models may overfit the</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training data, meaning they perform well on known data but poorly on unseen data, which can limit their real-world applicability.</a:t>
                      </a:r>
                    </a:p>
                  </a:txBody>
                  <a:tcPr>
                    <a:solidFill>
                      <a:schemeClr val="accent3">
                        <a:lumMod val="20000"/>
                        <a:lumOff val="80000"/>
                      </a:schemeClr>
                    </a:solidFill>
                  </a:tcPr>
                </a:tc>
                <a:extLst>
                  <a:ext uri="{0D108BD9-81ED-4DB2-BD59-A6C34878D82A}">
                    <a16:rowId xmlns:a16="http://schemas.microsoft.com/office/drawing/2014/main" val="10001"/>
                  </a:ext>
                </a:extLst>
              </a:tr>
            </a:tbl>
          </a:graphicData>
        </a:graphic>
      </p:graphicFrame>
      <p:sp>
        <p:nvSpPr>
          <p:cNvPr id="2" name="Date Placeholder 1">
            <a:extLst>
              <a:ext uri="{FF2B5EF4-FFF2-40B4-BE49-F238E27FC236}">
                <a16:creationId xmlns:a16="http://schemas.microsoft.com/office/drawing/2014/main" id="{F462F2D9-5C51-6F21-08B9-E2C7D65144E3}"/>
              </a:ext>
            </a:extLst>
          </p:cNvPr>
          <p:cNvSpPr>
            <a:spLocks noGrp="1"/>
          </p:cNvSpPr>
          <p:nvPr>
            <p:ph type="dt" sz="half" idx="10"/>
          </p:nvPr>
        </p:nvSpPr>
        <p:spPr>
          <a:xfrm>
            <a:off x="10361612" y="6130436"/>
            <a:ext cx="1146283" cy="814893"/>
          </a:xfrm>
        </p:spPr>
        <p:txBody>
          <a:bodyPr/>
          <a:lstStyle/>
          <a:p>
            <a:r>
              <a:rPr lang="en-US" b="1" dirty="0"/>
              <a:t>06-11-2025 /9</a:t>
            </a:r>
            <a:endParaRPr lang="en-IN"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p:nvPr>
            <p:custDataLst>
              <p:tags r:id="rId1"/>
            </p:custDataLst>
          </p:nvPr>
        </p:nvGraphicFramePr>
        <p:xfrm>
          <a:off x="619125" y="158750"/>
          <a:ext cx="11200765" cy="6492240"/>
        </p:xfrm>
        <a:graphic>
          <a:graphicData uri="http://schemas.openxmlformats.org/drawingml/2006/table">
            <a:tbl>
              <a:tblPr firstRow="1" bandRow="1">
                <a:tableStyleId>{5C22544A-7EE6-4342-B048-85BDC9FD1C3A}</a:tableStyleId>
              </a:tblPr>
              <a:tblGrid>
                <a:gridCol w="3302000">
                  <a:extLst>
                    <a:ext uri="{9D8B030D-6E8A-4147-A177-3AD203B41FA5}">
                      <a16:colId xmlns:a16="http://schemas.microsoft.com/office/drawing/2014/main" val="20000"/>
                    </a:ext>
                  </a:extLst>
                </a:gridCol>
                <a:gridCol w="7898765">
                  <a:extLst>
                    <a:ext uri="{9D8B030D-6E8A-4147-A177-3AD203B41FA5}">
                      <a16:colId xmlns:a16="http://schemas.microsoft.com/office/drawing/2014/main" val="20001"/>
                    </a:ext>
                  </a:extLst>
                </a:gridCol>
              </a:tblGrid>
              <a:tr h="3108960">
                <a:tc>
                  <a:txBody>
                    <a:bodyPr/>
                    <a:lstStyle/>
                    <a:p>
                      <a:pPr algn="just">
                        <a:buNone/>
                      </a:pPr>
                      <a:r>
                        <a:rPr lang="en-IN" altLang="en-US" b="0" dirty="0">
                          <a:solidFill>
                            <a:schemeClr val="tx1"/>
                          </a:solidFill>
                          <a:latin typeface="Times New Roman" panose="02020603050405020304" pitchFamily="18" charset="0"/>
                          <a:cs typeface="Times New Roman" panose="02020603050405020304" pitchFamily="18" charset="0"/>
                        </a:rPr>
                        <a:t>Sarah J.Hart</a:t>
                      </a:r>
                      <a:r>
                        <a:rPr lang="en-US" altLang="en-US" b="0" dirty="0">
                          <a:solidFill>
                            <a:schemeClr val="tx1"/>
                          </a:solidFill>
                          <a:latin typeface="Times New Roman" panose="02020603050405020304" pitchFamily="18" charset="0"/>
                          <a:cs typeface="Times New Roman" panose="02020603050405020304" pitchFamily="18" charset="0"/>
                        </a:rPr>
                        <a:t>,</a:t>
                      </a:r>
                      <a:r>
                        <a:rPr lang="en-IN" altLang="en-US" b="0" dirty="0">
                          <a:solidFill>
                            <a:schemeClr val="tx1"/>
                          </a:solidFill>
                          <a:latin typeface="Times New Roman" panose="02020603050405020304" pitchFamily="18" charset="0"/>
                          <a:cs typeface="Times New Roman" panose="02020603050405020304" pitchFamily="18" charset="0"/>
                        </a:rPr>
                        <a:t> Kanecia Zimmerman, Corinne M. Linardic,</a:t>
                      </a:r>
                      <a:r>
                        <a:rPr lang="en-US" altLang="en-US" b="0" dirty="0">
                          <a:solidFill>
                            <a:schemeClr val="tx1"/>
                          </a:solidFill>
                          <a:latin typeface="Times New Roman" panose="02020603050405020304" pitchFamily="18" charset="0"/>
                          <a:cs typeface="Times New Roman" panose="02020603050405020304" pitchFamily="18" charset="0"/>
                        </a:rPr>
                        <a:t> et.al</a:t>
                      </a:r>
                    </a:p>
                    <a:p>
                      <a:pPr algn="just">
                        <a:buNone/>
                      </a:pPr>
                      <a:r>
                        <a:rPr lang="en-US" altLang="en-US" b="0" dirty="0">
                          <a:solidFill>
                            <a:schemeClr val="tx1"/>
                          </a:solidFill>
                          <a:latin typeface="Times New Roman" panose="02020603050405020304" pitchFamily="18" charset="0"/>
                          <a:cs typeface="Times New Roman" panose="02020603050405020304" pitchFamily="18" charset="0"/>
                        </a:rPr>
                        <a:t>"Detection of iron deficiency in children with Down syndrome"</a:t>
                      </a:r>
                      <a:r>
                        <a:rPr lang="en-IN" altLang="en-US" b="0" dirty="0">
                          <a:solidFill>
                            <a:schemeClr val="tx1"/>
                          </a:solidFill>
                          <a:latin typeface="Times New Roman" panose="02020603050405020304" pitchFamily="18" charset="0"/>
                          <a:cs typeface="Times New Roman" panose="02020603050405020304" pitchFamily="18" charset="0"/>
                        </a:rPr>
                        <a:t>, Genetics in Medicine, Nature Publishing Group, February 2020.</a:t>
                      </a:r>
                      <a:endParaRPr lang="en-US" altLang="en-US" dirty="0">
                        <a:solidFill>
                          <a:schemeClr val="tx1"/>
                        </a:solidFill>
                        <a:latin typeface="Times New Roman" panose="02020603050405020304" pitchFamily="18" charset="0"/>
                        <a:cs typeface="Times New Roman" panose="02020603050405020304" pitchFamily="18" charset="0"/>
                      </a:endParaRPr>
                    </a:p>
                  </a:txBody>
                  <a:tcPr>
                    <a:solidFill>
                      <a:schemeClr val="accent3">
                        <a:lumMod val="20000"/>
                        <a:lumOff val="80000"/>
                      </a:schemeClr>
                    </a:solidFill>
                  </a:tcPr>
                </a:tc>
                <a:tc>
                  <a:txBody>
                    <a:bodyPr/>
                    <a:lstStyle/>
                    <a:p>
                      <a:pPr algn="just">
                        <a:buNone/>
                      </a:pPr>
                      <a:r>
                        <a:rPr lang="en-US" altLang="en-US" b="1" dirty="0">
                          <a:solidFill>
                            <a:schemeClr val="tx1"/>
                          </a:solidFill>
                          <a:latin typeface="Times New Roman" panose="02020603050405020304" pitchFamily="18" charset="0"/>
                          <a:cs typeface="Times New Roman" panose="02020603050405020304" pitchFamily="18" charset="0"/>
                        </a:rPr>
                        <a:t>Work:</a:t>
                      </a:r>
                      <a:r>
                        <a:rPr lang="en-US" altLang="en-US" b="0" dirty="0">
                          <a:solidFill>
                            <a:schemeClr val="tx1"/>
                          </a:solidFill>
                          <a:latin typeface="Times New Roman" panose="02020603050405020304" pitchFamily="18" charset="0"/>
                          <a:cs typeface="Times New Roman" panose="02020603050405020304" pitchFamily="18" charset="0"/>
                        </a:rPr>
                        <a:t> We provide evidence to support that a CBC and ferritin be obtained routinely for children over 1 year old with DS rather than hemoglobin alone for detection of ID.</a:t>
                      </a:r>
                    </a:p>
                    <a:p>
                      <a:pPr algn="just">
                        <a:buNone/>
                      </a:pPr>
                      <a:r>
                        <a:rPr lang="en-US" altLang="en-US" b="1" dirty="0">
                          <a:solidFill>
                            <a:schemeClr val="tx1"/>
                          </a:solidFill>
                          <a:latin typeface="Times New Roman" panose="02020603050405020304" pitchFamily="18" charset="0"/>
                          <a:cs typeface="Times New Roman" panose="02020603050405020304" pitchFamily="18" charset="0"/>
                        </a:rPr>
                        <a:t>Algorithm:</a:t>
                      </a:r>
                      <a:r>
                        <a:rPr lang="en-US" altLang="en-US" b="0" dirty="0">
                          <a:solidFill>
                            <a:schemeClr val="tx1"/>
                          </a:solidFill>
                          <a:latin typeface="Times New Roman" panose="02020603050405020304" pitchFamily="18" charset="0"/>
                          <a:cs typeface="Times New Roman" panose="02020603050405020304" pitchFamily="18" charset="0"/>
                        </a:rPr>
                        <a:t> Decision tree.</a:t>
                      </a:r>
                    </a:p>
                    <a:p>
                      <a:pPr algn="just">
                        <a:buNone/>
                      </a:pPr>
                      <a:r>
                        <a:rPr lang="en-US" altLang="en-US" b="1" dirty="0">
                          <a:solidFill>
                            <a:schemeClr val="tx1"/>
                          </a:solidFill>
                          <a:latin typeface="Times New Roman" panose="02020603050405020304" pitchFamily="18" charset="0"/>
                          <a:cs typeface="Times New Roman" panose="02020603050405020304" pitchFamily="18" charset="0"/>
                        </a:rPr>
                        <a:t>Advantage:</a:t>
                      </a:r>
                      <a:r>
                        <a:rPr lang="en-US" altLang="en-US" b="0" dirty="0">
                          <a:solidFill>
                            <a:schemeClr val="tx1"/>
                          </a:solidFill>
                          <a:latin typeface="Times New Roman" panose="02020603050405020304" pitchFamily="18" charset="0"/>
                          <a:cs typeface="Times New Roman" panose="02020603050405020304" pitchFamily="18" charset="0"/>
                        </a:rPr>
                        <a:t> Iron is essential for muscle</a:t>
                      </a:r>
                      <a:r>
                        <a:rPr lang="en-IN" altLang="en-US" b="0" dirty="0">
                          <a:solidFill>
                            <a:schemeClr val="tx1"/>
                          </a:solidFill>
                          <a:latin typeface="Times New Roman" panose="02020603050405020304" pitchFamily="18" charset="0"/>
                          <a:cs typeface="Times New Roman" panose="02020603050405020304" pitchFamily="18" charset="0"/>
                        </a:rPr>
                        <a:t> </a:t>
                      </a:r>
                      <a:r>
                        <a:rPr lang="en-US" altLang="en-US" b="0" dirty="0">
                          <a:solidFill>
                            <a:schemeClr val="tx1"/>
                          </a:solidFill>
                          <a:latin typeface="Times New Roman" panose="02020603050405020304" pitchFamily="18" charset="0"/>
                          <a:cs typeface="Times New Roman" panose="02020603050405020304" pitchFamily="18" charset="0"/>
                        </a:rPr>
                        <a:t>development, immune function, and growth Detecting deficiencies early can prevent stunted growth and frequent infections.</a:t>
                      </a:r>
                    </a:p>
                    <a:p>
                      <a:pPr algn="just">
                        <a:buNone/>
                      </a:pPr>
                      <a:r>
                        <a:rPr lang="en-US" altLang="en-US" b="1" dirty="0">
                          <a:solidFill>
                            <a:schemeClr val="tx1"/>
                          </a:solidFill>
                          <a:latin typeface="Times New Roman" panose="02020603050405020304" pitchFamily="18" charset="0"/>
                          <a:cs typeface="Times New Roman" panose="02020603050405020304" pitchFamily="18" charset="0"/>
                        </a:rPr>
                        <a:t>Disadvantage:</a:t>
                      </a:r>
                      <a:r>
                        <a:rPr lang="en-US" altLang="en-US" b="0" dirty="0">
                          <a:solidFill>
                            <a:schemeClr val="tx1"/>
                          </a:solidFill>
                          <a:latin typeface="Times New Roman" panose="02020603050405020304" pitchFamily="18" charset="0"/>
                          <a:cs typeface="Times New Roman" panose="02020603050405020304" pitchFamily="18" charset="0"/>
                        </a:rPr>
                        <a:t> Routine screening for iron deficiency may lead to overdiagnosis, resulting in unnecessary treatments such as iron supplementation. Over-supplementation can lead to side effects like constipation, stomach pain, or, in severe cases, iron overload (hemochromatosis), which can damage organs.</a:t>
                      </a:r>
                    </a:p>
                  </a:txBody>
                  <a:tcPr>
                    <a:solidFill>
                      <a:schemeClr val="accent3">
                        <a:lumMod val="20000"/>
                        <a:lumOff val="80000"/>
                      </a:schemeClr>
                    </a:solidFill>
                  </a:tcPr>
                </a:tc>
                <a:extLst>
                  <a:ext uri="{0D108BD9-81ED-4DB2-BD59-A6C34878D82A}">
                    <a16:rowId xmlns:a16="http://schemas.microsoft.com/office/drawing/2014/main" val="10000"/>
                  </a:ext>
                </a:extLst>
              </a:tr>
              <a:tr h="3357245">
                <a:tc>
                  <a:txBody>
                    <a:bodyPr/>
                    <a:lstStyle/>
                    <a:p>
                      <a:pPr algn="just">
                        <a:buNone/>
                      </a:pPr>
                      <a:r>
                        <a:rPr lang="en-IN" altLang="en-US" dirty="0">
                          <a:latin typeface="Times New Roman" panose="02020603050405020304" pitchFamily="18" charset="0"/>
                          <a:cs typeface="Times New Roman" panose="02020603050405020304" pitchFamily="18" charset="0"/>
                        </a:rPr>
                        <a:t>Olufunke Odunlade, Olugbenga Adeodu, et.al</a:t>
                      </a:r>
                    </a:p>
                    <a:p>
                      <a:pPr algn="just">
                        <a:buNone/>
                      </a:pPr>
                      <a:r>
                        <a:rPr lang="en-US" altLang="en-US" dirty="0">
                          <a:latin typeface="Times New Roman" panose="02020603050405020304" pitchFamily="18" charset="0"/>
                          <a:cs typeface="Times New Roman" panose="02020603050405020304" pitchFamily="18" charset="0"/>
                        </a:rPr>
                        <a:t> "Iron</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deficiency, still a rarity in children with sickle cell anemia in </a:t>
                      </a:r>
                      <a:r>
                        <a:rPr lang="en-IN" altLang="en-US" dirty="0">
                          <a:latin typeface="Times New Roman" panose="02020603050405020304" pitchFamily="18" charset="0"/>
                          <a:cs typeface="Times New Roman" panose="02020603050405020304" pitchFamily="18" charset="0"/>
                        </a:rPr>
                        <a:t>IL</a:t>
                      </a:r>
                      <a:r>
                        <a:rPr lang="en-US" altLang="en-US" dirty="0">
                          <a:latin typeface="Times New Roman" panose="02020603050405020304" pitchFamily="18" charset="0"/>
                          <a:cs typeface="Times New Roman" panose="02020603050405020304" pitchFamily="18" charset="0"/>
                        </a:rPr>
                        <a:t>e-</a:t>
                      </a:r>
                      <a:r>
                        <a:rPr lang="en-IN" altLang="en-US" dirty="0">
                          <a:latin typeface="Times New Roman" panose="02020603050405020304" pitchFamily="18" charset="0"/>
                          <a:cs typeface="Times New Roman" panose="02020603050405020304" pitchFamily="18" charset="0"/>
                        </a:rPr>
                        <a:t>I</a:t>
                      </a:r>
                      <a:r>
                        <a:rPr lang="en-US" altLang="en-US" dirty="0">
                          <a:latin typeface="Times New Roman" panose="02020603050405020304" pitchFamily="18" charset="0"/>
                          <a:cs typeface="Times New Roman" panose="02020603050405020304" pitchFamily="18" charset="0"/>
                        </a:rPr>
                        <a:t>fe, Nigeria"</a:t>
                      </a:r>
                      <a:r>
                        <a:rPr lang="en-IN"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Hematology, Transfusion and Cell Therapy,  Elsevier , </a:t>
                      </a:r>
                      <a:r>
                        <a:rPr lang="en-IN" altLang="en-US" dirty="0">
                          <a:latin typeface="Times New Roman" panose="02020603050405020304" pitchFamily="18" charset="0"/>
                          <a:cs typeface="Times New Roman" panose="02020603050405020304" pitchFamily="18" charset="0"/>
                        </a:rPr>
                        <a:t>28 March </a:t>
                      </a:r>
                      <a:r>
                        <a:rPr lang="en-US" altLang="en-US" dirty="0">
                          <a:latin typeface="Times New Roman" panose="02020603050405020304" pitchFamily="18" charset="0"/>
                          <a:cs typeface="Times New Roman" panose="02020603050405020304" pitchFamily="18" charset="0"/>
                        </a:rPr>
                        <a:t>2019.</a:t>
                      </a:r>
                      <a:endParaRPr lang="en-IN" altLang="en-US" dirty="0">
                        <a:latin typeface="Times New Roman" panose="02020603050405020304" pitchFamily="18" charset="0"/>
                        <a:cs typeface="Times New Roman" panose="02020603050405020304" pitchFamily="18" charset="0"/>
                      </a:endParaRPr>
                    </a:p>
                  </a:txBody>
                  <a:tcPr>
                    <a:solidFill>
                      <a:schemeClr val="accent3">
                        <a:lumMod val="20000"/>
                        <a:lumOff val="80000"/>
                      </a:schemeClr>
                    </a:solidFill>
                  </a:tcPr>
                </a:tc>
                <a:tc>
                  <a:txBody>
                    <a:bodyPr/>
                    <a:lstStyle/>
                    <a:p>
                      <a:pPr algn="just">
                        <a:buNone/>
                      </a:pPr>
                      <a:r>
                        <a:rPr lang="en-US" altLang="en-US" b="1" dirty="0">
                          <a:latin typeface="Times New Roman" panose="02020603050405020304" pitchFamily="18" charset="0"/>
                          <a:cs typeface="Times New Roman" panose="02020603050405020304" pitchFamily="18" charset="0"/>
                        </a:rPr>
                        <a:t>Work:</a:t>
                      </a:r>
                      <a:r>
                        <a:rPr lang="en-US" altLang="en-US" dirty="0">
                          <a:latin typeface="Times New Roman" panose="02020603050405020304" pitchFamily="18" charset="0"/>
                          <a:cs typeface="Times New Roman" panose="02020603050405020304" pitchFamily="18" charset="0"/>
                        </a:rPr>
                        <a:t> In this study, children with sickle cell anemia were evaluated for iron deficiency. Serum ferritin and free erythrocyte protoporphyrin free erythrocyte protoporphyrin (FEP) levels, mean corpuscular volume mean corpuscular volume (MCV) and mean corpuscular hemoglobin mean corpuscular hemoglobin (MCH) were used in determining their iron status.</a:t>
                      </a:r>
                    </a:p>
                    <a:p>
                      <a:pPr algn="just">
                        <a:buNone/>
                      </a:pPr>
                      <a:r>
                        <a:rPr lang="en-US" altLang="en-US" b="1" dirty="0">
                          <a:latin typeface="Times New Roman" panose="02020603050405020304" pitchFamily="18" charset="0"/>
                          <a:cs typeface="Times New Roman" panose="02020603050405020304" pitchFamily="18" charset="0"/>
                        </a:rPr>
                        <a:t>Algorithm:</a:t>
                      </a:r>
                      <a:r>
                        <a:rPr lang="en-US" altLang="en-US" dirty="0">
                          <a:latin typeface="Times New Roman" panose="02020603050405020304" pitchFamily="18" charset="0"/>
                          <a:cs typeface="Times New Roman" panose="02020603050405020304" pitchFamily="18" charset="0"/>
                        </a:rPr>
                        <a:t> Regression.</a:t>
                      </a:r>
                    </a:p>
                    <a:p>
                      <a:pPr algn="just">
                        <a:buNone/>
                      </a:pPr>
                      <a:r>
                        <a:rPr lang="en-US" altLang="en-US" b="1" dirty="0">
                          <a:latin typeface="Times New Roman" panose="02020603050405020304" pitchFamily="18" charset="0"/>
                          <a:cs typeface="Times New Roman" panose="02020603050405020304" pitchFamily="18" charset="0"/>
                        </a:rPr>
                        <a:t>Advantages: </a:t>
                      </a:r>
                      <a:r>
                        <a:rPr lang="en-US" altLang="en-US" dirty="0">
                          <a:latin typeface="Times New Roman" panose="02020603050405020304" pitchFamily="18" charset="0"/>
                          <a:cs typeface="Times New Roman" panose="02020603050405020304" pitchFamily="18" charset="0"/>
                        </a:rPr>
                        <a:t>In SCA, hemolysis (the breakdown of</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red blood cells) leads to increased iron recycling in the body, making iron deficiency rare. </a:t>
                      </a:r>
                    </a:p>
                    <a:p>
                      <a:pPr algn="just">
                        <a:buNone/>
                      </a:pPr>
                      <a:r>
                        <a:rPr lang="en-US" altLang="en-US" b="1" dirty="0">
                          <a:latin typeface="Times New Roman" panose="02020603050405020304" pitchFamily="18" charset="0"/>
                          <a:cs typeface="Times New Roman" panose="02020603050405020304" pitchFamily="18" charset="0"/>
                        </a:rPr>
                        <a:t>Disadvantages: </a:t>
                      </a:r>
                      <a:r>
                        <a:rPr lang="en-US" altLang="en-US" dirty="0">
                          <a:latin typeface="Times New Roman" panose="02020603050405020304" pitchFamily="18" charset="0"/>
                          <a:cs typeface="Times New Roman" panose="02020603050405020304" pitchFamily="18" charset="0"/>
                        </a:rPr>
                        <a:t>While iron deficiency is rare in</a:t>
                      </a:r>
                      <a:r>
                        <a:rPr lang="en-IN"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children with SCA, it is not impossible. A focus on the rarity of iron deficiency might lead to neglect in diagnosing and treating those few cases that do exist, leaving some children with undiagnosed deficiencies.</a:t>
                      </a:r>
                    </a:p>
                  </a:txBody>
                  <a:tcPr>
                    <a:solidFill>
                      <a:schemeClr val="accent3">
                        <a:lumMod val="20000"/>
                        <a:lumOff val="80000"/>
                      </a:schemeClr>
                    </a:solidFill>
                  </a:tcPr>
                </a:tc>
                <a:extLst>
                  <a:ext uri="{0D108BD9-81ED-4DB2-BD59-A6C34878D82A}">
                    <a16:rowId xmlns:a16="http://schemas.microsoft.com/office/drawing/2014/main" val="10001"/>
                  </a:ext>
                </a:extLst>
              </a:tr>
            </a:tbl>
          </a:graphicData>
        </a:graphic>
      </p:graphicFrame>
      <p:sp>
        <p:nvSpPr>
          <p:cNvPr id="2" name="Date Placeholder 1">
            <a:extLst>
              <a:ext uri="{FF2B5EF4-FFF2-40B4-BE49-F238E27FC236}">
                <a16:creationId xmlns:a16="http://schemas.microsoft.com/office/drawing/2014/main" id="{06E1EEC6-BA06-1F52-00C0-5C9E7509796C}"/>
              </a:ext>
            </a:extLst>
          </p:cNvPr>
          <p:cNvSpPr>
            <a:spLocks noGrp="1"/>
          </p:cNvSpPr>
          <p:nvPr>
            <p:ph type="dt" sz="half" idx="10"/>
          </p:nvPr>
        </p:nvSpPr>
        <p:spPr/>
        <p:txBody>
          <a:bodyPr/>
          <a:lstStyle/>
          <a:p>
            <a:r>
              <a:rPr lang="en-US"/>
              <a:t>06-11-2025</a:t>
            </a: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custDataLst>
              <p:tags r:id="rId1"/>
            </p:custDataLst>
          </p:nvPr>
        </p:nvGraphicFramePr>
        <p:xfrm>
          <a:off x="1262380" y="938530"/>
          <a:ext cx="10589895" cy="5444490"/>
        </p:xfrm>
        <a:graphic>
          <a:graphicData uri="http://schemas.openxmlformats.org/drawingml/2006/table">
            <a:tbl>
              <a:tblPr firstRow="1" bandRow="1">
                <a:tableStyleId>{5C22544A-7EE6-4342-B048-85BDC9FD1C3A}</a:tableStyleId>
              </a:tblPr>
              <a:tblGrid>
                <a:gridCol w="3813175">
                  <a:extLst>
                    <a:ext uri="{9D8B030D-6E8A-4147-A177-3AD203B41FA5}">
                      <a16:colId xmlns:a16="http://schemas.microsoft.com/office/drawing/2014/main" val="20000"/>
                    </a:ext>
                  </a:extLst>
                </a:gridCol>
                <a:gridCol w="6776720">
                  <a:extLst>
                    <a:ext uri="{9D8B030D-6E8A-4147-A177-3AD203B41FA5}">
                      <a16:colId xmlns:a16="http://schemas.microsoft.com/office/drawing/2014/main" val="20001"/>
                    </a:ext>
                  </a:extLst>
                </a:gridCol>
              </a:tblGrid>
              <a:tr h="2552065">
                <a:tc>
                  <a:txBody>
                    <a:bodyPr/>
                    <a:lstStyle/>
                    <a:p>
                      <a:pPr algn="just"/>
                      <a:r>
                        <a:rPr lang="en-IN" b="0" dirty="0">
                          <a:solidFill>
                            <a:schemeClr val="tx1"/>
                          </a:solidFill>
                          <a:latin typeface="Times New Roman" panose="02020603050405020304" pitchFamily="18" charset="0"/>
                          <a:cs typeface="Times New Roman" panose="02020603050405020304" pitchFamily="18" charset="0"/>
                        </a:rPr>
                        <a:t>Fu-Ping </a:t>
                      </a:r>
                      <a:r>
                        <a:rPr lang="en-IN" b="0" dirty="0" err="1">
                          <a:solidFill>
                            <a:schemeClr val="tx1"/>
                          </a:solidFill>
                          <a:latin typeface="Times New Roman" panose="02020603050405020304" pitchFamily="18" charset="0"/>
                          <a:cs typeface="Times New Roman" panose="02020603050405020304" pitchFamily="18" charset="0"/>
                        </a:rPr>
                        <a:t>lai,Yao</a:t>
                      </a:r>
                      <a:r>
                        <a:rPr lang="en-IN" b="0" dirty="0">
                          <a:solidFill>
                            <a:schemeClr val="tx1"/>
                          </a:solidFill>
                          <a:latin typeface="Times New Roman" panose="02020603050405020304" pitchFamily="18" charset="0"/>
                          <a:cs typeface="Times New Roman" panose="02020603050405020304" pitchFamily="18" charset="0"/>
                        </a:rPr>
                        <a:t>-Jong </a:t>
                      </a:r>
                      <a:r>
                        <a:rPr lang="en-IN" b="0" dirty="0" err="1">
                          <a:solidFill>
                            <a:schemeClr val="tx1"/>
                          </a:solidFill>
                          <a:latin typeface="Times New Roman" panose="02020603050405020304" pitchFamily="18" charset="0"/>
                          <a:cs typeface="Times New Roman" panose="02020603050405020304" pitchFamily="18" charset="0"/>
                        </a:rPr>
                        <a:t>Yang,</a:t>
                      </a:r>
                      <a:r>
                        <a:rPr lang="en-US" altLang="en-US" sz="1800" b="0" dirty="0">
                          <a:solidFill>
                            <a:schemeClr val="tx1"/>
                          </a:solidFill>
                          <a:latin typeface="Times New Roman" panose="02020603050405020304" pitchFamily="18" charset="0"/>
                          <a:cs typeface="Times New Roman" panose="02020603050405020304" pitchFamily="18" charset="0"/>
                          <a:sym typeface="+mn-ea"/>
                        </a:rPr>
                        <a:t>"</a:t>
                      </a:r>
                      <a:r>
                        <a:rPr lang="en-IN" b="0" dirty="0">
                          <a:solidFill>
                            <a:schemeClr val="tx1"/>
                          </a:solidFill>
                          <a:latin typeface="Times New Roman" panose="02020603050405020304" pitchFamily="18" charset="0"/>
                          <a:cs typeface="Times New Roman" panose="02020603050405020304" pitchFamily="18" charset="0"/>
                        </a:rPr>
                        <a:t>The prevalence and characteristics</a:t>
                      </a:r>
                      <a:r>
                        <a:rPr lang="en-IN" b="0" baseline="0" dirty="0">
                          <a:solidFill>
                            <a:schemeClr val="tx1"/>
                          </a:solidFill>
                          <a:latin typeface="Times New Roman" panose="02020603050405020304" pitchFamily="18" charset="0"/>
                          <a:cs typeface="Times New Roman" panose="02020603050405020304" pitchFamily="18" charset="0"/>
                        </a:rPr>
                        <a:t> of cows milk protein allergy in infants and young children with iron deficiency anemia</a:t>
                      </a:r>
                      <a:r>
                        <a:rPr lang="en-US" altLang="en-US" sz="1800" b="0" dirty="0">
                          <a:solidFill>
                            <a:schemeClr val="tx1"/>
                          </a:solidFill>
                          <a:latin typeface="Times New Roman" panose="02020603050405020304" pitchFamily="18" charset="0"/>
                          <a:cs typeface="Times New Roman" panose="02020603050405020304" pitchFamily="18" charset="0"/>
                          <a:sym typeface="+mn-ea"/>
                        </a:rPr>
                        <a:t>"</a:t>
                      </a:r>
                      <a:r>
                        <a:rPr lang="en-IN" b="0" baseline="0" dirty="0">
                          <a:solidFill>
                            <a:schemeClr val="tx1"/>
                          </a:solidFill>
                          <a:latin typeface="Times New Roman" panose="02020603050405020304" pitchFamily="18" charset="0"/>
                          <a:cs typeface="Times New Roman" panose="02020603050405020304" pitchFamily="18" charset="0"/>
                        </a:rPr>
                        <a:t>,Taiwan </a:t>
                      </a:r>
                      <a:r>
                        <a:rPr lang="en-IN" b="0" baseline="0" dirty="0" err="1">
                          <a:solidFill>
                            <a:schemeClr val="tx1"/>
                          </a:solidFill>
                          <a:latin typeface="Times New Roman" panose="02020603050405020304" pitchFamily="18" charset="0"/>
                          <a:cs typeface="Times New Roman" panose="02020603050405020304" pitchFamily="18" charset="0"/>
                        </a:rPr>
                        <a:t>pediatric</a:t>
                      </a:r>
                      <a:r>
                        <a:rPr lang="en-IN" b="0" baseline="0" dirty="0">
                          <a:solidFill>
                            <a:schemeClr val="tx1"/>
                          </a:solidFill>
                          <a:latin typeface="Times New Roman" panose="02020603050405020304" pitchFamily="18" charset="0"/>
                          <a:cs typeface="Times New Roman" panose="02020603050405020304" pitchFamily="18" charset="0"/>
                        </a:rPr>
                        <a:t> association,30 June 2018</a:t>
                      </a:r>
                    </a:p>
                  </a:txBody>
                  <a:tcPr>
                    <a:solidFill>
                      <a:schemeClr val="accent2">
                        <a:lumMod val="20000"/>
                        <a:lumOff val="80000"/>
                      </a:schemeClr>
                    </a:solidFill>
                  </a:tcPr>
                </a:tc>
                <a:tc>
                  <a:txBody>
                    <a:bodyPr/>
                    <a:lstStyle/>
                    <a:p>
                      <a:pPr algn="just"/>
                      <a:r>
                        <a:rPr lang="en-IN" sz="1800" b="1" dirty="0">
                          <a:solidFill>
                            <a:schemeClr val="tx1"/>
                          </a:solidFill>
                          <a:latin typeface="Times New Roman" panose="02020603050405020304" pitchFamily="18" charset="0"/>
                          <a:cs typeface="Times New Roman" panose="02020603050405020304" pitchFamily="18" charset="0"/>
                        </a:rPr>
                        <a:t>Work:</a:t>
                      </a:r>
                      <a:r>
                        <a:rPr lang="en-US" sz="1800" b="0" dirty="0">
                          <a:solidFill>
                            <a:schemeClr val="tx1"/>
                          </a:solidFill>
                          <a:latin typeface="Times New Roman" panose="02020603050405020304" pitchFamily="18" charset="0"/>
                          <a:cs typeface="Times New Roman" panose="02020603050405020304" pitchFamily="18" charset="0"/>
                        </a:rPr>
                        <a:t>The study identified CMPA as a cause of IDA in 13.7% of young children through elimination diet and iron supplementation.</a:t>
                      </a:r>
                      <a:endParaRPr lang="en-IN" sz="1800" b="1" dirty="0">
                        <a:solidFill>
                          <a:schemeClr val="tx1"/>
                        </a:solidFill>
                        <a:latin typeface="Times New Roman" panose="02020603050405020304" pitchFamily="18" charset="0"/>
                        <a:cs typeface="Times New Roman" panose="02020603050405020304" pitchFamily="18" charset="0"/>
                      </a:endParaRPr>
                    </a:p>
                    <a:p>
                      <a:pPr algn="just"/>
                      <a:r>
                        <a:rPr lang="en-IN" sz="1800" b="1" dirty="0">
                          <a:solidFill>
                            <a:schemeClr val="tx1"/>
                          </a:solidFill>
                          <a:latin typeface="Times New Roman" panose="02020603050405020304" pitchFamily="18" charset="0"/>
                          <a:cs typeface="Times New Roman" panose="02020603050405020304" pitchFamily="18" charset="0"/>
                        </a:rPr>
                        <a:t>Algorithm: </a:t>
                      </a:r>
                      <a:r>
                        <a:rPr lang="en-IN" sz="1800" b="0" dirty="0">
                          <a:solidFill>
                            <a:schemeClr val="tx1"/>
                          </a:solidFill>
                          <a:latin typeface="Times New Roman" panose="02020603050405020304" pitchFamily="18" charset="0"/>
                          <a:cs typeface="Times New Roman" panose="02020603050405020304" pitchFamily="18" charset="0"/>
                        </a:rPr>
                        <a:t>Naïve </a:t>
                      </a:r>
                      <a:r>
                        <a:rPr lang="en-IN" sz="1800" b="0" dirty="0" err="1">
                          <a:solidFill>
                            <a:schemeClr val="tx1"/>
                          </a:solidFill>
                          <a:latin typeface="Times New Roman" panose="02020603050405020304" pitchFamily="18" charset="0"/>
                          <a:cs typeface="Times New Roman" panose="02020603050405020304" pitchFamily="18" charset="0"/>
                        </a:rPr>
                        <a:t>bayes</a:t>
                      </a:r>
                      <a:endParaRPr lang="en-IN" sz="1800" b="0" dirty="0">
                        <a:solidFill>
                          <a:schemeClr val="tx1"/>
                        </a:solidFill>
                        <a:latin typeface="Times New Roman" panose="02020603050405020304" pitchFamily="18" charset="0"/>
                        <a:cs typeface="Times New Roman" panose="02020603050405020304" pitchFamily="18" charset="0"/>
                      </a:endParaRPr>
                    </a:p>
                    <a:p>
                      <a:pPr algn="just"/>
                      <a:r>
                        <a:rPr lang="en-IN" sz="1800" b="1" dirty="0">
                          <a:solidFill>
                            <a:schemeClr val="tx1"/>
                          </a:solidFill>
                          <a:latin typeface="Times New Roman" panose="02020603050405020304" pitchFamily="18" charset="0"/>
                          <a:cs typeface="Times New Roman" panose="02020603050405020304" pitchFamily="18" charset="0"/>
                        </a:rPr>
                        <a:t>Advantage:</a:t>
                      </a:r>
                      <a:r>
                        <a:rPr lang="en-US" sz="1800" b="0" dirty="0">
                          <a:solidFill>
                            <a:schemeClr val="tx1"/>
                          </a:solidFill>
                          <a:latin typeface="Times New Roman" panose="02020603050405020304" pitchFamily="18" charset="0"/>
                          <a:cs typeface="Times New Roman" panose="02020603050405020304" pitchFamily="18" charset="0"/>
                        </a:rPr>
                        <a:t>Effective non-invasive diagnostic approach using elimination diet and iron supplementation. </a:t>
                      </a:r>
                      <a:endParaRPr lang="en-IN" sz="1800" b="0" dirty="0">
                        <a:solidFill>
                          <a:schemeClr val="tx1"/>
                        </a:solidFill>
                        <a:latin typeface="Times New Roman" panose="02020603050405020304" pitchFamily="18" charset="0"/>
                        <a:cs typeface="Times New Roman" panose="02020603050405020304" pitchFamily="18" charset="0"/>
                      </a:endParaRPr>
                    </a:p>
                    <a:p>
                      <a:pPr algn="just"/>
                      <a:r>
                        <a:rPr lang="en-IN" sz="1800" b="1" dirty="0">
                          <a:solidFill>
                            <a:schemeClr val="tx1"/>
                          </a:solidFill>
                          <a:latin typeface="Times New Roman" panose="02020603050405020304" pitchFamily="18" charset="0"/>
                          <a:cs typeface="Times New Roman" panose="02020603050405020304" pitchFamily="18" charset="0"/>
                        </a:rPr>
                        <a:t>Disadvantage:</a:t>
                      </a:r>
                      <a:r>
                        <a:rPr lang="en-US" sz="1800" b="0" dirty="0">
                          <a:solidFill>
                            <a:schemeClr val="tx1"/>
                          </a:solidFill>
                          <a:latin typeface="Times New Roman" panose="02020603050405020304" pitchFamily="18" charset="0"/>
                          <a:cs typeface="Times New Roman" panose="02020603050405020304" pitchFamily="18" charset="0"/>
                        </a:rPr>
                        <a:t>Risk of over-diagnosis without confirmatory food challenge.</a:t>
                      </a:r>
                    </a:p>
                  </a:txBody>
                  <a:tcPr>
                    <a:solidFill>
                      <a:schemeClr val="accent2">
                        <a:lumMod val="20000"/>
                        <a:lumOff val="80000"/>
                      </a:schemeClr>
                    </a:solidFill>
                  </a:tcPr>
                </a:tc>
                <a:extLst>
                  <a:ext uri="{0D108BD9-81ED-4DB2-BD59-A6C34878D82A}">
                    <a16:rowId xmlns:a16="http://schemas.microsoft.com/office/drawing/2014/main" val="10000"/>
                  </a:ext>
                </a:extLst>
              </a:tr>
              <a:tr h="2892425">
                <a:tc>
                  <a:txBody>
                    <a:bodyPr/>
                    <a:lstStyle/>
                    <a:p>
                      <a:pPr algn="just"/>
                      <a:r>
                        <a:rPr lang="en-IN" dirty="0" err="1">
                          <a:latin typeface="Times New Roman" panose="02020603050405020304" pitchFamily="18" charset="0"/>
                          <a:cs typeface="Times New Roman" panose="02020603050405020304" pitchFamily="18" charset="0"/>
                        </a:rPr>
                        <a:t>Byung</a:t>
                      </a:r>
                      <a:r>
                        <a:rPr lang="en-IN" dirty="0">
                          <a:latin typeface="Times New Roman" panose="02020603050405020304" pitchFamily="18" charset="0"/>
                          <a:cs typeface="Times New Roman" panose="02020603050405020304" pitchFamily="18" charset="0"/>
                        </a:rPr>
                        <a:t> Ok </a:t>
                      </a:r>
                      <a:r>
                        <a:rPr lang="en-IN" dirty="0" err="1">
                          <a:latin typeface="Times New Roman" panose="02020603050405020304" pitchFamily="18" charset="0"/>
                          <a:cs typeface="Times New Roman" panose="02020603050405020304" pitchFamily="18" charset="0"/>
                        </a:rPr>
                        <a:t>Kwak</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Kyungmin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Kim,et.al,</a:t>
                      </a:r>
                      <a:r>
                        <a:rPr lang="en-US" altLang="en-US" sz="1800" dirty="0">
                          <a:solidFill>
                            <a:schemeClr val="tx1"/>
                          </a:solidFill>
                          <a:latin typeface="Times New Roman" panose="02020603050405020304" pitchFamily="18" charset="0"/>
                          <a:cs typeface="Times New Roman" panose="02020603050405020304" pitchFamily="18" charset="0"/>
                          <a:sym typeface="+mn-ea"/>
                        </a:rPr>
                        <a:t>"</a:t>
                      </a:r>
                      <a:r>
                        <a:rPr lang="en-IN" dirty="0">
                          <a:latin typeface="Times New Roman" panose="02020603050405020304" pitchFamily="18" charset="0"/>
                          <a:cs typeface="Times New Roman" panose="02020603050405020304" pitchFamily="18" charset="0"/>
                        </a:rPr>
                        <a:t>Relation ship</a:t>
                      </a:r>
                      <a:r>
                        <a:rPr lang="en-IN" baseline="0" dirty="0">
                          <a:latin typeface="Times New Roman" panose="02020603050405020304" pitchFamily="18" charset="0"/>
                          <a:cs typeface="Times New Roman" panose="02020603050405020304" pitchFamily="18" charset="0"/>
                        </a:rPr>
                        <a:t> between iron deficiency anemia and febrile seizures in children</a:t>
                      </a:r>
                      <a:r>
                        <a:rPr lang="en-US" altLang="en-US" sz="1800" dirty="0">
                          <a:solidFill>
                            <a:schemeClr val="tx1"/>
                          </a:solidFill>
                          <a:latin typeface="Times New Roman" panose="02020603050405020304" pitchFamily="18" charset="0"/>
                          <a:cs typeface="Times New Roman" panose="02020603050405020304" pitchFamily="18" charset="0"/>
                          <a:sym typeface="+mn-ea"/>
                        </a:rPr>
                        <a:t>"</a:t>
                      </a:r>
                      <a:r>
                        <a:rPr lang="en-IN" baseline="0" dirty="0">
                          <a:latin typeface="Times New Roman" panose="02020603050405020304" pitchFamily="18" charset="0"/>
                          <a:cs typeface="Times New Roman" panose="02020603050405020304" pitchFamily="18" charset="0"/>
                        </a:rPr>
                        <a:t>,Elsevier,14 September 2017</a:t>
                      </a:r>
                      <a:endParaRPr lang="en-IN"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tc>
                  <a:txBody>
                    <a:bodyPr/>
                    <a:lstStyle/>
                    <a:p>
                      <a:pPr algn="just"/>
                      <a:r>
                        <a:rPr lang="en-IN" sz="1800" b="1" dirty="0">
                          <a:latin typeface="Times New Roman" panose="02020603050405020304" pitchFamily="18" charset="0"/>
                          <a:cs typeface="Times New Roman" panose="02020603050405020304" pitchFamily="18" charset="0"/>
                        </a:rPr>
                        <a:t>Work</a:t>
                      </a:r>
                      <a:r>
                        <a:rPr lang="en-IN"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This meta-analysis of 17 studies (2,416 children with febrile seizures and 2,387 controls) found a significant association between iron deficiency anemia (IDA) and febrile seizures, with a pooled odds ratio of 1.98.</a:t>
                      </a:r>
                      <a:endParaRPr lang="en-IN" sz="1800" dirty="0">
                        <a:latin typeface="Times New Roman" panose="02020603050405020304" pitchFamily="18" charset="0"/>
                        <a:cs typeface="Times New Roman" panose="02020603050405020304" pitchFamily="18" charset="0"/>
                      </a:endParaRPr>
                    </a:p>
                    <a:p>
                      <a:pPr algn="just"/>
                      <a:r>
                        <a:rPr lang="en-IN" sz="1800" b="1" dirty="0">
                          <a:latin typeface="Times New Roman" panose="02020603050405020304" pitchFamily="18" charset="0"/>
                          <a:cs typeface="Times New Roman" panose="02020603050405020304" pitchFamily="18" charset="0"/>
                        </a:rPr>
                        <a:t>Algorithm:</a:t>
                      </a:r>
                      <a:r>
                        <a:rPr lang="en-IN" sz="1800" dirty="0">
                          <a:latin typeface="Times New Roman" panose="02020603050405020304" pitchFamily="18" charset="0"/>
                          <a:cs typeface="Times New Roman" panose="02020603050405020304" pitchFamily="18" charset="0"/>
                        </a:rPr>
                        <a:t> Random forest</a:t>
                      </a:r>
                    </a:p>
                    <a:p>
                      <a:pPr algn="just"/>
                      <a:r>
                        <a:rPr lang="en-IN" sz="1800" b="1" dirty="0">
                          <a:latin typeface="Times New Roman" panose="02020603050405020304" pitchFamily="18" charset="0"/>
                          <a:cs typeface="Times New Roman" panose="02020603050405020304" pitchFamily="18" charset="0"/>
                        </a:rPr>
                        <a:t>Advantage:</a:t>
                      </a:r>
                      <a:r>
                        <a:rPr lang="en-US" sz="1800" dirty="0">
                          <a:latin typeface="Times New Roman" panose="02020603050405020304" pitchFamily="18" charset="0"/>
                          <a:cs typeface="Times New Roman" panose="02020603050405020304" pitchFamily="18" charset="0"/>
                        </a:rPr>
                        <a:t>Provides strong pooled evidence for IDA as a risk factor for FS using meta-analysis.</a:t>
                      </a:r>
                      <a:endParaRPr lang="en-IN" sz="1800" dirty="0">
                        <a:latin typeface="Times New Roman" panose="02020603050405020304" pitchFamily="18" charset="0"/>
                        <a:cs typeface="Times New Roman" panose="02020603050405020304" pitchFamily="18" charset="0"/>
                      </a:endParaRPr>
                    </a:p>
                    <a:p>
                      <a:pPr algn="just"/>
                      <a:r>
                        <a:rPr lang="en-IN" sz="1800" b="1" dirty="0">
                          <a:latin typeface="Times New Roman" panose="02020603050405020304" pitchFamily="18" charset="0"/>
                          <a:cs typeface="Times New Roman" panose="02020603050405020304" pitchFamily="18" charset="0"/>
                        </a:rPr>
                        <a:t>Disadvantage:</a:t>
                      </a:r>
                      <a:r>
                        <a:rPr lang="en-US" sz="1800" dirty="0">
                          <a:latin typeface="Times New Roman" panose="02020603050405020304" pitchFamily="18" charset="0"/>
                          <a:cs typeface="Times New Roman" panose="02020603050405020304" pitchFamily="18" charset="0"/>
                        </a:rPr>
                        <a:t>Cannot establish causality due to observational study design and confounding factors.</a:t>
                      </a:r>
                      <a:endParaRPr lang="en-IN" sz="1800" dirty="0">
                        <a:latin typeface="Times New Roman" panose="02020603050405020304" pitchFamily="18" charset="0"/>
                        <a:cs typeface="Times New Roman" panose="02020603050405020304" pitchFamily="18" charset="0"/>
                      </a:endParaRPr>
                    </a:p>
                  </a:txBody>
                  <a:tcPr>
                    <a:solidFill>
                      <a:schemeClr val="accent2">
                        <a:lumMod val="20000"/>
                        <a:lumOff val="80000"/>
                      </a:schemeClr>
                    </a:solidFill>
                  </a:tcPr>
                </a:tc>
                <a:extLst>
                  <a:ext uri="{0D108BD9-81ED-4DB2-BD59-A6C34878D82A}">
                    <a16:rowId xmlns:a16="http://schemas.microsoft.com/office/drawing/2014/main" val="10001"/>
                  </a:ext>
                </a:extLst>
              </a:tr>
            </a:tbl>
          </a:graphicData>
        </a:graphic>
      </p:graphicFrame>
      <p:sp>
        <p:nvSpPr>
          <p:cNvPr id="2" name="Date Placeholder 1">
            <a:extLst>
              <a:ext uri="{FF2B5EF4-FFF2-40B4-BE49-F238E27FC236}">
                <a16:creationId xmlns:a16="http://schemas.microsoft.com/office/drawing/2014/main" id="{FEAB4AFB-1A02-3B0F-E662-21C4C1F9031D}"/>
              </a:ext>
            </a:extLst>
          </p:cNvPr>
          <p:cNvSpPr>
            <a:spLocks noGrp="1"/>
          </p:cNvSpPr>
          <p:nvPr>
            <p:ph type="dt" sz="half" idx="10"/>
          </p:nvPr>
        </p:nvSpPr>
        <p:spPr/>
        <p:txBody>
          <a:bodyPr/>
          <a:lstStyle/>
          <a:p>
            <a:r>
              <a:rPr lang="en-US"/>
              <a:t>06-11-2025</a:t>
            </a: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010385" y="148590"/>
            <a:ext cx="6949440" cy="715645"/>
          </a:xfrm>
          <a:prstGeom prst="rect">
            <a:avLst/>
          </a:prstGeom>
          <a:noFill/>
        </p:spPr>
        <p:txBody>
          <a:bodyPr wrap="square" rtlCol="0">
            <a:noAutofit/>
          </a:bodyPr>
          <a:lstStyle/>
          <a:p>
            <a:r>
              <a:rPr lang="en-IN" altLang="en-US" sz="2400" b="1" dirty="0">
                <a:latin typeface="Times New Roman" panose="02020603050405020304" pitchFamily="18" charset="0"/>
                <a:cs typeface="Times New Roman" panose="02020603050405020304" pitchFamily="18" charset="0"/>
              </a:rPr>
              <a:t>Methodology:-</a:t>
            </a:r>
          </a:p>
        </p:txBody>
      </p:sp>
      <p:sp>
        <p:nvSpPr>
          <p:cNvPr id="9" name="Rectangle 8"/>
          <p:cNvSpPr/>
          <p:nvPr/>
        </p:nvSpPr>
        <p:spPr>
          <a:xfrm>
            <a:off x="4485105" y="681355"/>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User Input
Eye Image</a:t>
            </a:r>
          </a:p>
        </p:txBody>
      </p:sp>
      <p:sp>
        <p:nvSpPr>
          <p:cNvPr id="11" name="Rectangle 10"/>
          <p:cNvSpPr/>
          <p:nvPr/>
        </p:nvSpPr>
        <p:spPr>
          <a:xfrm>
            <a:off x="893852" y="1510302"/>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Web Interface
HTML/CSS/JS</a:t>
            </a:r>
          </a:p>
        </p:txBody>
      </p:sp>
      <p:sp>
        <p:nvSpPr>
          <p:cNvPr id="12" name="Rectangle 11"/>
          <p:cNvSpPr/>
          <p:nvPr/>
        </p:nvSpPr>
        <p:spPr>
          <a:xfrm>
            <a:off x="3342105" y="2211506"/>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File Upload
Handler</a:t>
            </a:r>
          </a:p>
        </p:txBody>
      </p:sp>
      <p:sp>
        <p:nvSpPr>
          <p:cNvPr id="13" name="Rectangle 12"/>
          <p:cNvSpPr/>
          <p:nvPr/>
        </p:nvSpPr>
        <p:spPr>
          <a:xfrm>
            <a:off x="3342105" y="3123032"/>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Input Validation
&amp; Error Handling</a:t>
            </a:r>
          </a:p>
        </p:txBody>
      </p:sp>
      <p:sp>
        <p:nvSpPr>
          <p:cNvPr id="14" name="Rectangle 13"/>
          <p:cNvSpPr/>
          <p:nvPr/>
        </p:nvSpPr>
        <p:spPr>
          <a:xfrm>
            <a:off x="9149715" y="1510302"/>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Image Input
Acquisition</a:t>
            </a:r>
          </a:p>
        </p:txBody>
      </p:sp>
      <p:sp>
        <p:nvSpPr>
          <p:cNvPr id="15" name="Rectangle 14"/>
          <p:cNvSpPr/>
          <p:nvPr/>
        </p:nvSpPr>
        <p:spPr>
          <a:xfrm>
            <a:off x="6373459" y="2248204"/>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Image Preprocessing
Resize 
+ Normalization</a:t>
            </a:r>
          </a:p>
        </p:txBody>
      </p:sp>
      <p:sp>
        <p:nvSpPr>
          <p:cNvPr id="16" name="Rectangle 15"/>
          <p:cNvSpPr/>
          <p:nvPr/>
        </p:nvSpPr>
        <p:spPr>
          <a:xfrm>
            <a:off x="6373459" y="3147718"/>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CNN Model
Conv2D + MaxPool2D
+ Dense Layers</a:t>
            </a:r>
          </a:p>
        </p:txBody>
      </p:sp>
      <p:sp>
        <p:nvSpPr>
          <p:cNvPr id="17" name="Rectangle 16"/>
          <p:cNvSpPr/>
          <p:nvPr/>
        </p:nvSpPr>
        <p:spPr>
          <a:xfrm>
            <a:off x="4782620" y="4121467"/>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Feature Extraction
GlobalAveragePooling2D</a:t>
            </a:r>
          </a:p>
        </p:txBody>
      </p:sp>
      <p:sp>
        <p:nvSpPr>
          <p:cNvPr id="18" name="Rectangle 17"/>
          <p:cNvSpPr/>
          <p:nvPr/>
        </p:nvSpPr>
        <p:spPr>
          <a:xfrm>
            <a:off x="1565097" y="4777688"/>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Prediction Engine
</a:t>
            </a:r>
            <a:r>
              <a:rPr sz="1000" dirty="0" err="1">
                <a:solidFill>
                  <a:srgbClr val="FFFFFF"/>
                </a:solidFill>
                <a:latin typeface="Times New Roman" panose="02020603050405020304" pitchFamily="18" charset="0"/>
                <a:cs typeface="Times New Roman" panose="02020603050405020304" pitchFamily="18" charset="0"/>
              </a:rPr>
              <a:t>Keras</a:t>
            </a:r>
            <a:r>
              <a:rPr sz="1000" dirty="0">
                <a:solidFill>
                  <a:srgbClr val="FFFFFF"/>
                </a:solidFill>
                <a:latin typeface="Times New Roman" panose="02020603050405020304" pitchFamily="18" charset="0"/>
                <a:cs typeface="Times New Roman" panose="02020603050405020304" pitchFamily="18" charset="0"/>
              </a:rPr>
              <a:t> </a:t>
            </a:r>
            <a:r>
              <a:rPr sz="1000" dirty="0" err="1">
                <a:solidFill>
                  <a:srgbClr val="FFFFFF"/>
                </a:solidFill>
                <a:latin typeface="Times New Roman" panose="02020603050405020304" pitchFamily="18" charset="0"/>
                <a:cs typeface="Times New Roman" panose="02020603050405020304" pitchFamily="18" charset="0"/>
              </a:rPr>
              <a:t>Model.predict</a:t>
            </a:r>
            <a:r>
              <a:rPr sz="1000" dirty="0">
                <a:solidFill>
                  <a:srgbClr val="FFFFFF"/>
                </a:solidFill>
                <a:latin typeface="Times New Roman" panose="02020603050405020304" pitchFamily="18" charset="0"/>
                <a:cs typeface="Times New Roman" panose="02020603050405020304" pitchFamily="18" charset="0"/>
              </a:rPr>
              <a:t>()</a:t>
            </a:r>
          </a:p>
        </p:txBody>
      </p:sp>
      <p:sp>
        <p:nvSpPr>
          <p:cNvPr id="20" name="Rectangle 19"/>
          <p:cNvSpPr/>
          <p:nvPr/>
        </p:nvSpPr>
        <p:spPr>
          <a:xfrm>
            <a:off x="8049802" y="4802717"/>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Binary Classification
Sigmoid Activation</a:t>
            </a:r>
          </a:p>
        </p:txBody>
      </p:sp>
      <p:sp>
        <p:nvSpPr>
          <p:cNvPr id="22" name="Rectangle 21"/>
          <p:cNvSpPr/>
          <p:nvPr/>
        </p:nvSpPr>
        <p:spPr>
          <a:xfrm>
            <a:off x="4603714" y="5256258"/>
            <a:ext cx="2286000" cy="73152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dirty="0">
                <a:solidFill>
                  <a:srgbClr val="FFFFFF"/>
                </a:solidFill>
                <a:latin typeface="Times New Roman" panose="02020603050405020304" pitchFamily="18" charset="0"/>
                <a:cs typeface="Times New Roman" panose="02020603050405020304" pitchFamily="18" charset="0"/>
              </a:rPr>
              <a:t>Confidence Calculation
Threshold &gt; 0.5</a:t>
            </a:r>
          </a:p>
        </p:txBody>
      </p:sp>
      <p:sp>
        <p:nvSpPr>
          <p:cNvPr id="23" name="Rectangle 22"/>
          <p:cNvSpPr/>
          <p:nvPr/>
        </p:nvSpPr>
        <p:spPr>
          <a:xfrm>
            <a:off x="5925820" y="6114415"/>
            <a:ext cx="2286000" cy="64008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dirty="0">
                <a:solidFill>
                  <a:srgbClr val="FFFFFF"/>
                </a:solidFill>
                <a:latin typeface="Times New Roman" panose="02020603050405020304" pitchFamily="18" charset="0"/>
                <a:cs typeface="Times New Roman" panose="02020603050405020304" pitchFamily="18" charset="0"/>
              </a:rPr>
              <a:t>JSON Response
Result + Confidence</a:t>
            </a:r>
          </a:p>
        </p:txBody>
      </p:sp>
      <p:sp>
        <p:nvSpPr>
          <p:cNvPr id="27" name="Arrow: Bent 26"/>
          <p:cNvSpPr/>
          <p:nvPr/>
        </p:nvSpPr>
        <p:spPr>
          <a:xfrm rot="5400000">
            <a:off x="8235042" y="-599701"/>
            <a:ext cx="636823" cy="3564697"/>
          </a:xfrm>
          <a:prstGeom prst="bentArrow">
            <a:avLst>
              <a:gd name="adj1" fmla="val 25000"/>
              <a:gd name="adj2" fmla="val 25000"/>
              <a:gd name="adj3" fmla="val 1995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Bent 27"/>
          <p:cNvSpPr/>
          <p:nvPr/>
        </p:nvSpPr>
        <p:spPr>
          <a:xfrm rot="16200000" flipH="1">
            <a:off x="2787171" y="-196878"/>
            <a:ext cx="636822" cy="2759047"/>
          </a:xfrm>
          <a:prstGeom prst="bentArrow">
            <a:avLst>
              <a:gd name="adj1" fmla="val 25000"/>
              <a:gd name="adj2" fmla="val 25000"/>
              <a:gd name="adj3" fmla="val 1995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9" name="Arrow: Bent-Up 28"/>
          <p:cNvSpPr/>
          <p:nvPr/>
        </p:nvSpPr>
        <p:spPr>
          <a:xfrm rot="5400000">
            <a:off x="2437007" y="1683993"/>
            <a:ext cx="368808" cy="1441385"/>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Arrow: Bent-Up 29"/>
          <p:cNvSpPr/>
          <p:nvPr/>
        </p:nvSpPr>
        <p:spPr>
          <a:xfrm rot="16200000" flipH="1">
            <a:off x="9438733" y="1486537"/>
            <a:ext cx="323278" cy="1881826"/>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Arrow: U-Turn 30"/>
          <p:cNvSpPr/>
          <p:nvPr/>
        </p:nvSpPr>
        <p:spPr>
          <a:xfrm rot="5400000">
            <a:off x="8376632" y="3003247"/>
            <a:ext cx="893987" cy="311975"/>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U-Turn 31"/>
          <p:cNvSpPr/>
          <p:nvPr/>
        </p:nvSpPr>
        <p:spPr>
          <a:xfrm rot="5400000" flipV="1">
            <a:off x="2724410" y="3003247"/>
            <a:ext cx="893987" cy="311976"/>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3" name="Arrow: Bent-Up 32"/>
          <p:cNvSpPr/>
          <p:nvPr/>
        </p:nvSpPr>
        <p:spPr>
          <a:xfrm rot="16200000" flipH="1">
            <a:off x="7395923" y="3581102"/>
            <a:ext cx="565507" cy="1161779"/>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4" name="Arrow: Bent-Up 33"/>
          <p:cNvSpPr/>
          <p:nvPr/>
        </p:nvSpPr>
        <p:spPr>
          <a:xfrm rot="5400000">
            <a:off x="3989161" y="3632148"/>
            <a:ext cx="565508" cy="1023147"/>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5" name="Arrow: U-Turn 34"/>
          <p:cNvSpPr/>
          <p:nvPr/>
        </p:nvSpPr>
        <p:spPr>
          <a:xfrm rot="5400000">
            <a:off x="8694717" y="2903611"/>
            <a:ext cx="565510" cy="3817706"/>
          </a:xfrm>
          <a:prstGeom prst="uturnArrow">
            <a:avLst>
              <a:gd name="adj1" fmla="val 25000"/>
              <a:gd name="adj2" fmla="val 25000"/>
              <a:gd name="adj3" fmla="val 43168"/>
              <a:gd name="adj4" fmla="val 43750"/>
              <a:gd name="adj5" fmla="val 149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6" name="Arrow: U-Turn 35"/>
          <p:cNvSpPr/>
          <p:nvPr/>
        </p:nvSpPr>
        <p:spPr>
          <a:xfrm rot="16200000" flipH="1">
            <a:off x="2597601" y="2932514"/>
            <a:ext cx="552330" cy="3817706"/>
          </a:xfrm>
          <a:prstGeom prst="uturnArrow">
            <a:avLst>
              <a:gd name="adj1" fmla="val 25000"/>
              <a:gd name="adj2" fmla="val 25000"/>
              <a:gd name="adj3" fmla="val 43168"/>
              <a:gd name="adj4" fmla="val 43750"/>
              <a:gd name="adj5" fmla="val 149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7" name="Arrow: Down 36"/>
          <p:cNvSpPr/>
          <p:nvPr/>
        </p:nvSpPr>
        <p:spPr>
          <a:xfrm>
            <a:off x="5542984" y="4862170"/>
            <a:ext cx="395479" cy="4542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Arrow: Bent-Up 37"/>
          <p:cNvSpPr/>
          <p:nvPr/>
        </p:nvSpPr>
        <p:spPr>
          <a:xfrm rot="16200000" flipH="1">
            <a:off x="7668988" y="4782222"/>
            <a:ext cx="323278" cy="1881826"/>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9" name="Arrow: Bent-Up 38"/>
          <p:cNvSpPr/>
          <p:nvPr/>
        </p:nvSpPr>
        <p:spPr>
          <a:xfrm rot="5400000">
            <a:off x="3534616" y="4759088"/>
            <a:ext cx="320499" cy="1817694"/>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 name="Arrow: Bent 39"/>
          <p:cNvSpPr/>
          <p:nvPr/>
        </p:nvSpPr>
        <p:spPr>
          <a:xfrm flipV="1">
            <a:off x="4822851" y="5997109"/>
            <a:ext cx="1102768" cy="73152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 name="Arrow: Right 3"/>
          <p:cNvSpPr/>
          <p:nvPr/>
        </p:nvSpPr>
        <p:spPr>
          <a:xfrm>
            <a:off x="8234365" y="6357452"/>
            <a:ext cx="850188" cy="3232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9107170" y="6080125"/>
            <a:ext cx="2286000" cy="659130"/>
          </a:xfrm>
          <a:prstGeom prst="rect">
            <a:avLst/>
          </a:prstGeom>
          <a:solidFill>
            <a:srgbClr val="000000"/>
          </a:solidFill>
          <a:ln w="19050">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000" dirty="0"/>
              <a:t>Evaluation metrics </a:t>
            </a:r>
            <a:endParaRPr sz="1000" dirty="0">
              <a:solidFill>
                <a:srgbClr val="FFFFFF"/>
              </a:solidFill>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1A71E6CC-3833-3602-854F-F9C45402469F}"/>
              </a:ext>
            </a:extLst>
          </p:cNvPr>
          <p:cNvSpPr>
            <a:spLocks noGrp="1"/>
          </p:cNvSpPr>
          <p:nvPr>
            <p:ph type="dt" sz="half" idx="10"/>
          </p:nvPr>
        </p:nvSpPr>
        <p:spPr/>
        <p:txBody>
          <a:bodyPr/>
          <a:lstStyle/>
          <a:p>
            <a:r>
              <a:rPr lang="en-US"/>
              <a:t>06-11-2025</a:t>
            </a: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3960" y="989965"/>
            <a:ext cx="3444240" cy="611505"/>
          </a:xfrm>
        </p:spPr>
        <p:txBody>
          <a:bodyPr>
            <a:normAutofit/>
          </a:bodyPr>
          <a:lstStyle/>
          <a:p>
            <a:r>
              <a:rPr lang="en-IN" sz="2400" b="1" dirty="0">
                <a:latin typeface="Times New Roman" panose="02020603050405020304" pitchFamily="18" charset="0"/>
                <a:cs typeface="Times New Roman" panose="02020603050405020304" pitchFamily="18" charset="0"/>
              </a:rPr>
              <a:t>Software components:</a:t>
            </a:r>
          </a:p>
        </p:txBody>
      </p:sp>
      <p:sp>
        <p:nvSpPr>
          <p:cNvPr id="3" name="Content Placeholder 2"/>
          <p:cNvSpPr>
            <a:spLocks noGrp="1"/>
          </p:cNvSpPr>
          <p:nvPr>
            <p:ph idx="1"/>
          </p:nvPr>
        </p:nvSpPr>
        <p:spPr>
          <a:xfrm>
            <a:off x="2863215" y="1601470"/>
            <a:ext cx="8915400" cy="4173855"/>
          </a:xfrm>
        </p:spPr>
        <p:txBody>
          <a:bodyPr>
            <a:normAutofit/>
          </a:bodyPr>
          <a:lstStyle/>
          <a:p>
            <a:pPr algn="just">
              <a:buFont typeface="Wingdings" panose="05000000000000000000" charset="0"/>
              <a:buChar char="Ø"/>
            </a:pPr>
            <a:r>
              <a:rPr lang="en-IN" dirty="0">
                <a:latin typeface="Times New Roman" panose="02020603050405020304" pitchFamily="18" charset="0"/>
                <a:cs typeface="Times New Roman" panose="02020603050405020304" pitchFamily="18" charset="0"/>
              </a:rPr>
              <a:t>Data gathering</a:t>
            </a:r>
          </a:p>
          <a:p>
            <a:pPr algn="just">
              <a:buFont typeface="Wingdings" panose="05000000000000000000" charset="0"/>
              <a:buChar char="Ø"/>
            </a:pPr>
            <a:r>
              <a:rPr lang="en-IN" dirty="0">
                <a:latin typeface="Times New Roman" panose="02020603050405020304" pitchFamily="18" charset="0"/>
                <a:cs typeface="Times New Roman" panose="02020603050405020304" pitchFamily="18" charset="0"/>
              </a:rPr>
              <a:t>Pre-processing</a:t>
            </a:r>
          </a:p>
          <a:p>
            <a:pPr algn="just">
              <a:buFont typeface="Wingdings" panose="05000000000000000000" charset="0"/>
              <a:buChar char="Ø"/>
            </a:pPr>
            <a:r>
              <a:rPr lang="en-IN" dirty="0">
                <a:latin typeface="Times New Roman" panose="02020603050405020304" pitchFamily="18" charset="0"/>
                <a:cs typeface="Times New Roman" panose="02020603050405020304" pitchFamily="18" charset="0"/>
              </a:rPr>
              <a:t>Feature extraction  </a:t>
            </a:r>
          </a:p>
          <a:p>
            <a:pPr algn="just">
              <a:buFont typeface="Wingdings" panose="05000000000000000000" charset="0"/>
              <a:buChar char="Ø"/>
            </a:pPr>
            <a:r>
              <a:rPr lang="en-IN" dirty="0">
                <a:latin typeface="Times New Roman" panose="02020603050405020304" pitchFamily="18" charset="0"/>
                <a:cs typeface="Times New Roman" panose="02020603050405020304" pitchFamily="18" charset="0"/>
              </a:rPr>
              <a:t>Deep learning model(CNN)</a:t>
            </a:r>
          </a:p>
          <a:p>
            <a:pPr algn="just">
              <a:buFont typeface="Wingdings" panose="05000000000000000000" charset="0"/>
              <a:buChar char="Ø"/>
            </a:pPr>
            <a:r>
              <a:rPr lang="en-IN" dirty="0">
                <a:latin typeface="Times New Roman" panose="02020603050405020304" pitchFamily="18" charset="0"/>
                <a:cs typeface="Times New Roman" panose="02020603050405020304" pitchFamily="18" charset="0"/>
              </a:rPr>
              <a:t>Model training</a:t>
            </a:r>
          </a:p>
          <a:p>
            <a:pPr algn="just">
              <a:buFont typeface="Wingdings" panose="05000000000000000000" charset="0"/>
              <a:buChar char="Ø"/>
            </a:pPr>
            <a:r>
              <a:rPr lang="en-IN" dirty="0">
                <a:latin typeface="Times New Roman" panose="02020603050405020304" pitchFamily="18" charset="0"/>
                <a:cs typeface="Times New Roman" panose="02020603050405020304" pitchFamily="18" charset="0"/>
              </a:rPr>
              <a:t>Classification(Binary)</a:t>
            </a:r>
          </a:p>
          <a:p>
            <a:pPr algn="just">
              <a:buFont typeface="Wingdings" panose="05000000000000000000" charset="0"/>
              <a:buChar char="Ø"/>
            </a:pPr>
            <a:r>
              <a:rPr lang="en-IN" dirty="0">
                <a:latin typeface="Times New Roman" panose="02020603050405020304" pitchFamily="18" charset="0"/>
                <a:cs typeface="Times New Roman" panose="02020603050405020304" pitchFamily="18" charset="0"/>
              </a:rPr>
              <a:t>User interface</a:t>
            </a:r>
          </a:p>
        </p:txBody>
      </p:sp>
      <p:sp>
        <p:nvSpPr>
          <p:cNvPr id="5" name="TextBox 4"/>
          <p:cNvSpPr txBox="1"/>
          <p:nvPr/>
        </p:nvSpPr>
        <p:spPr>
          <a:xfrm>
            <a:off x="2473960" y="4448810"/>
            <a:ext cx="6094730" cy="502920"/>
          </a:xfrm>
          <a:prstGeom prst="rect">
            <a:avLst/>
          </a:prstGeom>
          <a:noFill/>
        </p:spPr>
        <p:txBody>
          <a:bodyPr wrap="square">
            <a:noAutofit/>
          </a:bodyPr>
          <a:lstStyle/>
          <a:p>
            <a:r>
              <a:rPr lang="en-IN" sz="2400" b="1" dirty="0">
                <a:latin typeface="Times New Roman" panose="02020603050405020304" pitchFamily="18" charset="0"/>
                <a:cs typeface="Times New Roman" panose="02020603050405020304" pitchFamily="18" charset="0"/>
              </a:rPr>
              <a:t>For compilation:-</a:t>
            </a:r>
            <a:endParaRPr lang="en-IN" sz="2400" dirty="0"/>
          </a:p>
        </p:txBody>
      </p:sp>
      <p:sp>
        <p:nvSpPr>
          <p:cNvPr id="7" name="TextBox 6"/>
          <p:cNvSpPr txBox="1"/>
          <p:nvPr/>
        </p:nvSpPr>
        <p:spPr>
          <a:xfrm>
            <a:off x="2863215" y="4951095"/>
            <a:ext cx="6094730" cy="666750"/>
          </a:xfrm>
          <a:prstGeom prst="rect">
            <a:avLst/>
          </a:prstGeom>
          <a:noFill/>
        </p:spPr>
        <p:txBody>
          <a:bodyPr wrap="square">
            <a:noAutofit/>
          </a:bodyPr>
          <a:lstStyle/>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VS-Code</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Trae</a:t>
            </a:r>
          </a:p>
        </p:txBody>
      </p:sp>
      <p:sp>
        <p:nvSpPr>
          <p:cNvPr id="4" name="Date Placeholder 3">
            <a:extLst>
              <a:ext uri="{FF2B5EF4-FFF2-40B4-BE49-F238E27FC236}">
                <a16:creationId xmlns:a16="http://schemas.microsoft.com/office/drawing/2014/main" id="{75D117A2-3EEC-5F60-EA59-56449450366D}"/>
              </a:ext>
            </a:extLst>
          </p:cNvPr>
          <p:cNvSpPr>
            <a:spLocks noGrp="1"/>
          </p:cNvSpPr>
          <p:nvPr>
            <p:ph type="dt" sz="half" idx="10"/>
          </p:nvPr>
        </p:nvSpPr>
        <p:spPr/>
        <p:txBody>
          <a:bodyPr/>
          <a:lstStyle/>
          <a:p>
            <a:r>
              <a:rPr lang="en-US"/>
              <a:t>06-11-2025</a:t>
            </a: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42820" y="1544955"/>
            <a:ext cx="6094730" cy="544195"/>
          </a:xfrm>
          <a:prstGeom prst="rect">
            <a:avLst/>
          </a:prstGeom>
          <a:noFill/>
        </p:spPr>
        <p:txBody>
          <a:bodyPr wrap="square">
            <a:noAutofit/>
          </a:bodyPr>
          <a:lstStyle/>
          <a:p>
            <a:r>
              <a:rPr lang="en-IN" sz="2400" b="1" dirty="0">
                <a:latin typeface="Times New Roman" panose="02020603050405020304" pitchFamily="18" charset="0"/>
                <a:cs typeface="Times New Roman" panose="02020603050405020304" pitchFamily="18" charset="0"/>
              </a:rPr>
              <a:t>Algorithm:</a:t>
            </a:r>
          </a:p>
        </p:txBody>
      </p:sp>
      <p:sp>
        <p:nvSpPr>
          <p:cNvPr id="4" name="Rectangle 2"/>
          <p:cNvSpPr>
            <a:spLocks noChangeArrowheads="1"/>
          </p:cNvSpPr>
          <p:nvPr/>
        </p:nvSpPr>
        <p:spPr bwMode="auto">
          <a:xfrm>
            <a:off x="2835910" y="2089150"/>
            <a:ext cx="7113905" cy="257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lvl="7" defTabSz="914400" eaLnBrk="0" fontAlgn="base" hangingPunct="0">
              <a:lnSpc>
                <a:spcPct val="150000"/>
              </a:lnSpc>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defTabSz="914400" eaLnBrk="0" fontAlgn="base" hangingPunct="0">
              <a:lnSpc>
                <a:spcPct val="150000"/>
              </a:lnSpc>
              <a:spcBef>
                <a:spcPct val="0"/>
              </a:spcBef>
              <a:spcAft>
                <a:spcPct val="0"/>
              </a:spcAft>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User Input</a:t>
            </a:r>
            <a:r>
              <a:rPr lang="en-US" altLang="en-US" dirty="0">
                <a:latin typeface="Times New Roman" panose="02020603050405020304" pitchFamily="18" charset="0"/>
                <a:cs typeface="Times New Roman" panose="02020603050405020304" pitchFamily="18" charset="0"/>
              </a:rPr>
              <a:t> → Upload eye image via web interface.</a:t>
            </a:r>
            <a:endParaRPr lang="en-US" altLang="en-US" b="1" dirty="0">
              <a:latin typeface="Times New Roman" panose="02020603050405020304" pitchFamily="18" charset="0"/>
              <a:cs typeface="Times New Roman" panose="02020603050405020304" pitchFamily="18" charset="0"/>
            </a:endParaRPr>
          </a:p>
          <a:p>
            <a:pPr marL="285750" lvl="0" indent="-285750" defTabSz="914400" eaLnBrk="0" fontAlgn="base" hangingPunct="0">
              <a:lnSpc>
                <a:spcPct val="15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Check file format &amp; handle errors.</a:t>
            </a:r>
          </a:p>
          <a:p>
            <a:pPr marL="285750" lvl="0" indent="-285750" defTabSz="914400" eaLnBrk="0" fontAlgn="base" hangingPunct="0">
              <a:lnSpc>
                <a:spcPct val="15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Resize , Normalize pixels.</a:t>
            </a:r>
          </a:p>
          <a:p>
            <a:pPr marL="285750" lvl="0" indent="-285750" defTabSz="914400" eaLnBrk="0" fontAlgn="base" hangingPunct="0">
              <a:lnSpc>
                <a:spcPct val="15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 Model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Conv2D + Max Pooling + Dense (Sigmoid AF).</a:t>
            </a:r>
          </a:p>
          <a:p>
            <a:pPr marL="285750" lvl="0" indent="-285750" defTabSz="914400" eaLnBrk="0" fontAlgn="base" hangingPunct="0">
              <a:lnSpc>
                <a:spcPct val="15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Classification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Output: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Normal / Anemic</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lvl="0" indent="-285750" defTabSz="914400" eaLnBrk="0" fontAlgn="base" hangingPunct="0">
              <a:lnSpc>
                <a:spcPct val="15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Confidence Score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Threshold &gt; 0.5.</a:t>
            </a:r>
          </a:p>
          <a:p>
            <a:pPr marL="285750" lvl="0" indent="-285750" defTabSz="914400" eaLnBrk="0" fontAlgn="base" hangingPunct="0">
              <a:lnSpc>
                <a:spcPct val="15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JSON Response → Display on UI.</a:t>
            </a:r>
          </a:p>
        </p:txBody>
      </p:sp>
      <p:sp>
        <p:nvSpPr>
          <p:cNvPr id="2" name="Date Placeholder 1">
            <a:extLst>
              <a:ext uri="{FF2B5EF4-FFF2-40B4-BE49-F238E27FC236}">
                <a16:creationId xmlns:a16="http://schemas.microsoft.com/office/drawing/2014/main" id="{BAD4EBC6-5617-D063-0D83-5DE01AABCFE5}"/>
              </a:ext>
            </a:extLst>
          </p:cNvPr>
          <p:cNvSpPr>
            <a:spLocks noGrp="1"/>
          </p:cNvSpPr>
          <p:nvPr>
            <p:ph type="dt" sz="half" idx="10"/>
          </p:nvPr>
        </p:nvSpPr>
        <p:spPr/>
        <p:txBody>
          <a:bodyPr/>
          <a:lstStyle/>
          <a:p>
            <a:r>
              <a:rPr lang="en-US"/>
              <a:t>06-11-2025</a:t>
            </a:r>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8309" y="553990"/>
            <a:ext cx="9722465" cy="1280890"/>
          </a:xfrm>
        </p:spPr>
        <p:txBody>
          <a:bodyPr>
            <a:normAutofit/>
          </a:bodyPr>
          <a:lstStyle/>
          <a:p>
            <a:r>
              <a:rPr lang="en-IN" sz="2800" b="1" dirty="0">
                <a:latin typeface="Times New Roman" panose="02020603050405020304" pitchFamily="18" charset="0"/>
                <a:cs typeface="Times New Roman" panose="02020603050405020304" pitchFamily="18" charset="0"/>
              </a:rPr>
              <a:t>Implementation:-</a:t>
            </a:r>
          </a:p>
        </p:txBody>
      </p:sp>
      <p:sp>
        <p:nvSpPr>
          <p:cNvPr id="5" name="Rectangle 4"/>
          <p:cNvSpPr/>
          <p:nvPr/>
        </p:nvSpPr>
        <p:spPr>
          <a:xfrm>
            <a:off x="944880" y="1546860"/>
            <a:ext cx="4594860" cy="13639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600"/>
              </a:lnSpc>
            </a:pPr>
            <a:r>
              <a:rPr lang="en-US" dirty="0">
                <a:solidFill>
                  <a:schemeClr val="accent5">
                    <a:lumMod val="60000"/>
                    <a:lumOff val="40000"/>
                  </a:schemeClr>
                </a:solidFill>
                <a:latin typeface="Overpass Light" pitchFamily="34" charset="0"/>
                <a:ea typeface="Overpass Light" pitchFamily="34" charset="-122"/>
                <a:cs typeface="Overpass Light" pitchFamily="34" charset="-120"/>
              </a:rPr>
              <a:t>Conv2D layers for feature extraction using multiple filters</a:t>
            </a:r>
            <a:r>
              <a:rPr lang="en-US" dirty="0">
                <a:solidFill>
                  <a:srgbClr val="3B4E4E"/>
                </a:solidFill>
                <a:latin typeface="Overpass Light" pitchFamily="34" charset="0"/>
                <a:ea typeface="Overpass Light" pitchFamily="34" charset="-122"/>
                <a:cs typeface="Overpass Light" pitchFamily="34" charset="-120"/>
              </a:rPr>
              <a:t>.</a:t>
            </a:r>
            <a:endParaRPr lang="en-US" dirty="0"/>
          </a:p>
        </p:txBody>
      </p:sp>
      <p:sp>
        <p:nvSpPr>
          <p:cNvPr id="7" name="Rectangle 6"/>
          <p:cNvSpPr/>
          <p:nvPr/>
        </p:nvSpPr>
        <p:spPr>
          <a:xfrm>
            <a:off x="6957060" y="1546860"/>
            <a:ext cx="4678680" cy="13373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600"/>
              </a:lnSpc>
            </a:pPr>
            <a:r>
              <a:rPr lang="en-US" dirty="0">
                <a:solidFill>
                  <a:schemeClr val="accent5">
                    <a:lumMod val="60000"/>
                    <a:lumOff val="40000"/>
                  </a:schemeClr>
                </a:solidFill>
                <a:latin typeface="Overpass Light" pitchFamily="34" charset="0"/>
                <a:ea typeface="Overpass Light" pitchFamily="34" charset="-122"/>
                <a:cs typeface="Overpass Light" pitchFamily="34" charset="-120"/>
              </a:rPr>
              <a:t>MaxPooling2D layers to down sample spatial dimensions</a:t>
            </a:r>
            <a:r>
              <a:rPr lang="en-US" dirty="0">
                <a:solidFill>
                  <a:srgbClr val="3B4E4E"/>
                </a:solidFill>
                <a:latin typeface="Overpass Light" pitchFamily="34" charset="0"/>
                <a:ea typeface="Overpass Light" pitchFamily="34" charset="-122"/>
                <a:cs typeface="Overpass Light" pitchFamily="34" charset="-120"/>
              </a:rPr>
              <a:t>.</a:t>
            </a:r>
            <a:endParaRPr lang="en-US" dirty="0"/>
          </a:p>
        </p:txBody>
      </p:sp>
      <p:sp>
        <p:nvSpPr>
          <p:cNvPr id="8" name="Rectangle 7"/>
          <p:cNvSpPr/>
          <p:nvPr/>
        </p:nvSpPr>
        <p:spPr>
          <a:xfrm>
            <a:off x="944880" y="3558540"/>
            <a:ext cx="4594860" cy="1554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solidFill>
                  <a:schemeClr val="accent5">
                    <a:lumMod val="60000"/>
                    <a:lumOff val="40000"/>
                  </a:schemeClr>
                </a:solidFill>
                <a:latin typeface="Overpass Light" pitchFamily="34" charset="0"/>
                <a:ea typeface="Overpass Light" pitchFamily="34" charset="-122"/>
                <a:cs typeface="Overpass Light" pitchFamily="34" charset="-120"/>
              </a:rPr>
              <a:t>Global Average Pooling2D to minimize </a:t>
            </a:r>
            <a:r>
              <a:rPr lang="en-US" dirty="0" err="1">
                <a:solidFill>
                  <a:schemeClr val="accent5">
                    <a:lumMod val="60000"/>
                    <a:lumOff val="40000"/>
                  </a:schemeClr>
                </a:solidFill>
                <a:latin typeface="Overpass Light" pitchFamily="34" charset="0"/>
                <a:ea typeface="Overpass Light" pitchFamily="34" charset="-122"/>
                <a:cs typeface="Overpass Light" pitchFamily="34" charset="-120"/>
              </a:rPr>
              <a:t>overfitting</a:t>
            </a:r>
            <a:r>
              <a:rPr lang="en-US" dirty="0">
                <a:solidFill>
                  <a:schemeClr val="accent5">
                    <a:lumMod val="60000"/>
                    <a:lumOff val="40000"/>
                  </a:schemeClr>
                </a:solidFill>
                <a:latin typeface="Overpass Light" pitchFamily="34" charset="0"/>
                <a:ea typeface="Overpass Light" pitchFamily="34" charset="-122"/>
                <a:cs typeface="Overpass Light" pitchFamily="34" charset="-120"/>
              </a:rPr>
              <a:t> and reduce parameters</a:t>
            </a:r>
            <a:endParaRPr lang="en-IN" dirty="0">
              <a:solidFill>
                <a:schemeClr val="accent5">
                  <a:lumMod val="60000"/>
                  <a:lumOff val="40000"/>
                </a:schemeClr>
              </a:solidFill>
            </a:endParaRPr>
          </a:p>
        </p:txBody>
      </p:sp>
      <p:sp>
        <p:nvSpPr>
          <p:cNvPr id="9" name="Rectangle 8"/>
          <p:cNvSpPr/>
          <p:nvPr/>
        </p:nvSpPr>
        <p:spPr>
          <a:xfrm>
            <a:off x="6957060" y="3589020"/>
            <a:ext cx="4625340" cy="1493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600"/>
              </a:lnSpc>
            </a:pPr>
            <a:r>
              <a:rPr lang="en-US" dirty="0">
                <a:solidFill>
                  <a:schemeClr val="accent5">
                    <a:lumMod val="60000"/>
                    <a:lumOff val="40000"/>
                  </a:schemeClr>
                </a:solidFill>
                <a:latin typeface="Overpass Light" pitchFamily="34" charset="0"/>
                <a:ea typeface="Overpass Light" pitchFamily="34" charset="-122"/>
                <a:cs typeface="Overpass Light" pitchFamily="34" charset="-120"/>
              </a:rPr>
              <a:t>Dense layers for fully connected learning with Sigmoid activation function for binary classification.</a:t>
            </a:r>
            <a:endParaRPr lang="en-US" dirty="0"/>
          </a:p>
        </p:txBody>
      </p:sp>
      <p:sp>
        <p:nvSpPr>
          <p:cNvPr id="3" name="Date Placeholder 2">
            <a:extLst>
              <a:ext uri="{FF2B5EF4-FFF2-40B4-BE49-F238E27FC236}">
                <a16:creationId xmlns:a16="http://schemas.microsoft.com/office/drawing/2014/main" id="{30896C81-1D38-15F9-CFBB-2D2C3861FCF2}"/>
              </a:ext>
            </a:extLst>
          </p:cNvPr>
          <p:cNvSpPr>
            <a:spLocks noGrp="1"/>
          </p:cNvSpPr>
          <p:nvPr>
            <p:ph type="dt" sz="half" idx="10"/>
          </p:nvPr>
        </p:nvSpPr>
        <p:spPr/>
        <p:txBody>
          <a:bodyPr/>
          <a:lstStyle/>
          <a:p>
            <a:r>
              <a:rPr lang="en-US"/>
              <a:t>06-11-2025</a:t>
            </a: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CB660-A58A-47DC-A0D7-031294993DDA}"/>
              </a:ext>
            </a:extLst>
          </p:cNvPr>
          <p:cNvSpPr>
            <a:spLocks noGrp="1"/>
          </p:cNvSpPr>
          <p:nvPr>
            <p:ph type="title"/>
          </p:nvPr>
        </p:nvSpPr>
        <p:spPr>
          <a:xfrm>
            <a:off x="945347" y="472612"/>
            <a:ext cx="8915399" cy="616449"/>
          </a:xfrm>
        </p:spPr>
        <p:txBody>
          <a:bodyPr>
            <a:normAutofit/>
          </a:bodyPr>
          <a:lstStyle/>
          <a:p>
            <a:r>
              <a:rPr lang="en-IN" sz="2400" b="1" dirty="0">
                <a:latin typeface="Times New Roman" panose="02020603050405020304" pitchFamily="18" charset="0"/>
                <a:cs typeface="Times New Roman" panose="02020603050405020304" pitchFamily="18" charset="0"/>
              </a:rPr>
              <a:t>MODEL ARCHITECTURE:-</a:t>
            </a:r>
          </a:p>
        </p:txBody>
      </p:sp>
      <p:sp>
        <p:nvSpPr>
          <p:cNvPr id="3" name="Text Placeholder 2">
            <a:extLst>
              <a:ext uri="{FF2B5EF4-FFF2-40B4-BE49-F238E27FC236}">
                <a16:creationId xmlns:a16="http://schemas.microsoft.com/office/drawing/2014/main" id="{F1C4474F-693B-FC9A-816C-BF53C224656C}"/>
              </a:ext>
            </a:extLst>
          </p:cNvPr>
          <p:cNvSpPr>
            <a:spLocks noGrp="1"/>
          </p:cNvSpPr>
          <p:nvPr>
            <p:ph type="body" idx="1"/>
          </p:nvPr>
        </p:nvSpPr>
        <p:spPr>
          <a:xfrm>
            <a:off x="2589212" y="1458930"/>
            <a:ext cx="8915399" cy="4613097"/>
          </a:xfrm>
        </p:spPr>
        <p:txBody>
          <a:bodyPr/>
          <a:lstStyle/>
          <a:p>
            <a:endParaRPr lang="en-IN" dirty="0"/>
          </a:p>
        </p:txBody>
      </p:sp>
      <p:pic>
        <p:nvPicPr>
          <p:cNvPr id="5" name="Picture 4">
            <a:extLst>
              <a:ext uri="{FF2B5EF4-FFF2-40B4-BE49-F238E27FC236}">
                <a16:creationId xmlns:a16="http://schemas.microsoft.com/office/drawing/2014/main" id="{091C3962-3CA8-8BAB-9CB1-DE51592E20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8913" y="1335640"/>
            <a:ext cx="9830885" cy="4952145"/>
          </a:xfrm>
          <a:prstGeom prst="rect">
            <a:avLst/>
          </a:prstGeom>
        </p:spPr>
      </p:pic>
      <p:sp>
        <p:nvSpPr>
          <p:cNvPr id="6" name="Date Placeholder 5">
            <a:extLst>
              <a:ext uri="{FF2B5EF4-FFF2-40B4-BE49-F238E27FC236}">
                <a16:creationId xmlns:a16="http://schemas.microsoft.com/office/drawing/2014/main" id="{E365BFEF-782B-F90E-108E-DA65E3AAFF47}"/>
              </a:ext>
            </a:extLst>
          </p:cNvPr>
          <p:cNvSpPr>
            <a:spLocks noGrp="1"/>
          </p:cNvSpPr>
          <p:nvPr>
            <p:ph type="dt" sz="half" idx="10"/>
          </p:nvPr>
        </p:nvSpPr>
        <p:spPr/>
        <p:txBody>
          <a:bodyPr/>
          <a:lstStyle/>
          <a:p>
            <a:r>
              <a:rPr lang="en-US"/>
              <a:t>06-11-2025</a:t>
            </a:r>
            <a:endParaRPr lang="en-IN"/>
          </a:p>
        </p:txBody>
      </p:sp>
    </p:spTree>
    <p:extLst>
      <p:ext uri="{BB962C8B-B14F-4D97-AF65-F5344CB8AC3E}">
        <p14:creationId xmlns:p14="http://schemas.microsoft.com/office/powerpoint/2010/main" val="2361328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2480" y="260283"/>
            <a:ext cx="8911687" cy="603792"/>
          </a:xfrm>
        </p:spPr>
        <p:txBody>
          <a:bodyPr>
            <a:normAutofit fontScale="90000"/>
          </a:bodyPr>
          <a:lstStyle/>
          <a:p>
            <a:r>
              <a:rPr lang="en-IN" sz="2400" b="1" dirty="0">
                <a:latin typeface="Times New Roman" panose="02020603050405020304" pitchFamily="18" charset="0"/>
                <a:cs typeface="Times New Roman" panose="02020603050405020304" pitchFamily="18" charset="0"/>
              </a:rPr>
              <a:t>EXPERIMENTAL RESULTS AND DISCUSSION:</a:t>
            </a: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	</a:t>
            </a:r>
          </a:p>
        </p:txBody>
      </p:sp>
      <p:graphicFrame>
        <p:nvGraphicFramePr>
          <p:cNvPr id="3" name="Table 2">
            <a:extLst>
              <a:ext uri="{FF2B5EF4-FFF2-40B4-BE49-F238E27FC236}">
                <a16:creationId xmlns:a16="http://schemas.microsoft.com/office/drawing/2014/main" id="{8F4E9E56-906B-0863-177A-DC31E297283B}"/>
              </a:ext>
            </a:extLst>
          </p:cNvPr>
          <p:cNvGraphicFramePr>
            <a:graphicFrameLocks noGrp="1"/>
          </p:cNvGraphicFramePr>
          <p:nvPr>
            <p:extLst>
              <p:ext uri="{D42A27DB-BD31-4B8C-83A1-F6EECF244321}">
                <p14:modId xmlns:p14="http://schemas.microsoft.com/office/powerpoint/2010/main" val="1605949476"/>
              </p:ext>
            </p:extLst>
          </p:nvPr>
        </p:nvGraphicFramePr>
        <p:xfrm>
          <a:off x="1130156" y="1493575"/>
          <a:ext cx="6709026" cy="2834640"/>
        </p:xfrm>
        <a:graphic>
          <a:graphicData uri="http://schemas.openxmlformats.org/drawingml/2006/table">
            <a:tbl>
              <a:tblPr firstRow="1" bandRow="1">
                <a:tableStyleId>{5C22544A-7EE6-4342-B048-85BDC9FD1C3A}</a:tableStyleId>
              </a:tblPr>
              <a:tblGrid>
                <a:gridCol w="1534275">
                  <a:extLst>
                    <a:ext uri="{9D8B030D-6E8A-4147-A177-3AD203B41FA5}">
                      <a16:colId xmlns:a16="http://schemas.microsoft.com/office/drawing/2014/main" val="595333032"/>
                    </a:ext>
                  </a:extLst>
                </a:gridCol>
                <a:gridCol w="2219218">
                  <a:extLst>
                    <a:ext uri="{9D8B030D-6E8A-4147-A177-3AD203B41FA5}">
                      <a16:colId xmlns:a16="http://schemas.microsoft.com/office/drawing/2014/main" val="1585792651"/>
                    </a:ext>
                  </a:extLst>
                </a:gridCol>
                <a:gridCol w="1458930">
                  <a:extLst>
                    <a:ext uri="{9D8B030D-6E8A-4147-A177-3AD203B41FA5}">
                      <a16:colId xmlns:a16="http://schemas.microsoft.com/office/drawing/2014/main" val="324467412"/>
                    </a:ext>
                  </a:extLst>
                </a:gridCol>
                <a:gridCol w="1496603">
                  <a:extLst>
                    <a:ext uri="{9D8B030D-6E8A-4147-A177-3AD203B41FA5}">
                      <a16:colId xmlns:a16="http://schemas.microsoft.com/office/drawing/2014/main" val="3097907259"/>
                    </a:ext>
                  </a:extLst>
                </a:gridCol>
              </a:tblGrid>
              <a:tr h="225902">
                <a:tc>
                  <a:txBody>
                    <a:bodyPr/>
                    <a:lstStyle/>
                    <a:p>
                      <a:r>
                        <a:rPr lang="en-IN" dirty="0">
                          <a:latin typeface="Times New Roman" panose="02020603050405020304" pitchFamily="18" charset="0"/>
                          <a:cs typeface="Times New Roman" panose="02020603050405020304" pitchFamily="18" charset="0"/>
                        </a:rPr>
                        <a:t>RESEARCH NAME</a:t>
                      </a:r>
                    </a:p>
                  </a:txBody>
                  <a:tcPr/>
                </a:tc>
                <a:tc>
                  <a:txBody>
                    <a:bodyPr/>
                    <a:lstStyle/>
                    <a:p>
                      <a:r>
                        <a:rPr lang="en-IN" dirty="0">
                          <a:latin typeface="Times New Roman" panose="02020603050405020304" pitchFamily="18" charset="0"/>
                          <a:cs typeface="Times New Roman" panose="02020603050405020304" pitchFamily="18" charset="0"/>
                        </a:rPr>
                        <a:t>METHODOLOGY</a:t>
                      </a:r>
                    </a:p>
                  </a:txBody>
                  <a:tcPr/>
                </a:tc>
                <a:tc>
                  <a:txBody>
                    <a:bodyPr/>
                    <a:lstStyle/>
                    <a:p>
                      <a:r>
                        <a:rPr lang="en-IN" dirty="0">
                          <a:latin typeface="Times New Roman" panose="02020603050405020304" pitchFamily="18" charset="0"/>
                          <a:cs typeface="Times New Roman" panose="02020603050405020304" pitchFamily="18" charset="0"/>
                        </a:rPr>
                        <a:t>DATASET</a:t>
                      </a:r>
                    </a:p>
                  </a:txBody>
                  <a:tcPr/>
                </a:tc>
                <a:tc>
                  <a:txBody>
                    <a:bodyPr/>
                    <a:lstStyle/>
                    <a:p>
                      <a:r>
                        <a:rPr lang="en-IN" dirty="0">
                          <a:latin typeface="Times New Roman" panose="02020603050405020304" pitchFamily="18" charset="0"/>
                          <a:cs typeface="Times New Roman" panose="02020603050405020304" pitchFamily="18" charset="0"/>
                        </a:rPr>
                        <a:t>RESULTS</a:t>
                      </a:r>
                    </a:p>
                  </a:txBody>
                  <a:tcPr/>
                </a:tc>
                <a:extLst>
                  <a:ext uri="{0D108BD9-81ED-4DB2-BD59-A6C34878D82A}">
                    <a16:rowId xmlns:a16="http://schemas.microsoft.com/office/drawing/2014/main" val="4014496360"/>
                  </a:ext>
                </a:extLst>
              </a:tr>
              <a:tr h="470427">
                <a:tc>
                  <a:txBody>
                    <a:bodyPr/>
                    <a:lstStyle/>
                    <a:p>
                      <a:r>
                        <a:rPr lang="en-IN" dirty="0">
                          <a:latin typeface="Times New Roman" panose="02020603050405020304" pitchFamily="18" charset="0"/>
                          <a:cs typeface="Times New Roman" panose="02020603050405020304" pitchFamily="18" charset="0"/>
                        </a:rPr>
                        <a:t>Agarwal</a:t>
                      </a:r>
                    </a:p>
                    <a:p>
                      <a:r>
                        <a:rPr lang="en-IN" dirty="0">
                          <a:latin typeface="Times New Roman" panose="02020603050405020304" pitchFamily="18" charset="0"/>
                          <a:cs typeface="Times New Roman" panose="02020603050405020304" pitchFamily="18" charset="0"/>
                        </a:rPr>
                        <a:t>(2021)</a:t>
                      </a:r>
                    </a:p>
                  </a:txBody>
                  <a:tcPr/>
                </a:tc>
                <a:tc>
                  <a:txBody>
                    <a:bodyPr/>
                    <a:lstStyle/>
                    <a:p>
                      <a:r>
                        <a:rPr lang="en-IN" dirty="0">
                          <a:latin typeface="Times New Roman" panose="02020603050405020304" pitchFamily="18" charset="0"/>
                          <a:cs typeface="Times New Roman" panose="02020603050405020304" pitchFamily="18" charset="0"/>
                        </a:rPr>
                        <a:t>ResNet,MobileNetV2.</a:t>
                      </a:r>
                    </a:p>
                  </a:txBody>
                  <a:tcPr/>
                </a:tc>
                <a:tc>
                  <a:txBody>
                    <a:bodyPr/>
                    <a:lstStyle/>
                    <a:p>
                      <a:r>
                        <a:rPr lang="en-IN" dirty="0">
                          <a:latin typeface="Times New Roman" panose="02020603050405020304" pitchFamily="18" charset="0"/>
                          <a:cs typeface="Times New Roman" panose="02020603050405020304" pitchFamily="18" charset="0"/>
                        </a:rPr>
                        <a:t>Medical fundus image</a:t>
                      </a:r>
                    </a:p>
                  </a:txBody>
                  <a:tcPr/>
                </a:tc>
                <a:tc>
                  <a:txBody>
                    <a:bodyPr/>
                    <a:lstStyle/>
                    <a:p>
                      <a:r>
                        <a:rPr lang="en-IN" dirty="0">
                          <a:latin typeface="Times New Roman" panose="02020603050405020304" pitchFamily="18" charset="0"/>
                          <a:cs typeface="Times New Roman" panose="02020603050405020304" pitchFamily="18" charset="0"/>
                        </a:rPr>
                        <a:t>Accuracy-62.3%</a:t>
                      </a:r>
                    </a:p>
                  </a:txBody>
                  <a:tcPr/>
                </a:tc>
                <a:extLst>
                  <a:ext uri="{0D108BD9-81ED-4DB2-BD59-A6C34878D82A}">
                    <a16:rowId xmlns:a16="http://schemas.microsoft.com/office/drawing/2014/main" val="505478805"/>
                  </a:ext>
                </a:extLst>
              </a:tr>
              <a:tr h="225902">
                <a:tc>
                  <a:txBody>
                    <a:bodyPr/>
                    <a:lstStyle/>
                    <a:p>
                      <a:r>
                        <a:rPr lang="en-IN" dirty="0" err="1">
                          <a:latin typeface="Times New Roman" panose="02020603050405020304" pitchFamily="18" charset="0"/>
                          <a:cs typeface="Times New Roman" panose="02020603050405020304" pitchFamily="18" charset="0"/>
                        </a:rPr>
                        <a:t>Peksi</a:t>
                      </a:r>
                      <a:r>
                        <a:rPr lang="en-IN" dirty="0">
                          <a:latin typeface="Times New Roman" panose="02020603050405020304" pitchFamily="18" charset="0"/>
                          <a:cs typeface="Times New Roman" panose="02020603050405020304" pitchFamily="18" charset="0"/>
                        </a:rPr>
                        <a:t> et.al</a:t>
                      </a:r>
                    </a:p>
                    <a:p>
                      <a:r>
                        <a:rPr lang="en-IN" dirty="0">
                          <a:latin typeface="Times New Roman" panose="02020603050405020304" pitchFamily="18" charset="0"/>
                          <a:cs typeface="Times New Roman" panose="02020603050405020304" pitchFamily="18" charset="0"/>
                        </a:rPr>
                        <a:t>(2021)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NAIVE BAYES</a:t>
                      </a:r>
                    </a:p>
                    <a:p>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Nails and Palms</a:t>
                      </a:r>
                    </a:p>
                  </a:txBody>
                  <a:tcPr/>
                </a:tc>
                <a:tc>
                  <a:txBody>
                    <a:bodyPr/>
                    <a:lstStyle/>
                    <a:p>
                      <a:r>
                        <a:rPr lang="en-IN" dirty="0">
                          <a:latin typeface="Times New Roman" panose="02020603050405020304" pitchFamily="18" charset="0"/>
                          <a:cs typeface="Times New Roman" panose="02020603050405020304" pitchFamily="18" charset="0"/>
                        </a:rPr>
                        <a:t>Accuracy-90%</a:t>
                      </a:r>
                    </a:p>
                  </a:txBody>
                  <a:tcPr/>
                </a:tc>
                <a:extLst>
                  <a:ext uri="{0D108BD9-81ED-4DB2-BD59-A6C34878D82A}">
                    <a16:rowId xmlns:a16="http://schemas.microsoft.com/office/drawing/2014/main" val="314672282"/>
                  </a:ext>
                </a:extLst>
              </a:tr>
              <a:tr h="225902">
                <a:tc>
                  <a:txBody>
                    <a:bodyPr/>
                    <a:lstStyle/>
                    <a:p>
                      <a:r>
                        <a:rPr lang="en-IN" dirty="0" err="1">
                          <a:latin typeface="Times New Roman" panose="02020603050405020304" pitchFamily="18" charset="0"/>
                          <a:cs typeface="Times New Roman" panose="02020603050405020304" pitchFamily="18" charset="0"/>
                        </a:rPr>
                        <a:t>Dimauro</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(2022)</a:t>
                      </a:r>
                    </a:p>
                  </a:txBody>
                  <a:tcPr/>
                </a:tc>
                <a:tc>
                  <a:txBody>
                    <a:bodyPr/>
                    <a:lstStyle/>
                    <a:p>
                      <a:r>
                        <a:rPr lang="en-IN" dirty="0">
                          <a:latin typeface="Times New Roman" panose="02020603050405020304" pitchFamily="18" charset="0"/>
                          <a:cs typeface="Times New Roman" panose="02020603050405020304" pitchFamily="18" charset="0"/>
                        </a:rPr>
                        <a:t>K-Means clustering</a:t>
                      </a:r>
                    </a:p>
                  </a:txBody>
                  <a:tcPr/>
                </a:tc>
                <a:tc>
                  <a:txBody>
                    <a:bodyPr/>
                    <a:lstStyle/>
                    <a:p>
                      <a:r>
                        <a:rPr lang="en-IN" dirty="0">
                          <a:latin typeface="Times New Roman" panose="02020603050405020304" pitchFamily="18" charset="0"/>
                          <a:cs typeface="Times New Roman" panose="02020603050405020304" pitchFamily="18" charset="0"/>
                        </a:rPr>
                        <a:t>Digital images of palms</a:t>
                      </a:r>
                    </a:p>
                  </a:txBody>
                  <a:tcPr/>
                </a:tc>
                <a:tc>
                  <a:txBody>
                    <a:bodyPr/>
                    <a:lstStyle/>
                    <a:p>
                      <a:r>
                        <a:rPr lang="en-IN" dirty="0">
                          <a:latin typeface="Times New Roman" panose="02020603050405020304" pitchFamily="18" charset="0"/>
                          <a:cs typeface="Times New Roman" panose="02020603050405020304" pitchFamily="18" charset="0"/>
                        </a:rPr>
                        <a:t>Accuracy-87%</a:t>
                      </a:r>
                    </a:p>
                  </a:txBody>
                  <a:tcPr/>
                </a:tc>
                <a:extLst>
                  <a:ext uri="{0D108BD9-81ED-4DB2-BD59-A6C34878D82A}">
                    <a16:rowId xmlns:a16="http://schemas.microsoft.com/office/drawing/2014/main" val="3712306387"/>
                  </a:ext>
                </a:extLst>
              </a:tr>
            </a:tbl>
          </a:graphicData>
        </a:graphic>
      </p:graphicFrame>
      <p:graphicFrame>
        <p:nvGraphicFramePr>
          <p:cNvPr id="4" name="Table 3">
            <a:extLst>
              <a:ext uri="{FF2B5EF4-FFF2-40B4-BE49-F238E27FC236}">
                <a16:creationId xmlns:a16="http://schemas.microsoft.com/office/drawing/2014/main" id="{65C7F124-2E5E-821E-ED9E-DC673B78D889}"/>
              </a:ext>
            </a:extLst>
          </p:cNvPr>
          <p:cNvGraphicFramePr>
            <a:graphicFrameLocks noGrp="1"/>
          </p:cNvGraphicFramePr>
          <p:nvPr>
            <p:extLst>
              <p:ext uri="{D42A27DB-BD31-4B8C-83A1-F6EECF244321}">
                <p14:modId xmlns:p14="http://schemas.microsoft.com/office/powerpoint/2010/main" val="107655957"/>
              </p:ext>
            </p:extLst>
          </p:nvPr>
        </p:nvGraphicFramePr>
        <p:xfrm>
          <a:off x="8121720" y="4481790"/>
          <a:ext cx="3606230" cy="2279533"/>
        </p:xfrm>
        <a:graphic>
          <a:graphicData uri="http://schemas.openxmlformats.org/drawingml/2006/table">
            <a:tbl>
              <a:tblPr firstRow="1" bandRow="1">
                <a:tableStyleId>{5C22544A-7EE6-4342-B048-85BDC9FD1C3A}</a:tableStyleId>
              </a:tblPr>
              <a:tblGrid>
                <a:gridCol w="1803115">
                  <a:extLst>
                    <a:ext uri="{9D8B030D-6E8A-4147-A177-3AD203B41FA5}">
                      <a16:colId xmlns:a16="http://schemas.microsoft.com/office/drawing/2014/main" val="2477165082"/>
                    </a:ext>
                  </a:extLst>
                </a:gridCol>
                <a:gridCol w="1803115">
                  <a:extLst>
                    <a:ext uri="{9D8B030D-6E8A-4147-A177-3AD203B41FA5}">
                      <a16:colId xmlns:a16="http://schemas.microsoft.com/office/drawing/2014/main" val="1463143343"/>
                    </a:ext>
                  </a:extLst>
                </a:gridCol>
              </a:tblGrid>
              <a:tr h="596745">
                <a:tc>
                  <a:txBody>
                    <a:bodyPr/>
                    <a:lstStyle/>
                    <a:p>
                      <a:r>
                        <a:rPr lang="en-IN" dirty="0">
                          <a:latin typeface="Times New Roman" panose="02020603050405020304" pitchFamily="18" charset="0"/>
                          <a:cs typeface="Times New Roman" panose="02020603050405020304" pitchFamily="18" charset="0"/>
                        </a:rPr>
                        <a:t>METRICES</a:t>
                      </a:r>
                    </a:p>
                  </a:txBody>
                  <a:tcPr/>
                </a:tc>
                <a:tc>
                  <a:txBody>
                    <a:bodyPr/>
                    <a:lstStyle/>
                    <a:p>
                      <a:r>
                        <a:rPr lang="en-IN" dirty="0">
                          <a:latin typeface="Times New Roman" panose="02020603050405020304" pitchFamily="18" charset="0"/>
                          <a:cs typeface="Times New Roman" panose="02020603050405020304" pitchFamily="18" charset="0"/>
                        </a:rPr>
                        <a:t>SCORE</a:t>
                      </a:r>
                    </a:p>
                  </a:txBody>
                  <a:tcPr/>
                </a:tc>
                <a:extLst>
                  <a:ext uri="{0D108BD9-81ED-4DB2-BD59-A6C34878D82A}">
                    <a16:rowId xmlns:a16="http://schemas.microsoft.com/office/drawing/2014/main" val="636513550"/>
                  </a:ext>
                </a:extLst>
              </a:tr>
              <a:tr h="489298">
                <a:tc>
                  <a:txBody>
                    <a:bodyPr/>
                    <a:lstStyle/>
                    <a:p>
                      <a:r>
                        <a:rPr lang="en-IN" dirty="0">
                          <a:latin typeface="Times New Roman" panose="02020603050405020304" pitchFamily="18" charset="0"/>
                          <a:cs typeface="Times New Roman" panose="02020603050405020304" pitchFamily="18" charset="0"/>
                        </a:rPr>
                        <a:t>F1-SCORE</a:t>
                      </a:r>
                    </a:p>
                  </a:txBody>
                  <a:tcPr/>
                </a:tc>
                <a:tc>
                  <a:txBody>
                    <a:bodyPr/>
                    <a:lstStyle/>
                    <a:p>
                      <a:r>
                        <a:rPr lang="en-IN" dirty="0">
                          <a:latin typeface="Times New Roman" panose="02020603050405020304" pitchFamily="18" charset="0"/>
                          <a:cs typeface="Times New Roman" panose="02020603050405020304" pitchFamily="18" charset="0"/>
                        </a:rPr>
                        <a:t>75.6</a:t>
                      </a:r>
                    </a:p>
                  </a:txBody>
                  <a:tcPr/>
                </a:tc>
                <a:extLst>
                  <a:ext uri="{0D108BD9-81ED-4DB2-BD59-A6C34878D82A}">
                    <a16:rowId xmlns:a16="http://schemas.microsoft.com/office/drawing/2014/main" val="1933712597"/>
                  </a:ext>
                </a:extLst>
              </a:tr>
              <a:tr h="596745">
                <a:tc>
                  <a:txBody>
                    <a:bodyPr/>
                    <a:lstStyle/>
                    <a:p>
                      <a:r>
                        <a:rPr lang="en-IN" dirty="0">
                          <a:latin typeface="Times New Roman" panose="02020603050405020304" pitchFamily="18" charset="0"/>
                          <a:cs typeface="Times New Roman" panose="02020603050405020304" pitchFamily="18" charset="0"/>
                        </a:rPr>
                        <a:t>RECALL</a:t>
                      </a:r>
                    </a:p>
                  </a:txBody>
                  <a:tcPr/>
                </a:tc>
                <a:tc>
                  <a:txBody>
                    <a:bodyPr/>
                    <a:lstStyle/>
                    <a:p>
                      <a:r>
                        <a:rPr lang="en-IN" dirty="0">
                          <a:latin typeface="Times New Roman" panose="02020603050405020304" pitchFamily="18" charset="0"/>
                          <a:cs typeface="Times New Roman" panose="02020603050405020304" pitchFamily="18" charset="0"/>
                        </a:rPr>
                        <a:t>75.9</a:t>
                      </a:r>
                    </a:p>
                  </a:txBody>
                  <a:tcPr/>
                </a:tc>
                <a:extLst>
                  <a:ext uri="{0D108BD9-81ED-4DB2-BD59-A6C34878D82A}">
                    <a16:rowId xmlns:a16="http://schemas.microsoft.com/office/drawing/2014/main" val="4265942744"/>
                  </a:ext>
                </a:extLst>
              </a:tr>
              <a:tr h="596745">
                <a:tc>
                  <a:txBody>
                    <a:bodyPr/>
                    <a:lstStyle/>
                    <a:p>
                      <a:r>
                        <a:rPr lang="en-IN" dirty="0">
                          <a:latin typeface="Times New Roman" panose="02020603050405020304" pitchFamily="18" charset="0"/>
                          <a:cs typeface="Times New Roman" panose="02020603050405020304" pitchFamily="18" charset="0"/>
                        </a:rPr>
                        <a:t>PRECISION</a:t>
                      </a:r>
                    </a:p>
                  </a:txBody>
                  <a:tcPr/>
                </a:tc>
                <a:tc>
                  <a:txBody>
                    <a:bodyPr/>
                    <a:lstStyle/>
                    <a:p>
                      <a:r>
                        <a:rPr lang="en-IN" dirty="0">
                          <a:latin typeface="Times New Roman" panose="02020603050405020304" pitchFamily="18" charset="0"/>
                          <a:cs typeface="Times New Roman" panose="02020603050405020304" pitchFamily="18" charset="0"/>
                        </a:rPr>
                        <a:t>75.4</a:t>
                      </a:r>
                    </a:p>
                  </a:txBody>
                  <a:tcPr/>
                </a:tc>
                <a:extLst>
                  <a:ext uri="{0D108BD9-81ED-4DB2-BD59-A6C34878D82A}">
                    <a16:rowId xmlns:a16="http://schemas.microsoft.com/office/drawing/2014/main" val="1118455481"/>
                  </a:ext>
                </a:extLst>
              </a:tr>
            </a:tbl>
          </a:graphicData>
        </a:graphic>
      </p:graphicFrame>
      <p:graphicFrame>
        <p:nvGraphicFramePr>
          <p:cNvPr id="5" name="Table 4">
            <a:extLst>
              <a:ext uri="{FF2B5EF4-FFF2-40B4-BE49-F238E27FC236}">
                <a16:creationId xmlns:a16="http://schemas.microsoft.com/office/drawing/2014/main" id="{34F15A77-D4C5-5B52-473B-3B5D542478A9}"/>
              </a:ext>
            </a:extLst>
          </p:cNvPr>
          <p:cNvGraphicFramePr>
            <a:graphicFrameLocks noGrp="1"/>
          </p:cNvGraphicFramePr>
          <p:nvPr>
            <p:extLst>
              <p:ext uri="{D42A27DB-BD31-4B8C-83A1-F6EECF244321}">
                <p14:modId xmlns:p14="http://schemas.microsoft.com/office/powerpoint/2010/main" val="489876271"/>
              </p:ext>
            </p:extLst>
          </p:nvPr>
        </p:nvGraphicFramePr>
        <p:xfrm>
          <a:off x="1243172" y="4851122"/>
          <a:ext cx="6607423" cy="1280160"/>
        </p:xfrm>
        <a:graphic>
          <a:graphicData uri="http://schemas.openxmlformats.org/drawingml/2006/table">
            <a:tbl>
              <a:tblPr firstRow="1" bandRow="1">
                <a:tableStyleId>{5C22544A-7EE6-4342-B048-85BDC9FD1C3A}</a:tableStyleId>
              </a:tblPr>
              <a:tblGrid>
                <a:gridCol w="2250040">
                  <a:extLst>
                    <a:ext uri="{9D8B030D-6E8A-4147-A177-3AD203B41FA5}">
                      <a16:colId xmlns:a16="http://schemas.microsoft.com/office/drawing/2014/main" val="3366768524"/>
                    </a:ext>
                  </a:extLst>
                </a:gridCol>
                <a:gridCol w="2034283">
                  <a:extLst>
                    <a:ext uri="{9D8B030D-6E8A-4147-A177-3AD203B41FA5}">
                      <a16:colId xmlns:a16="http://schemas.microsoft.com/office/drawing/2014/main" val="1764429902"/>
                    </a:ext>
                  </a:extLst>
                </a:gridCol>
                <a:gridCol w="2323100">
                  <a:extLst>
                    <a:ext uri="{9D8B030D-6E8A-4147-A177-3AD203B41FA5}">
                      <a16:colId xmlns:a16="http://schemas.microsoft.com/office/drawing/2014/main" val="1123642523"/>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METHODOLOGY</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DATASET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RESULTS</a:t>
                      </a:r>
                    </a:p>
                  </a:txBody>
                  <a:tcPr/>
                </a:tc>
                <a:extLst>
                  <a:ext uri="{0D108BD9-81ED-4DB2-BD59-A6C34878D82A}">
                    <a16:rowId xmlns:a16="http://schemas.microsoft.com/office/drawing/2014/main" val="3577085775"/>
                  </a:ext>
                </a:extLst>
              </a:tr>
              <a:tr h="370840">
                <a:tc>
                  <a:txBody>
                    <a:bodyPr/>
                    <a:lstStyle/>
                    <a:p>
                      <a:r>
                        <a:rPr lang="en-IN" dirty="0">
                          <a:latin typeface="Times New Roman" panose="02020603050405020304" pitchFamily="18" charset="0"/>
                          <a:cs typeface="Times New Roman" panose="02020603050405020304" pitchFamily="18" charset="0"/>
                        </a:rPr>
                        <a:t>Convolutional Nural Network</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Eye-Conjunctiva Images</a:t>
                      </a:r>
                    </a:p>
                  </a:txBody>
                  <a:tcPr/>
                </a:tc>
                <a:tc>
                  <a:txBody>
                    <a:bodyPr/>
                    <a:lstStyle/>
                    <a:p>
                      <a:r>
                        <a:rPr lang="en-IN" dirty="0">
                          <a:latin typeface="Times New Roman" panose="02020603050405020304" pitchFamily="18" charset="0"/>
                          <a:cs typeface="Times New Roman" panose="02020603050405020304" pitchFamily="18" charset="0"/>
                        </a:rPr>
                        <a:t>Accuracy-83.2</a:t>
                      </a:r>
                    </a:p>
                  </a:txBody>
                  <a:tcPr/>
                </a:tc>
                <a:extLst>
                  <a:ext uri="{0D108BD9-81ED-4DB2-BD59-A6C34878D82A}">
                    <a16:rowId xmlns:a16="http://schemas.microsoft.com/office/drawing/2014/main" val="4221386207"/>
                  </a:ext>
                </a:extLst>
              </a:tr>
            </a:tbl>
          </a:graphicData>
        </a:graphic>
      </p:graphicFrame>
      <p:sp>
        <p:nvSpPr>
          <p:cNvPr id="8" name="TextBox 7">
            <a:extLst>
              <a:ext uri="{FF2B5EF4-FFF2-40B4-BE49-F238E27FC236}">
                <a16:creationId xmlns:a16="http://schemas.microsoft.com/office/drawing/2014/main" id="{2C7A82EC-1637-5EE7-6BCA-E3326EB1F56E}"/>
              </a:ext>
            </a:extLst>
          </p:cNvPr>
          <p:cNvSpPr txBox="1"/>
          <p:nvPr/>
        </p:nvSpPr>
        <p:spPr>
          <a:xfrm>
            <a:off x="1528280" y="975471"/>
            <a:ext cx="6097712"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EXISTING WORK:</a:t>
            </a:r>
            <a:endParaRPr lang="en-IN" sz="2000" dirty="0"/>
          </a:p>
        </p:txBody>
      </p:sp>
      <p:sp>
        <p:nvSpPr>
          <p:cNvPr id="12" name="TextBox 11">
            <a:extLst>
              <a:ext uri="{FF2B5EF4-FFF2-40B4-BE49-F238E27FC236}">
                <a16:creationId xmlns:a16="http://schemas.microsoft.com/office/drawing/2014/main" id="{B1C66ACB-E9FF-D675-BAD8-832D64232EAD}"/>
              </a:ext>
            </a:extLst>
          </p:cNvPr>
          <p:cNvSpPr txBox="1"/>
          <p:nvPr/>
        </p:nvSpPr>
        <p:spPr>
          <a:xfrm>
            <a:off x="1130156" y="4481790"/>
            <a:ext cx="6097712"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OUR WORK:-</a:t>
            </a:r>
            <a:endParaRPr lang="en-IN" dirty="0"/>
          </a:p>
        </p:txBody>
      </p:sp>
      <p:sp>
        <p:nvSpPr>
          <p:cNvPr id="14" name="Date Placeholder 13">
            <a:extLst>
              <a:ext uri="{FF2B5EF4-FFF2-40B4-BE49-F238E27FC236}">
                <a16:creationId xmlns:a16="http://schemas.microsoft.com/office/drawing/2014/main" id="{ACD29EC9-A5C8-254C-8D48-215A349095C1}"/>
              </a:ext>
            </a:extLst>
          </p:cNvPr>
          <p:cNvSpPr>
            <a:spLocks noGrp="1"/>
          </p:cNvSpPr>
          <p:nvPr>
            <p:ph type="dt" sz="half" idx="10"/>
          </p:nvPr>
        </p:nvSpPr>
        <p:spPr/>
        <p:txBody>
          <a:bodyPr/>
          <a:lstStyle/>
          <a:p>
            <a:r>
              <a:rPr lang="en-US"/>
              <a:t>06-11-2025</a:t>
            </a:r>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MSUMA\Pictures\Accurac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0052" y="1286044"/>
            <a:ext cx="10300996" cy="4947846"/>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2B1CE0A6-8DAC-AB24-72A5-0D7D6B2E6017}"/>
              </a:ext>
            </a:extLst>
          </p:cNvPr>
          <p:cNvSpPr>
            <a:spLocks noGrp="1"/>
          </p:cNvSpPr>
          <p:nvPr>
            <p:ph type="title"/>
          </p:nvPr>
        </p:nvSpPr>
        <p:spPr>
          <a:xfrm>
            <a:off x="1551398" y="624110"/>
            <a:ext cx="9953213" cy="1280890"/>
          </a:xfrm>
        </p:spPr>
        <p:txBody>
          <a:bodyPr>
            <a:normAutofit/>
          </a:bodyPr>
          <a:lstStyle/>
          <a:p>
            <a:r>
              <a:rPr lang="en-IN" sz="2400" b="1" dirty="0">
                <a:latin typeface="Times New Roman" panose="02020603050405020304" pitchFamily="18" charset="0"/>
                <a:cs typeface="Times New Roman" panose="02020603050405020304" pitchFamily="18" charset="0"/>
              </a:rPr>
              <a:t>MODEL GRAPH:-</a:t>
            </a:r>
          </a:p>
        </p:txBody>
      </p:sp>
      <p:sp>
        <p:nvSpPr>
          <p:cNvPr id="5" name="Date Placeholder 4">
            <a:extLst>
              <a:ext uri="{FF2B5EF4-FFF2-40B4-BE49-F238E27FC236}">
                <a16:creationId xmlns:a16="http://schemas.microsoft.com/office/drawing/2014/main" id="{FE49681E-7C3B-42CE-2F0C-DCFE8092E80F}"/>
              </a:ext>
            </a:extLst>
          </p:cNvPr>
          <p:cNvSpPr>
            <a:spLocks noGrp="1"/>
          </p:cNvSpPr>
          <p:nvPr>
            <p:ph type="dt" sz="half" idx="10"/>
          </p:nvPr>
        </p:nvSpPr>
        <p:spPr/>
        <p:txBody>
          <a:bodyPr/>
          <a:lstStyle/>
          <a:p>
            <a:r>
              <a:rPr lang="en-US"/>
              <a:t>06-11-2025</a:t>
            </a:r>
            <a:endParaRPr lang="en-IN"/>
          </a:p>
        </p:txBody>
      </p:sp>
    </p:spTree>
    <p:extLst>
      <p:ext uri="{BB962C8B-B14F-4D97-AF65-F5344CB8AC3E}">
        <p14:creationId xmlns:p14="http://schemas.microsoft.com/office/powerpoint/2010/main" val="719011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0767" y="624110"/>
            <a:ext cx="9563845" cy="1280890"/>
          </a:xfrm>
        </p:spPr>
        <p:txBody>
          <a:bodyPr>
            <a:normAutofit/>
          </a:bodyPr>
          <a:lstStyle/>
          <a:p>
            <a:r>
              <a:rPr lang="en-IN" sz="2400" b="1" dirty="0">
                <a:latin typeface="Times New Roman" pitchFamily="18" charset="0"/>
                <a:cs typeface="Times New Roman" pitchFamily="18" charset="0"/>
              </a:rPr>
              <a:t>Conclusion:</a:t>
            </a:r>
          </a:p>
        </p:txBody>
      </p:sp>
      <p:sp>
        <p:nvSpPr>
          <p:cNvPr id="3" name="Content Placeholder 2"/>
          <p:cNvSpPr>
            <a:spLocks noGrp="1"/>
          </p:cNvSpPr>
          <p:nvPr>
            <p:ph idx="1"/>
          </p:nvPr>
        </p:nvSpPr>
        <p:spPr>
          <a:xfrm>
            <a:off x="1362269" y="1530220"/>
            <a:ext cx="10142343" cy="4381002"/>
          </a:xfrm>
        </p:spPr>
        <p:txBody>
          <a:bodyPr/>
          <a:lstStyle/>
          <a:p>
            <a:pPr marL="0" indent="0" algn="just">
              <a:buNone/>
            </a:pPr>
            <a:r>
              <a:rPr lang="en-US" sz="2000" dirty="0">
                <a:solidFill>
                  <a:srgbClr val="3B4E4E"/>
                </a:solidFill>
                <a:latin typeface="Times New Roman" pitchFamily="18" charset="0"/>
                <a:ea typeface="Overpass Light" pitchFamily="34" charset="-122"/>
                <a:cs typeface="Times New Roman" pitchFamily="18" charset="0"/>
              </a:rPr>
              <a:t>This study introduces a CNN-based, non-invasive method for exploiting eye-conjunctiva pictures to diagnose anemia in infants early. The method's combination of online integration and deep learning yields high accuracy and usability. The model provides a scalable and moral substitute for blood-based diagnostics, and its robust performance confirms its promise for real-time community healthcare screening.</a:t>
            </a:r>
          </a:p>
          <a:p>
            <a:pPr marL="0" indent="0" algn="just">
              <a:buNone/>
            </a:pPr>
            <a:r>
              <a:rPr lang="en-US" sz="2000" dirty="0">
                <a:solidFill>
                  <a:srgbClr val="3B4E4E"/>
                </a:solidFill>
                <a:latin typeface="Times New Roman" pitchFamily="18" charset="0"/>
                <a:ea typeface="Overpass Light" pitchFamily="34" charset="-122"/>
                <a:cs typeface="Times New Roman" pitchFamily="18" charset="0"/>
              </a:rPr>
              <a:t>Future extensions include Explainable AI (XAI) for transparency and multi-modal integration combining image and physiological data for improved diagnostic reliability.</a:t>
            </a:r>
            <a:endParaRPr lang="en-US" sz="2000" dirty="0">
              <a:latin typeface="Times New Roman" pitchFamily="18" charset="0"/>
              <a:cs typeface="Times New Roman" pitchFamily="18" charset="0"/>
            </a:endParaRPr>
          </a:p>
          <a:p>
            <a:pPr marL="0" indent="0" algn="just">
              <a:buNone/>
            </a:pPr>
            <a:endParaRPr lang="en-US" sz="2000" dirty="0">
              <a:latin typeface="Times New Roman" pitchFamily="18" charset="0"/>
              <a:cs typeface="Times New Roman" pitchFamily="18" charset="0"/>
            </a:endParaRPr>
          </a:p>
          <a:p>
            <a:pPr marL="0" indent="0">
              <a:buNone/>
            </a:pPr>
            <a:endParaRPr lang="en-IN" dirty="0"/>
          </a:p>
        </p:txBody>
      </p:sp>
      <p:sp>
        <p:nvSpPr>
          <p:cNvPr id="4" name="Date Placeholder 3">
            <a:extLst>
              <a:ext uri="{FF2B5EF4-FFF2-40B4-BE49-F238E27FC236}">
                <a16:creationId xmlns:a16="http://schemas.microsoft.com/office/drawing/2014/main" id="{A4701C31-6A99-15A0-E564-159B7B0AA40B}"/>
              </a:ext>
            </a:extLst>
          </p:cNvPr>
          <p:cNvSpPr>
            <a:spLocks noGrp="1"/>
          </p:cNvSpPr>
          <p:nvPr>
            <p:ph type="dt" sz="half" idx="10"/>
          </p:nvPr>
        </p:nvSpPr>
        <p:spPr/>
        <p:txBody>
          <a:bodyPr/>
          <a:lstStyle/>
          <a:p>
            <a:r>
              <a:rPr lang="en-US"/>
              <a:t>06-11-2025</a:t>
            </a:r>
            <a:endParaRPr lang="en-IN"/>
          </a:p>
        </p:txBody>
      </p:sp>
    </p:spTree>
    <p:extLst>
      <p:ext uri="{BB962C8B-B14F-4D97-AF65-F5344CB8AC3E}">
        <p14:creationId xmlns:p14="http://schemas.microsoft.com/office/powerpoint/2010/main" val="949793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15770" y="455930"/>
            <a:ext cx="6094730" cy="497205"/>
          </a:xfrm>
          <a:prstGeom prst="rect">
            <a:avLst/>
          </a:prstGeom>
          <a:noFill/>
        </p:spPr>
        <p:txBody>
          <a:bodyPr wrap="square">
            <a:noAutofit/>
          </a:bodyPr>
          <a:lstStyle/>
          <a:p>
            <a:r>
              <a:rPr lang="en-IN" sz="2000" b="1" dirty="0">
                <a:latin typeface="Times New Roman" panose="02020603050405020304" pitchFamily="18" charset="0"/>
                <a:cs typeface="Times New Roman" panose="02020603050405020304" pitchFamily="18" charset="0"/>
              </a:rPr>
              <a:t>REFERENCES:</a:t>
            </a:r>
          </a:p>
        </p:txBody>
      </p:sp>
      <p:sp>
        <p:nvSpPr>
          <p:cNvPr id="5" name="TextBox 4"/>
          <p:cNvSpPr txBox="1"/>
          <p:nvPr/>
        </p:nvSpPr>
        <p:spPr>
          <a:xfrm>
            <a:off x="1525905" y="854710"/>
            <a:ext cx="10027285" cy="5824220"/>
          </a:xfrm>
          <a:prstGeom prst="rect">
            <a:avLst/>
          </a:prstGeom>
          <a:noFill/>
        </p:spPr>
        <p:txBody>
          <a:bodyPr wrap="square">
            <a:noAutofit/>
          </a:bodyPr>
          <a:lstStyle/>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[1]Justice Williams Asare, William Leslie Brown-Acquaye ,et.al </a:t>
            </a:r>
            <a:r>
              <a:rPr lang="en-US" altLang="en-US" dirty="0">
                <a:latin typeface="Times New Roman" panose="02020603050405020304" pitchFamily="18" charset="0"/>
                <a:cs typeface="Times New Roman" panose="02020603050405020304" pitchFamily="18" charset="0"/>
                <a:sym typeface="+mn-ea"/>
              </a:rPr>
              <a:t>"Application of machine learning </a:t>
            </a:r>
            <a:r>
              <a:rPr lang="en-IN" altLang="en-US"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approach for</a:t>
            </a:r>
            <a:r>
              <a:rPr lang="en-IN" altLang="en-US"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iron deficiency anemia using conjunctiva images"</a:t>
            </a:r>
            <a:r>
              <a:rPr lang="en-IN" altLang="en-US" dirty="0">
                <a:latin typeface="Times New Roman" panose="02020603050405020304" pitchFamily="18" charset="0"/>
                <a:cs typeface="Times New Roman" panose="02020603050405020304" pitchFamily="18" charset="0"/>
                <a:sym typeface="+mn-ea"/>
              </a:rPr>
              <a:t>,Informatics in Medicine Unlocked , Elsevier, 19 January 2024.</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[2] Kasthuri.E, S.Subbulakshmi , Rajasree Sreedhan , “ Insightful Clinical Assistance for Anemia Prediction with Data Analysis and Explainable AI”, Procedia ScienceDirect , Elsevier , 2024.</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[3] Justice Williams Asare, Peter Appiahene, et.al,</a:t>
            </a:r>
            <a:r>
              <a:rPr lang="en-US" altLang="en-US" dirty="0">
                <a:latin typeface="Times New Roman" panose="02020603050405020304" pitchFamily="18" charset="0"/>
                <a:cs typeface="Times New Roman" panose="02020603050405020304" pitchFamily="18" charset="0"/>
                <a:sym typeface="+mn-ea"/>
              </a:rPr>
              <a:t>"</a:t>
            </a:r>
            <a:r>
              <a:rPr lang="en-IN" altLang="en-US" dirty="0">
                <a:latin typeface="Times New Roman" panose="02020603050405020304" pitchFamily="18" charset="0"/>
                <a:cs typeface="Times New Roman" panose="02020603050405020304" pitchFamily="18" charset="0"/>
                <a:sym typeface="+mn-ea"/>
              </a:rPr>
              <a:t>Detection of anemia using medical images: A comparative study of machine learning learing algorithm-A systematic literature review</a:t>
            </a:r>
            <a:r>
              <a:rPr lang="en-US" altLang="en-US" dirty="0">
                <a:latin typeface="Times New Roman" panose="02020603050405020304" pitchFamily="18" charset="0"/>
                <a:cs typeface="Times New Roman" panose="02020603050405020304" pitchFamily="18" charset="0"/>
                <a:sym typeface="+mn-ea"/>
              </a:rPr>
              <a:t>"</a:t>
            </a:r>
            <a:r>
              <a:rPr lang="en-IN" altLang="en-US" dirty="0">
                <a:latin typeface="Times New Roman" panose="02020603050405020304" pitchFamily="18" charset="0"/>
                <a:cs typeface="Times New Roman" panose="02020603050405020304" pitchFamily="18" charset="0"/>
                <a:sym typeface="+mn-ea"/>
              </a:rPr>
              <a:t>, Informatics in Medicine Unlocked , Elsevier, 26 May 2023.</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[4] Sana Maidoumi, Charif Radouan Ouaziz, et.al, </a:t>
            </a:r>
            <a:r>
              <a:rPr lang="en-US" altLang="en-US" dirty="0">
                <a:latin typeface="Times New Roman" panose="02020603050405020304" pitchFamily="18" charset="0"/>
                <a:cs typeface="Times New Roman" panose="02020603050405020304" pitchFamily="18" charset="0"/>
                <a:sym typeface="+mn-ea"/>
              </a:rPr>
              <a:t>"Iron deficiency and cognitive impairment in children with low blood lead levels"</a:t>
            </a:r>
            <a:r>
              <a:rPr lang="en-IN" altLang="en-US" dirty="0">
                <a:latin typeface="Times New Roman" panose="02020603050405020304" pitchFamily="18" charset="0"/>
                <a:cs typeface="Times New Roman" panose="02020603050405020304" pitchFamily="18" charset="0"/>
                <a:sym typeface="+mn-ea"/>
              </a:rPr>
              <a:t>, Toxicology Reports , Elsevier, 23 August 2022.</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[5] Tuba Karagul Yildiz, Nilufer Yurtay, Birgul Onec,</a:t>
            </a:r>
            <a:r>
              <a:rPr lang="en-US" altLang="en-US" dirty="0">
                <a:latin typeface="Times New Roman" panose="02020603050405020304" pitchFamily="18" charset="0"/>
                <a:cs typeface="Times New Roman" panose="02020603050405020304" pitchFamily="18" charset="0"/>
                <a:sym typeface="+mn-ea"/>
              </a:rPr>
              <a:t>"Classifying anemia types using artificial learning methods"</a:t>
            </a:r>
            <a:r>
              <a:rPr lang="en-IN" altLang="en-US" dirty="0">
                <a:latin typeface="Times New Roman" panose="02020603050405020304" pitchFamily="18" charset="0"/>
                <a:cs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 </a:t>
            </a:r>
            <a:r>
              <a:rPr lang="en-IN" altLang="en-US" dirty="0">
                <a:latin typeface="Times New Roman" panose="02020603050405020304" pitchFamily="18" charset="0"/>
                <a:cs typeface="Times New Roman" panose="02020603050405020304" pitchFamily="18" charset="0"/>
                <a:sym typeface="+mn-ea"/>
              </a:rPr>
              <a:t>Engineering Science and Technology , an international journal, Elsevier, 7 January 2021.</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[6] Sarah J.Hart</a:t>
            </a:r>
            <a:r>
              <a:rPr lang="en-US" altLang="en-US" dirty="0">
                <a:latin typeface="Times New Roman" panose="02020603050405020304" pitchFamily="18" charset="0"/>
                <a:cs typeface="Times New Roman" panose="02020603050405020304" pitchFamily="18" charset="0"/>
                <a:sym typeface="+mn-ea"/>
              </a:rPr>
              <a:t>,</a:t>
            </a:r>
            <a:r>
              <a:rPr lang="en-IN" altLang="en-US" dirty="0">
                <a:latin typeface="Times New Roman" panose="02020603050405020304" pitchFamily="18" charset="0"/>
                <a:cs typeface="Times New Roman" panose="02020603050405020304" pitchFamily="18" charset="0"/>
                <a:sym typeface="+mn-ea"/>
              </a:rPr>
              <a:t> Kanecia Zimmerman, Corinne M. Linardic,</a:t>
            </a:r>
            <a:r>
              <a:rPr lang="en-US" altLang="en-US" dirty="0">
                <a:latin typeface="Times New Roman" panose="02020603050405020304" pitchFamily="18" charset="0"/>
                <a:cs typeface="Times New Roman" panose="02020603050405020304" pitchFamily="18" charset="0"/>
                <a:sym typeface="+mn-ea"/>
              </a:rPr>
              <a:t> et.al "Detection of iron deficiency in children with Down syndrome"</a:t>
            </a:r>
            <a:r>
              <a:rPr lang="en-IN" altLang="en-US" dirty="0">
                <a:latin typeface="Times New Roman" panose="02020603050405020304" pitchFamily="18" charset="0"/>
                <a:cs typeface="Times New Roman" panose="02020603050405020304" pitchFamily="18" charset="0"/>
                <a:sym typeface="+mn-ea"/>
              </a:rPr>
              <a:t>, Genetics in Medicine, Nature Publishing Group, February 2020.</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[7] Olufunke </a:t>
            </a:r>
            <a:r>
              <a:rPr lang="en-IN" altLang="en-US" dirty="0" err="1">
                <a:latin typeface="Times New Roman" panose="02020603050405020304" pitchFamily="18" charset="0"/>
                <a:cs typeface="Times New Roman" panose="02020603050405020304" pitchFamily="18" charset="0"/>
                <a:sym typeface="+mn-ea"/>
              </a:rPr>
              <a:t>Odunlade</a:t>
            </a:r>
            <a:r>
              <a:rPr lang="en-IN" altLang="en-US" dirty="0">
                <a:latin typeface="Times New Roman" panose="02020603050405020304" pitchFamily="18" charset="0"/>
                <a:cs typeface="Times New Roman" panose="02020603050405020304" pitchFamily="18" charset="0"/>
                <a:sym typeface="+mn-ea"/>
              </a:rPr>
              <a:t>, Olugbenga </a:t>
            </a:r>
            <a:r>
              <a:rPr lang="en-IN" altLang="en-US" dirty="0" err="1">
                <a:latin typeface="Times New Roman" panose="02020603050405020304" pitchFamily="18" charset="0"/>
                <a:cs typeface="Times New Roman" panose="02020603050405020304" pitchFamily="18" charset="0"/>
                <a:sym typeface="+mn-ea"/>
              </a:rPr>
              <a:t>Adeodu</a:t>
            </a:r>
            <a:r>
              <a:rPr lang="en-IN" altLang="en-US" dirty="0">
                <a:latin typeface="Times New Roman" panose="02020603050405020304" pitchFamily="18" charset="0"/>
                <a:cs typeface="Times New Roman" panose="02020603050405020304" pitchFamily="18" charset="0"/>
                <a:sym typeface="+mn-ea"/>
              </a:rPr>
              <a:t>, et.al </a:t>
            </a:r>
            <a:r>
              <a:rPr lang="en-US" altLang="en-US" dirty="0">
                <a:latin typeface="Times New Roman" panose="02020603050405020304" pitchFamily="18" charset="0"/>
                <a:cs typeface="Times New Roman" panose="02020603050405020304" pitchFamily="18" charset="0"/>
                <a:sym typeface="+mn-ea"/>
              </a:rPr>
              <a:t>"Iron</a:t>
            </a:r>
            <a:r>
              <a:rPr lang="en-IN" altLang="en-US"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deficiency, still a rarity in children with sickle cell anemia in </a:t>
            </a:r>
            <a:r>
              <a:rPr lang="en-IN" altLang="en-US" dirty="0">
                <a:latin typeface="Times New Roman" panose="02020603050405020304" pitchFamily="18" charset="0"/>
                <a:cs typeface="Times New Roman" panose="02020603050405020304" pitchFamily="18" charset="0"/>
                <a:sym typeface="+mn-ea"/>
              </a:rPr>
              <a:t>IL</a:t>
            </a:r>
            <a:r>
              <a:rPr lang="en-US" altLang="en-US" dirty="0">
                <a:latin typeface="Times New Roman" panose="02020603050405020304" pitchFamily="18" charset="0"/>
                <a:cs typeface="Times New Roman" panose="02020603050405020304" pitchFamily="18" charset="0"/>
                <a:sym typeface="+mn-ea"/>
              </a:rPr>
              <a:t>e-</a:t>
            </a:r>
            <a:r>
              <a:rPr lang="en-IN" altLang="en-US" dirty="0">
                <a:latin typeface="Times New Roman" panose="02020603050405020304" pitchFamily="18" charset="0"/>
                <a:cs typeface="Times New Roman" panose="02020603050405020304" pitchFamily="18" charset="0"/>
                <a:sym typeface="+mn-ea"/>
              </a:rPr>
              <a:t>I</a:t>
            </a:r>
            <a:r>
              <a:rPr lang="en-US" altLang="en-US" dirty="0">
                <a:latin typeface="Times New Roman" panose="02020603050405020304" pitchFamily="18" charset="0"/>
                <a:cs typeface="Times New Roman" panose="02020603050405020304" pitchFamily="18" charset="0"/>
                <a:sym typeface="+mn-ea"/>
              </a:rPr>
              <a:t>fe, Nigeria"</a:t>
            </a:r>
            <a:r>
              <a:rPr lang="en-IN" altLang="en-US" dirty="0">
                <a:latin typeface="Times New Roman" panose="02020603050405020304" pitchFamily="18" charset="0"/>
                <a:cs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 Hematology, Transfusion and Cell Therapy,  Elsevier , </a:t>
            </a:r>
            <a:r>
              <a:rPr lang="en-IN" altLang="en-US" dirty="0">
                <a:latin typeface="Times New Roman" panose="02020603050405020304" pitchFamily="18" charset="0"/>
                <a:cs typeface="Times New Roman" panose="02020603050405020304" pitchFamily="18" charset="0"/>
                <a:sym typeface="+mn-ea"/>
              </a:rPr>
              <a:t>28 March </a:t>
            </a:r>
            <a:r>
              <a:rPr lang="en-US" altLang="en-US" dirty="0">
                <a:latin typeface="Times New Roman" panose="02020603050405020304" pitchFamily="18" charset="0"/>
                <a:cs typeface="Times New Roman" panose="02020603050405020304" pitchFamily="18" charset="0"/>
                <a:sym typeface="+mn-ea"/>
              </a:rPr>
              <a:t>2019.</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[8]  Dr.V.Geetha, Dr.C.K.Gomathy, Kommuru Keerthi, et.al </a:t>
            </a:r>
            <a:r>
              <a:rPr lang="en-US" altLang="en-US" dirty="0">
                <a:latin typeface="Times New Roman" panose="02020603050405020304" pitchFamily="18" charset="0"/>
                <a:cs typeface="Times New Roman" panose="02020603050405020304" pitchFamily="18" charset="0"/>
                <a:sym typeface="+mn-ea"/>
              </a:rPr>
              <a:t>"</a:t>
            </a:r>
            <a:r>
              <a:rPr lang="en-IN" altLang="en-US" dirty="0">
                <a:latin typeface="Times New Roman" panose="02020603050405020304" pitchFamily="18" charset="0"/>
                <a:cs typeface="Times New Roman" panose="02020603050405020304" pitchFamily="18" charset="0"/>
                <a:sym typeface="+mn-ea"/>
              </a:rPr>
              <a:t>Diagnostic Approach To Anemia in Adults Using Machine Learing </a:t>
            </a:r>
            <a:r>
              <a:rPr lang="en-US" altLang="en-US" dirty="0">
                <a:latin typeface="Times New Roman" panose="02020603050405020304" pitchFamily="18" charset="0"/>
                <a:cs typeface="Times New Roman" panose="02020603050405020304" pitchFamily="18" charset="0"/>
                <a:sym typeface="+mn-ea"/>
              </a:rPr>
              <a:t>"</a:t>
            </a:r>
            <a:r>
              <a:rPr lang="en-IN" altLang="en-US" dirty="0">
                <a:latin typeface="Times New Roman" panose="02020603050405020304" pitchFamily="18" charset="0"/>
                <a:cs typeface="Times New Roman" panose="02020603050405020304" pitchFamily="18" charset="0"/>
                <a:sym typeface="+mn-ea"/>
              </a:rPr>
              <a:t>, Pharmaaceutical Negative Results , Original Article , 2022.</a:t>
            </a:r>
          </a:p>
          <a:p>
            <a:pPr indent="0" algn="just">
              <a:buFont typeface="+mj-lt"/>
              <a:buNone/>
            </a:pPr>
            <a:r>
              <a:rPr lang="en-IN" altLang="en-US" dirty="0">
                <a:latin typeface="Times New Roman" panose="02020603050405020304" pitchFamily="18" charset="0"/>
                <a:cs typeface="Times New Roman" panose="02020603050405020304" pitchFamily="18" charset="0"/>
                <a:sym typeface="+mn-ea"/>
              </a:rPr>
              <a:t>[9]  Fu-Ping Lai, Yao-Jong Yang, </a:t>
            </a:r>
            <a:r>
              <a:rPr lang="en-US" altLang="en-US" dirty="0">
                <a:latin typeface="Times New Roman" panose="02020603050405020304" pitchFamily="18" charset="0"/>
                <a:cs typeface="Times New Roman" panose="02020603050405020304" pitchFamily="18" charset="0"/>
                <a:sym typeface="+mn-ea"/>
              </a:rPr>
              <a:t>"</a:t>
            </a:r>
            <a:r>
              <a:rPr lang="en-IN" altLang="en-US" dirty="0">
                <a:latin typeface="Times New Roman" panose="02020603050405020304" pitchFamily="18" charset="0"/>
                <a:cs typeface="Times New Roman" panose="02020603050405020304" pitchFamily="18" charset="0"/>
                <a:sym typeface="+mn-ea"/>
              </a:rPr>
              <a:t>The prevalence &amp; characteristics of cow’s milk protein allergy in infants &amp; young children with iron deficiency aneamia</a:t>
            </a:r>
            <a:r>
              <a:rPr lang="en-US" altLang="en-US" dirty="0">
                <a:latin typeface="Times New Roman" panose="02020603050405020304" pitchFamily="18" charset="0"/>
                <a:cs typeface="Times New Roman" panose="02020603050405020304" pitchFamily="18" charset="0"/>
                <a:sym typeface="+mn-ea"/>
              </a:rPr>
              <a:t>"</a:t>
            </a:r>
            <a:r>
              <a:rPr lang="en-IN" altLang="en-US" dirty="0">
                <a:latin typeface="Times New Roman" panose="02020603050405020304" pitchFamily="18" charset="0"/>
                <a:cs typeface="Times New Roman" panose="02020603050405020304" pitchFamily="18" charset="0"/>
                <a:sym typeface="+mn-ea"/>
              </a:rPr>
              <a:t>, ScienceDirect, Elsevier Taiwan Pediatric Association, 30 June 2017.</a:t>
            </a:r>
            <a:endParaRPr lang="en-US" altLang="en-US" dirty="0">
              <a:latin typeface="Times New Roman" panose="02020603050405020304" pitchFamily="18" charset="0"/>
              <a:cs typeface="Times New Roman" panose="02020603050405020304" pitchFamily="18" charset="0"/>
              <a:sym typeface="+mn-ea"/>
            </a:endParaRPr>
          </a:p>
          <a:p>
            <a:pPr algn="just">
              <a:buNone/>
            </a:pPr>
            <a:endParaRPr lang="en-US" altLang="en-US" dirty="0">
              <a:latin typeface="Times New Roman" panose="02020603050405020304" pitchFamily="18" charset="0"/>
              <a:cs typeface="Times New Roman" panose="02020603050405020304" pitchFamily="18" charset="0"/>
            </a:endParaRPr>
          </a:p>
          <a:p>
            <a:pPr indent="0" algn="just">
              <a:buFont typeface="Wingdings" panose="05000000000000000000" pitchFamily="2" charset="2"/>
              <a:buNone/>
            </a:pPr>
            <a:endParaRPr lang="en-IN" sz="18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B73DEB12-58A4-C3F8-96A7-BB6FA4CAC81E}"/>
              </a:ext>
            </a:extLst>
          </p:cNvPr>
          <p:cNvSpPr>
            <a:spLocks noGrp="1"/>
          </p:cNvSpPr>
          <p:nvPr>
            <p:ph type="dt" sz="half" idx="10"/>
          </p:nvPr>
        </p:nvSpPr>
        <p:spPr/>
        <p:txBody>
          <a:bodyPr/>
          <a:lstStyle/>
          <a:p>
            <a:r>
              <a:rPr lang="en-US"/>
              <a:t>06-11-2025</a:t>
            </a:r>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B0F565-3AC2-3049-676E-D7EBA0BF5EBB}"/>
              </a:ext>
            </a:extLst>
          </p:cNvPr>
          <p:cNvSpPr txBox="1"/>
          <p:nvPr/>
        </p:nvSpPr>
        <p:spPr>
          <a:xfrm>
            <a:off x="976046" y="1407086"/>
            <a:ext cx="10808414" cy="4443396"/>
          </a:xfrm>
          <a:prstGeom prst="rect">
            <a:avLst/>
          </a:prstGeom>
          <a:noFill/>
        </p:spPr>
        <p:txBody>
          <a:bodyPr wrap="square">
            <a:spAutoFit/>
          </a:bodyPr>
          <a:lstStyle/>
          <a:p>
            <a:pPr algn="just">
              <a:lnSpc>
                <a:spcPct val="107000"/>
              </a:lnSpc>
              <a:spcAft>
                <a:spcPts val="800"/>
              </a:spcAft>
              <a:buNone/>
            </a:pPr>
            <a:r>
              <a:rPr lang="en-US" sz="1800" dirty="0">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[10] Byung Ok Kwak, </a:t>
            </a:r>
            <a:r>
              <a:rPr lang="en-US" sz="1800" dirty="0" err="1">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Kyungmin</a:t>
            </a:r>
            <a:r>
              <a:rPr lang="en-US" sz="1800" dirty="0">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 </a:t>
            </a:r>
            <a:r>
              <a:rPr lang="en-US" sz="1800" dirty="0" err="1">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Kim,et.al,"Relation</a:t>
            </a:r>
            <a:r>
              <a:rPr lang="en-US" sz="1800" dirty="0">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 ship between iron deficiency anemia and febrile seizures in children",Elsevier,14 September 2017</a:t>
            </a:r>
            <a:endParaRPr lang="en-IN" sz="1600" dirty="0">
              <a:effectLst/>
              <a:latin typeface="Calibri" panose="020F0502020204030204" pitchFamily="34" charset="0"/>
              <a:ea typeface="Calibri" panose="020F0502020204030204" pitchFamily="34" charset="0"/>
            </a:endParaRPr>
          </a:p>
          <a:p>
            <a:pPr algn="just">
              <a:lnSpc>
                <a:spcPct val="107000"/>
              </a:lnSpc>
              <a:spcAft>
                <a:spcPts val="800"/>
              </a:spcAft>
              <a:buNone/>
            </a:pPr>
            <a:r>
              <a:rPr lang="en-US" sz="1800" dirty="0">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[11] Peter </a:t>
            </a:r>
            <a:r>
              <a:rPr lang="en-US" sz="1800" dirty="0" err="1">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Appiahene</a:t>
            </a:r>
            <a:r>
              <a:rPr lang="en-US" sz="1800" dirty="0">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 Justice </a:t>
            </a:r>
            <a:r>
              <a:rPr lang="en-US" sz="1800" dirty="0" err="1">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williams</a:t>
            </a:r>
            <a:r>
              <a:rPr lang="en-US" sz="1800" dirty="0">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 Asare et.al , "Detection of iron deficiency anemia by medical images: a comparative study of machine learning algorithms " Open Access , 2023</a:t>
            </a:r>
            <a:endParaRPr lang="en-IN" sz="1600" dirty="0">
              <a:effectLst/>
              <a:latin typeface="Calibri" panose="020F0502020204030204" pitchFamily="34" charset="0"/>
              <a:ea typeface="Calibri" panose="020F0502020204030204" pitchFamily="34" charset="0"/>
            </a:endParaRPr>
          </a:p>
          <a:p>
            <a:pPr algn="just">
              <a:lnSpc>
                <a:spcPct val="107000"/>
              </a:lnSpc>
              <a:spcAft>
                <a:spcPts val="800"/>
              </a:spcAft>
              <a:buNone/>
            </a:pPr>
            <a:r>
              <a:rPr lang="en-US" sz="1800" dirty="0">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[12] Sabrina Challa, Junaid Maqbool , et.al " International conference on machine learning and data engineering semantic segmentation of palpebral conjunctiva using predefined deep neural architectures of Anemia detection" Procedia computer science, Elsevier, 2023</a:t>
            </a:r>
            <a:endParaRPr lang="en-IN" sz="1600" dirty="0">
              <a:effectLst/>
              <a:latin typeface="Calibri" panose="020F0502020204030204" pitchFamily="34" charset="0"/>
              <a:ea typeface="Calibri" panose="020F0502020204030204" pitchFamily="34" charset="0"/>
            </a:endParaRPr>
          </a:p>
          <a:p>
            <a:pPr algn="just">
              <a:lnSpc>
                <a:spcPct val="107000"/>
              </a:lnSpc>
              <a:spcAft>
                <a:spcPts val="800"/>
              </a:spcAft>
              <a:buNone/>
            </a:pPr>
            <a:r>
              <a:rPr lang="en-US" sz="1800" dirty="0">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[13] Amin, S. U., Islam, M. M., &amp; Uddin, M. Z. (2022). "A CNN-based system for non-invasive anemia detection in children using conjunctival pallor assessment." Artificial medicine,128,102311.</a:t>
            </a:r>
            <a:endParaRPr lang="en-IN" sz="1600" dirty="0">
              <a:effectLst/>
              <a:latin typeface="Calibri" panose="020F0502020204030204" pitchFamily="34" charset="0"/>
              <a:ea typeface="Calibri" panose="020F0502020204030204" pitchFamily="34" charset="0"/>
            </a:endParaRPr>
          </a:p>
          <a:p>
            <a:pPr algn="just">
              <a:lnSpc>
                <a:spcPct val="107000"/>
              </a:lnSpc>
              <a:spcAft>
                <a:spcPts val="800"/>
              </a:spcAft>
              <a:buNone/>
            </a:pPr>
            <a:r>
              <a:rPr lang="en-US" sz="1800" dirty="0">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[14] Peter </a:t>
            </a:r>
            <a:r>
              <a:rPr lang="en-US" sz="1800" dirty="0" err="1">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Appiahene.Kunal</a:t>
            </a:r>
            <a:r>
              <a:rPr lang="en-US" sz="1800" dirty="0">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 </a:t>
            </a:r>
            <a:r>
              <a:rPr lang="en-US" sz="1800" dirty="0" err="1">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chaturvedi,et.al"A</a:t>
            </a:r>
            <a:r>
              <a:rPr lang="en-US" sz="1800" dirty="0">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 conjunctival pallor dataset and benchmark for anemia detection in children", Medicine in novel technology and devices,27 May 2023</a:t>
            </a:r>
            <a:endParaRPr lang="en-IN" sz="1600" dirty="0">
              <a:effectLst/>
              <a:latin typeface="Calibri" panose="020F0502020204030204" pitchFamily="34" charset="0"/>
              <a:ea typeface="Calibri" panose="020F0502020204030204" pitchFamily="34" charset="0"/>
            </a:endParaRPr>
          </a:p>
          <a:p>
            <a:pPr algn="just">
              <a:lnSpc>
                <a:spcPct val="107000"/>
              </a:lnSpc>
              <a:spcAft>
                <a:spcPts val="800"/>
              </a:spcAft>
              <a:buNone/>
            </a:pPr>
            <a:r>
              <a:rPr lang="en-US" sz="1800" dirty="0">
                <a:solidFill>
                  <a:srgbClr val="111111"/>
                </a:solidFill>
                <a:effectLst/>
                <a:latin typeface="Times New Roman" panose="02020603050405020304" pitchFamily="18" charset="0"/>
                <a:ea typeface="Times New Roman" panose="02020603050405020304" pitchFamily="18" charset="0"/>
                <a:cs typeface="Calibri" panose="020F0502020204030204" pitchFamily="34" charset="0"/>
              </a:rPr>
              <a:t>[15] Joshi, S. K., Thakur, R., &amp; Sharma, M. (2017). "A deep learning-based non-invasive system for anemia prediction using conjunctiva images." Medical &amp; Biological Engineering&amp;Computing,55(4),639-647.</a:t>
            </a:r>
            <a:endParaRPr lang="en-IN" sz="1600" dirty="0">
              <a:effectLst/>
              <a:latin typeface="Calibri" panose="020F0502020204030204" pitchFamily="34" charset="0"/>
              <a:ea typeface="Calibri" panose="020F0502020204030204" pitchFamily="34" charset="0"/>
            </a:endParaRPr>
          </a:p>
        </p:txBody>
      </p:sp>
      <p:sp>
        <p:nvSpPr>
          <p:cNvPr id="5" name="Date Placeholder 4">
            <a:extLst>
              <a:ext uri="{FF2B5EF4-FFF2-40B4-BE49-F238E27FC236}">
                <a16:creationId xmlns:a16="http://schemas.microsoft.com/office/drawing/2014/main" id="{94348690-B7C9-3138-3470-21F114128C35}"/>
              </a:ext>
            </a:extLst>
          </p:cNvPr>
          <p:cNvSpPr>
            <a:spLocks noGrp="1"/>
          </p:cNvSpPr>
          <p:nvPr>
            <p:ph type="dt" sz="half" idx="10"/>
          </p:nvPr>
        </p:nvSpPr>
        <p:spPr/>
        <p:txBody>
          <a:bodyPr/>
          <a:lstStyle/>
          <a:p>
            <a:r>
              <a:rPr lang="en-US"/>
              <a:t>06-11-2025</a:t>
            </a:r>
            <a:endParaRPr lang="en-IN"/>
          </a:p>
        </p:txBody>
      </p:sp>
    </p:spTree>
    <p:extLst>
      <p:ext uri="{BB962C8B-B14F-4D97-AF65-F5344CB8AC3E}">
        <p14:creationId xmlns:p14="http://schemas.microsoft.com/office/powerpoint/2010/main" val="1858711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01979" y="2921168"/>
            <a:ext cx="6096000" cy="1015663"/>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THANK YOU !</a:t>
            </a:r>
          </a:p>
        </p:txBody>
      </p:sp>
      <p:sp>
        <p:nvSpPr>
          <p:cNvPr id="2" name="Date Placeholder 1">
            <a:extLst>
              <a:ext uri="{FF2B5EF4-FFF2-40B4-BE49-F238E27FC236}">
                <a16:creationId xmlns:a16="http://schemas.microsoft.com/office/drawing/2014/main" id="{E68AB3ED-CAE2-69A6-3912-16982E45C103}"/>
              </a:ext>
            </a:extLst>
          </p:cNvPr>
          <p:cNvSpPr>
            <a:spLocks noGrp="1"/>
          </p:cNvSpPr>
          <p:nvPr>
            <p:ph type="dt" sz="half" idx="10"/>
          </p:nvPr>
        </p:nvSpPr>
        <p:spPr/>
        <p:txBody>
          <a:bodyPr/>
          <a:lstStyle/>
          <a:p>
            <a:r>
              <a:rPr lang="en-US"/>
              <a:t>06-11-2025</a:t>
            </a:r>
            <a:endParaRPr lang="en-IN"/>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571*142"/>
  <p:tag name="TABLE_ENDDRAG_RECT" val="200*237*571*14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76*440"/>
  <p:tag name="TABLE_ENDDRAG_RECT" val="58*79*876*440"/>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861*488"/>
  <p:tag name="TABLE_ENDDRAG_RECT" val="76*49*861*488"/>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881*505"/>
  <p:tag name="TABLE_ENDDRAG_RECT" val="48*16*881*505"/>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833*428"/>
  <p:tag name="TABLE_ENDDRAG_RECT" val="99*73*833*428"/>
</p:tagLst>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312</TotalTime>
  <Words>2704</Words>
  <Application>Microsoft Office PowerPoint</Application>
  <PresentationFormat>Widescreen</PresentationFormat>
  <Paragraphs>236</Paragraphs>
  <Slides>22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Century Gothic</vt:lpstr>
      <vt:lpstr>Overpass Light</vt:lpstr>
      <vt:lpstr>Times New Roman</vt:lpstr>
      <vt:lpstr>Wingdings</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Software components:</vt:lpstr>
      <vt:lpstr>PowerPoint Presentation</vt:lpstr>
      <vt:lpstr>Implementation:-</vt:lpstr>
      <vt:lpstr>MODEL ARCHITECTURE:-</vt:lpstr>
      <vt:lpstr>EXPERIMENTAL RESULTS AND DISCUSSION:   </vt:lpstr>
      <vt:lpstr>MODEL GRAPH:-</vt:lpstr>
      <vt:lpstr>Conclusion: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Avinash Royal</dc:creator>
  <cp:lastModifiedBy>Lenovo</cp:lastModifiedBy>
  <cp:revision>37</cp:revision>
  <dcterms:created xsi:type="dcterms:W3CDTF">2025-07-29T16:00:00Z</dcterms:created>
  <dcterms:modified xsi:type="dcterms:W3CDTF">2025-11-06T08:26:28Z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8E153C7E65834DBF972241F47F8F52DB_13</vt:lpwstr>
  </property>
  <property fmtid="{D5CDD505-2E9C-101B-9397-08002B2CF9AE}" pid="3" name="KSOProductBuildVer">
    <vt:lpwstr>1033-12.2.0.22549</vt:lpwstr>
  </property>
</Properties>
</file>