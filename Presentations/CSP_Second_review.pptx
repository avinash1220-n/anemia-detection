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60" r:id="rId3"/>
    <p:sldId id="258" r:id="rId4"/>
    <p:sldId id="265" r:id="rId5"/>
    <p:sldId id="267" r:id="rId6"/>
    <p:sldId id="261" r:id="rId7"/>
    <p:sldId id="262" r:id="rId8"/>
    <p:sldId id="263" r:id="rId9"/>
    <p:sldId id="275" r:id="rId10"/>
    <p:sldId id="272" r:id="rId11"/>
    <p:sldId id="270" r:id="rId12"/>
    <p:sldId id="271" r:id="rId13"/>
    <p:sldId id="274" r:id="rId14"/>
    <p:sldId id="276" r:id="rId15"/>
    <p:sldId id="273" r:id="rId16"/>
    <p:sldId id="266" r:id="rId17"/>
    <p:sldId id="264"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showGuides="1">
      <p:cViewPr varScale="1">
        <p:scale>
          <a:sx n="105" d="100"/>
          <a:sy n="105" d="100"/>
        </p:scale>
        <p:origin x="834" y="96"/>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5ABF827-4C2A-4518-80AB-705C66538491}" type="datetimeFigureOut">
              <a:rPr lang="en-IN" smtClean="0"/>
              <a:t>15-10-2025</a:t>
            </a:fld>
            <a:endParaRPr lang="en-IN"/>
          </a:p>
        </p:txBody>
      </p:sp>
      <p:sp>
        <p:nvSpPr>
          <p:cNvPr id="5" name="Footer Placeholder 4"/>
          <p:cNvSpPr>
            <a:spLocks noGrp="1"/>
          </p:cNvSpPr>
          <p:nvPr>
            <p:ph type="ftr" sz="quarter" idx="11"/>
          </p:nvPr>
        </p:nvSpPr>
        <p:spPr/>
        <p:txBody>
          <a:bodyPr/>
          <a:lstStyle/>
          <a:p>
            <a:endParaRPr lang="en-IN"/>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D1EEA561-D3F3-4347-86C9-65A85134870C}" type="slidenum">
              <a:rPr lang="en-IN" smtClean="0"/>
              <a:t>‹#›</a:t>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5ABF827-4C2A-4518-80AB-705C66538491}" type="datetimeFigureOut">
              <a:rPr lang="en-IN" smtClean="0"/>
              <a:t>15-10-2025</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1EEA561-D3F3-4347-86C9-65A85134870C}" type="slidenum">
              <a:rPr lang="en-IN" smtClean="0"/>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5ABF827-4C2A-4518-80AB-705C66538491}" type="datetimeFigureOut">
              <a:rPr lang="en-IN" smtClean="0"/>
              <a:t>15-10-2025</a:t>
            </a:fld>
            <a:endParaRPr lang="en-IN"/>
          </a:p>
        </p:txBody>
      </p:sp>
      <p:sp>
        <p:nvSpPr>
          <p:cNvPr id="5" name="Footer Placeholder 4"/>
          <p:cNvSpPr>
            <a:spLocks noGrp="1"/>
          </p:cNvSpPr>
          <p:nvPr>
            <p:ph type="ftr" sz="quarter" idx="11"/>
          </p:nvPr>
        </p:nvSpPr>
        <p:spPr/>
        <p:txBody>
          <a:bodyPr/>
          <a:lstStyle/>
          <a:p>
            <a:endParaRPr lang="en-IN"/>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1EEA561-D3F3-4347-86C9-65A85134870C}" type="slidenum">
              <a:rPr lang="en-IN" smtClean="0"/>
              <a:t>‹#›</a:t>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5ABF827-4C2A-4518-80AB-705C66538491}" type="datetimeFigureOut">
              <a:rPr lang="en-IN" smtClean="0"/>
              <a:t>15-10-2025</a:t>
            </a:fld>
            <a:endParaRPr lang="en-IN"/>
          </a:p>
        </p:txBody>
      </p:sp>
      <p:sp>
        <p:nvSpPr>
          <p:cNvPr id="6" name="Footer Placeholder 5"/>
          <p:cNvSpPr>
            <a:spLocks noGrp="1"/>
          </p:cNvSpPr>
          <p:nvPr>
            <p:ph type="ftr" sz="quarter" idx="11"/>
          </p:nvPr>
        </p:nvSpPr>
        <p:spPr/>
        <p:txBody>
          <a:bodyPr/>
          <a:lstStyle/>
          <a:p>
            <a:endParaRPr lang="en-IN"/>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D1EEA561-D3F3-4347-86C9-65A85134870C}" type="slidenum">
              <a:rPr lang="en-IN" smtClean="0"/>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5ABF827-4C2A-4518-80AB-705C66538491}" type="datetimeFigureOut">
              <a:rPr lang="en-IN" smtClean="0"/>
              <a:t>15-10-2025</a:t>
            </a:fld>
            <a:endParaRPr lang="en-IN"/>
          </a:p>
        </p:txBody>
      </p:sp>
      <p:sp>
        <p:nvSpPr>
          <p:cNvPr id="8" name="Footer Placeholder 7"/>
          <p:cNvSpPr>
            <a:spLocks noGrp="1"/>
          </p:cNvSpPr>
          <p:nvPr>
            <p:ph type="ftr" sz="quarter" idx="11"/>
          </p:nvPr>
        </p:nvSpPr>
        <p:spPr/>
        <p:txBody>
          <a:bodyPr/>
          <a:lstStyle/>
          <a:p>
            <a:endParaRPr lang="en-IN"/>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D1EEA561-D3F3-4347-86C9-65A85134870C}" type="slidenum">
              <a:rPr lang="en-IN" smtClean="0"/>
              <a:t>‹#›</a:t>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5ABF827-4C2A-4518-80AB-705C66538491}" type="datetimeFigureOut">
              <a:rPr lang="en-IN" smtClean="0"/>
              <a:t>15-10-2025</a:t>
            </a:fld>
            <a:endParaRPr lang="en-IN"/>
          </a:p>
        </p:txBody>
      </p:sp>
      <p:sp>
        <p:nvSpPr>
          <p:cNvPr id="4" name="Footer Placeholder 3"/>
          <p:cNvSpPr>
            <a:spLocks noGrp="1"/>
          </p:cNvSpPr>
          <p:nvPr>
            <p:ph type="ftr" sz="quarter" idx="11"/>
          </p:nvPr>
        </p:nvSpPr>
        <p:spPr/>
        <p:txBody>
          <a:bodyPr/>
          <a:lstStyle/>
          <a:p>
            <a:endParaRPr lang="en-IN"/>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D1EEA561-D3F3-4347-86C9-65A85134870C}" type="slidenum">
              <a:rPr lang="en-IN" smtClean="0"/>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5ABF827-4C2A-4518-80AB-705C66538491}" type="datetimeFigureOut">
              <a:rPr lang="en-IN" smtClean="0"/>
              <a:t>15-10-2025</a:t>
            </a:fld>
            <a:endParaRPr lang="en-IN"/>
          </a:p>
        </p:txBody>
      </p:sp>
      <p:sp>
        <p:nvSpPr>
          <p:cNvPr id="3" name="Footer Placeholder 2"/>
          <p:cNvSpPr>
            <a:spLocks noGrp="1"/>
          </p:cNvSpPr>
          <p:nvPr>
            <p:ph type="ftr" sz="quarter" idx="11"/>
          </p:nvPr>
        </p:nvSpPr>
        <p:spPr/>
        <p:txBody>
          <a:bodyPr/>
          <a:lstStyle/>
          <a:p>
            <a:endParaRPr lang="en-IN"/>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D1EEA561-D3F3-4347-86C9-65A85134870C}" type="slidenum">
              <a:rPr lang="en-IN" smtClean="0"/>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5ABF827-4C2A-4518-80AB-705C66538491}" type="datetimeFigureOut">
              <a:rPr lang="en-IN" smtClean="0"/>
              <a:t>15-10-2025</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D1EEA561-D3F3-4347-86C9-65A85134870C}" type="slidenum">
              <a:rPr lang="en-IN" smtClean="0"/>
              <a:t>‹#›</a:t>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5ABF827-4C2A-4518-80AB-705C66538491}" type="datetimeFigureOut">
              <a:rPr lang="en-IN" smtClean="0"/>
              <a:t>15-10-2025</a:t>
            </a:fld>
            <a:endParaRPr lang="en-IN"/>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1EEA561-D3F3-4347-86C9-65A85134870C}" type="slidenum">
              <a:rPr lang="en-IN" smtClean="0"/>
              <a:t>‹#›</a:t>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5ABF827-4C2A-4518-80AB-705C66538491}" type="datetimeFigureOut">
              <a:rPr lang="en-IN" smtClean="0"/>
              <a:t>15-10-2025</a:t>
            </a:fld>
            <a:endParaRPr lang="en-IN"/>
          </a:p>
        </p:txBody>
      </p:sp>
      <p:sp>
        <p:nvSpPr>
          <p:cNvPr id="5" name="Footer Placeholder 4"/>
          <p:cNvSpPr>
            <a:spLocks noGrp="1"/>
          </p:cNvSpPr>
          <p:nvPr>
            <p:ph type="ftr" sz="quarter" idx="11"/>
          </p:nvPr>
        </p:nvSpPr>
        <p:spPr/>
        <p:txBody>
          <a:bodyPr/>
          <a:lstStyle/>
          <a:p>
            <a:endParaRPr lang="en-IN"/>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1EEA561-D3F3-4347-86C9-65A85134870C}" type="slidenum">
              <a:rPr lang="en-IN" smtClean="0"/>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5ABF827-4C2A-4518-80AB-705C66538491}" type="datetimeFigureOut">
              <a:rPr lang="en-IN" smtClean="0"/>
              <a:t>15-10-2025</a:t>
            </a:fld>
            <a:endParaRPr lang="en-IN"/>
          </a:p>
        </p:txBody>
      </p:sp>
      <p:sp>
        <p:nvSpPr>
          <p:cNvPr id="5" name="Footer Placeholder 4"/>
          <p:cNvSpPr>
            <a:spLocks noGrp="1"/>
          </p:cNvSpPr>
          <p:nvPr>
            <p:ph type="ftr" sz="quarter" idx="11"/>
          </p:nvPr>
        </p:nvSpPr>
        <p:spPr/>
        <p:txBody>
          <a:bodyPr/>
          <a:lstStyle/>
          <a:p>
            <a:endParaRPr lang="en-IN"/>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1EEA561-D3F3-4347-86C9-65A85134870C}" type="slidenum">
              <a:rPr lang="en-IN" smtClean="0"/>
              <a:t>‹#›</a:t>
            </a:fld>
            <a:endParaRPr lang="en-IN"/>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panose="020B0604020202020204"/>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panose="020B0604020202020204"/>
              </a:rPr>
              <a:t>”</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45ABF827-4C2A-4518-80AB-705C66538491}" type="datetimeFigureOut">
              <a:rPr lang="en-IN" smtClean="0"/>
              <a:t>15-10-2025</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1EEA561-D3F3-4347-86C9-65A85134870C}" type="slidenum">
              <a:rPr lang="en-IN" smtClean="0"/>
              <a:t>‹#›</a:t>
            </a:fld>
            <a:endParaRPr lang="en-IN"/>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45ABF827-4C2A-4518-80AB-705C66538491}" type="datetimeFigureOut">
              <a:rPr lang="en-IN" smtClean="0"/>
              <a:t>15-10-2025</a:t>
            </a:fld>
            <a:endParaRPr lang="en-IN"/>
          </a:p>
        </p:txBody>
      </p:sp>
      <p:sp>
        <p:nvSpPr>
          <p:cNvPr id="6" name="Footer Placeholder 5"/>
          <p:cNvSpPr>
            <a:spLocks noGrp="1"/>
          </p:cNvSpPr>
          <p:nvPr>
            <p:ph type="ftr" sz="quarter" idx="11"/>
          </p:nvPr>
        </p:nvSpPr>
        <p:spPr/>
        <p:txBody>
          <a:bodyPr/>
          <a:lstStyle/>
          <a:p>
            <a:endParaRPr lang="en-IN"/>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1EEA561-D3F3-4347-86C9-65A85134870C}" type="slidenum">
              <a:rPr lang="en-IN" smtClean="0"/>
              <a:t>‹#›</a:t>
            </a:fld>
            <a:endParaRPr lang="en-IN"/>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panose="020B0604020202020204"/>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panose="020B0604020202020204"/>
              </a:rPr>
              <a:t>”</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45ABF827-4C2A-4518-80AB-705C66538491}" type="datetimeFigureOut">
              <a:rPr lang="en-IN" smtClean="0"/>
              <a:t>15-10-2025</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1EEA561-D3F3-4347-86C9-65A85134870C}" type="slidenum">
              <a:rPr lang="en-IN" smtClean="0"/>
              <a:t>‹#›</a:t>
            </a:fld>
            <a:endParaRPr lang="en-IN"/>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5ABF827-4C2A-4518-80AB-705C66538491}" type="datetimeFigureOut">
              <a:rPr lang="en-IN" smtClean="0"/>
              <a:t>15-10-2025</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1EEA561-D3F3-4347-86C9-65A85134870C}" type="slidenum">
              <a:rPr lang="en-IN" smtClean="0"/>
              <a:t>‹#›</a:t>
            </a:fld>
            <a:endParaRPr lang="en-IN"/>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5ABF827-4C2A-4518-80AB-705C66538491}" type="datetimeFigureOut">
              <a:rPr lang="en-IN" smtClean="0"/>
              <a:t>15-10-2025</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1EEA561-D3F3-4347-86C9-65A85134870C}" type="slidenum">
              <a:rPr lang="en-IN" smtClean="0"/>
              <a:t>‹#›</a:t>
            </a:fld>
            <a:endParaRPr lang="en-IN"/>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x" preserve="1">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Text Placeholder 2"/>
          <p:cNvSpPr>
            <a:spLocks noGrp="1"/>
          </p:cNvSpPr>
          <p:nvPr>
            <p:ph type="body"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5ABF827-4C2A-4518-80AB-705C66538491}" type="datetimeFigureOut">
              <a:rPr lang="en-IN" smtClean="0"/>
              <a:t>15-10-2025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1EEA561-D3F3-4347-86C9-65A85134870C}" type="slidenum">
              <a:rPr lang="en-IN" smtClean="0"/>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45ABF827-4C2A-4518-80AB-705C66538491}" type="datetimeFigureOut">
              <a:rPr lang="en-IN" smtClean="0"/>
              <a:t>15-10-2025</a:t>
            </a:fld>
            <a:endParaRPr lang="en-IN"/>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D1EEA561-D3F3-4347-86C9-65A85134870C}" type="slidenum">
              <a:rPr lang="en-IN" smtClean="0"/>
              <a:t>‹#›</a:t>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panose="05040102010807070707"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1.xml"/><Relationship Id="rId1" Type="http://schemas.openxmlformats.org/officeDocument/2006/relationships/tags" Target="../tags/tag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2.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3.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4.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tags" Target="../tags/tag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2151380" y="1590040"/>
            <a:ext cx="8566785" cy="1258570"/>
          </a:xfrm>
          <a:prstGeom prst="rect">
            <a:avLst/>
          </a:prstGeom>
          <a:noFill/>
        </p:spPr>
        <p:txBody>
          <a:bodyPr wrap="square">
            <a:noAutofit/>
          </a:bodyPr>
          <a:lstStyle/>
          <a:p>
            <a:pPr>
              <a:lnSpc>
                <a:spcPct val="140000"/>
              </a:lnSpc>
            </a:pPr>
            <a:r>
              <a:rPr lang="en-IN" sz="2400" b="1" dirty="0">
                <a:latin typeface="Times New Roman" panose="02020603050405020304" pitchFamily="18" charset="0"/>
                <a:cs typeface="Times New Roman" panose="02020603050405020304" pitchFamily="18" charset="0"/>
              </a:rPr>
              <a:t>A NON INVASIVE METHOD FOR DETECTION OF ANEMIA IN CHILDRENS BY USING EYE-CONJUNCTIVA IMAGES</a:t>
            </a:r>
          </a:p>
        </p:txBody>
      </p:sp>
      <p:pic>
        <p:nvPicPr>
          <p:cNvPr id="6" name="Picture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20015" y="210312"/>
            <a:ext cx="10881360" cy="1600200"/>
          </a:xfrm>
          <a:prstGeom prst="rect">
            <a:avLst/>
          </a:prstGeom>
        </p:spPr>
      </p:pic>
      <p:sp>
        <p:nvSpPr>
          <p:cNvPr id="8" name="TextBox 7"/>
          <p:cNvSpPr txBox="1"/>
          <p:nvPr/>
        </p:nvSpPr>
        <p:spPr>
          <a:xfrm>
            <a:off x="2077452" y="5047489"/>
            <a:ext cx="6096000" cy="1198880"/>
          </a:xfrm>
          <a:prstGeom prst="rect">
            <a:avLst/>
          </a:prstGeom>
          <a:noFill/>
        </p:spPr>
        <p:txBody>
          <a:bodyPr wrap="square">
            <a:spAutoFit/>
          </a:bodyPr>
          <a:lstStyle/>
          <a:p>
            <a:r>
              <a:rPr lang="en-US" b="1" dirty="0">
                <a:latin typeface="Times New Roman" panose="02020603050405020304" pitchFamily="18" charset="0"/>
                <a:cs typeface="Times New Roman" panose="02020603050405020304" pitchFamily="18" charset="0"/>
              </a:rPr>
              <a:t>GUIDED BY:</a:t>
            </a:r>
          </a:p>
          <a:p>
            <a:r>
              <a:rPr lang="en-US" dirty="0">
                <a:latin typeface="Times New Roman" panose="02020603050405020304" pitchFamily="18" charset="0"/>
                <a:cs typeface="Times New Roman" panose="02020603050405020304" pitchFamily="18" charset="0"/>
              </a:rPr>
              <a:t>Dr. T. DHILIPHAN RAJKUMAR</a:t>
            </a:r>
          </a:p>
          <a:p>
            <a:r>
              <a:rPr lang="en-US" dirty="0">
                <a:latin typeface="Times New Roman" panose="02020603050405020304" pitchFamily="18" charset="0"/>
                <a:cs typeface="Times New Roman" panose="02020603050405020304" pitchFamily="18" charset="0"/>
              </a:rPr>
              <a:t>DEPARTMENT OF COMPUTER SCIENCE </a:t>
            </a:r>
          </a:p>
          <a:p>
            <a:r>
              <a:rPr lang="en-US" dirty="0">
                <a:latin typeface="Times New Roman" panose="02020603050405020304" pitchFamily="18" charset="0"/>
                <a:cs typeface="Times New Roman" panose="02020603050405020304" pitchFamily="18" charset="0"/>
              </a:rPr>
              <a:t>AND  ENGINEERING(KARE)</a:t>
            </a:r>
            <a:endParaRPr lang="en-IN" dirty="0">
              <a:latin typeface="Times New Roman" panose="02020603050405020304" pitchFamily="18" charset="0"/>
              <a:cs typeface="Times New Roman" panose="02020603050405020304" pitchFamily="18" charset="0"/>
            </a:endParaRPr>
          </a:p>
        </p:txBody>
      </p:sp>
      <p:sp>
        <p:nvSpPr>
          <p:cNvPr id="10" name="TextBox 9"/>
          <p:cNvSpPr txBox="1"/>
          <p:nvPr/>
        </p:nvSpPr>
        <p:spPr>
          <a:xfrm>
            <a:off x="8619363" y="5150612"/>
            <a:ext cx="1353820" cy="401955"/>
          </a:xfrm>
          <a:prstGeom prst="rect">
            <a:avLst/>
          </a:prstGeom>
          <a:noFill/>
        </p:spPr>
        <p:txBody>
          <a:bodyPr wrap="square">
            <a:noAutofit/>
          </a:bodyPr>
          <a:lstStyle/>
          <a:p>
            <a:r>
              <a:rPr lang="en-US" sz="1800" b="1" dirty="0">
                <a:latin typeface="Times New Roman" panose="02020603050405020304" pitchFamily="18" charset="0"/>
                <a:cs typeface="Times New Roman" panose="02020603050405020304" pitchFamily="18" charset="0"/>
              </a:rPr>
              <a:t>GROUP-03</a:t>
            </a:r>
            <a:endParaRPr lang="en-IN" sz="1800" b="1" dirty="0">
              <a:latin typeface="Times New Roman" panose="02020603050405020304" pitchFamily="18" charset="0"/>
              <a:cs typeface="Times New Roman" panose="02020603050405020304" pitchFamily="18" charset="0"/>
            </a:endParaRPr>
          </a:p>
        </p:txBody>
      </p:sp>
      <p:graphicFrame>
        <p:nvGraphicFramePr>
          <p:cNvPr id="2" name="Table 1"/>
          <p:cNvGraphicFramePr/>
          <p:nvPr>
            <p:custDataLst>
              <p:tags r:id="rId1"/>
            </p:custDataLst>
          </p:nvPr>
        </p:nvGraphicFramePr>
        <p:xfrm>
          <a:off x="2541270" y="3010535"/>
          <a:ext cx="7259955" cy="1828800"/>
        </p:xfrm>
        <a:graphic>
          <a:graphicData uri="http://schemas.openxmlformats.org/drawingml/2006/table">
            <a:tbl>
              <a:tblPr firstRow="1" bandRow="1">
                <a:tableStyleId>{5C22544A-7EE6-4342-B048-85BDC9FD1C3A}</a:tableStyleId>
              </a:tblPr>
              <a:tblGrid>
                <a:gridCol w="3374390">
                  <a:extLst>
                    <a:ext uri="{9D8B030D-6E8A-4147-A177-3AD203B41FA5}">
                      <a16:colId xmlns:a16="http://schemas.microsoft.com/office/drawing/2014/main" val="20000"/>
                    </a:ext>
                  </a:extLst>
                </a:gridCol>
                <a:gridCol w="3885565">
                  <a:extLst>
                    <a:ext uri="{9D8B030D-6E8A-4147-A177-3AD203B41FA5}">
                      <a16:colId xmlns:a16="http://schemas.microsoft.com/office/drawing/2014/main" val="20001"/>
                    </a:ext>
                  </a:extLst>
                </a:gridCol>
              </a:tblGrid>
              <a:tr h="365760">
                <a:tc>
                  <a:txBody>
                    <a:bodyPr/>
                    <a:lstStyle/>
                    <a:p>
                      <a:pPr algn="ctr">
                        <a:buNone/>
                      </a:pPr>
                      <a:r>
                        <a:rPr lang="en-IN" altLang="en-US">
                          <a:latin typeface="Times New Roman" panose="02020603050405020304" pitchFamily="18" charset="0"/>
                          <a:cs typeface="Times New Roman" panose="02020603050405020304" pitchFamily="18" charset="0"/>
                        </a:rPr>
                        <a:t>TEAM MEMBERS</a:t>
                      </a:r>
                    </a:p>
                  </a:txBody>
                  <a:tcPr/>
                </a:tc>
                <a:tc>
                  <a:txBody>
                    <a:bodyPr/>
                    <a:lstStyle/>
                    <a:p>
                      <a:pPr algn="ctr">
                        <a:buNone/>
                      </a:pPr>
                      <a:r>
                        <a:rPr lang="en-IN" altLang="en-US">
                          <a:latin typeface="Times New Roman" panose="02020603050405020304" pitchFamily="18" charset="0"/>
                          <a:cs typeface="Times New Roman" panose="02020603050405020304" pitchFamily="18" charset="0"/>
                        </a:rPr>
                        <a:t>REGISTRATION NUMBERS</a:t>
                      </a:r>
                    </a:p>
                  </a:txBody>
                  <a:tcPr/>
                </a:tc>
                <a:extLst>
                  <a:ext uri="{0D108BD9-81ED-4DB2-BD59-A6C34878D82A}">
                    <a16:rowId xmlns:a16="http://schemas.microsoft.com/office/drawing/2014/main" val="10000"/>
                  </a:ext>
                </a:extLst>
              </a:tr>
              <a:tr h="365760">
                <a:tc>
                  <a:txBody>
                    <a:bodyPr/>
                    <a:lstStyle/>
                    <a:p>
                      <a:pPr>
                        <a:buNone/>
                      </a:pPr>
                      <a:r>
                        <a:rPr lang="en-IN" altLang="en-US" dirty="0" err="1">
                          <a:latin typeface="Times New Roman" panose="02020603050405020304" pitchFamily="18" charset="0"/>
                          <a:cs typeface="Times New Roman" panose="02020603050405020304" pitchFamily="18" charset="0"/>
                        </a:rPr>
                        <a:t>Gorsipati</a:t>
                      </a:r>
                      <a:r>
                        <a:rPr lang="en-IN" altLang="en-US" dirty="0">
                          <a:latin typeface="Times New Roman" panose="02020603050405020304" pitchFamily="18" charset="0"/>
                          <a:cs typeface="Times New Roman" panose="02020603050405020304" pitchFamily="18" charset="0"/>
                        </a:rPr>
                        <a:t> Avinash</a:t>
                      </a:r>
                    </a:p>
                  </a:txBody>
                  <a:tcPr/>
                </a:tc>
                <a:tc>
                  <a:txBody>
                    <a:bodyPr/>
                    <a:lstStyle/>
                    <a:p>
                      <a:pPr algn="ctr">
                        <a:buNone/>
                      </a:pPr>
                      <a:r>
                        <a:rPr lang="en-IN" altLang="en-US" dirty="0">
                          <a:latin typeface="Times New Roman" panose="02020603050405020304" pitchFamily="18" charset="0"/>
                          <a:cs typeface="Times New Roman" panose="02020603050405020304" pitchFamily="18" charset="0"/>
                        </a:rPr>
                        <a:t>99230040556</a:t>
                      </a:r>
                    </a:p>
                  </a:txBody>
                  <a:tcPr/>
                </a:tc>
                <a:extLst>
                  <a:ext uri="{0D108BD9-81ED-4DB2-BD59-A6C34878D82A}">
                    <a16:rowId xmlns:a16="http://schemas.microsoft.com/office/drawing/2014/main" val="10001"/>
                  </a:ext>
                </a:extLst>
              </a:tr>
              <a:tr h="365760">
                <a:tc>
                  <a:txBody>
                    <a:bodyPr/>
                    <a:lstStyle/>
                    <a:p>
                      <a:pPr>
                        <a:buNone/>
                      </a:pPr>
                      <a:r>
                        <a:rPr lang="en-IN" altLang="en-US" dirty="0" err="1">
                          <a:latin typeface="Times New Roman" panose="02020603050405020304" pitchFamily="18" charset="0"/>
                          <a:cs typeface="Times New Roman" panose="02020603050405020304" pitchFamily="18" charset="0"/>
                        </a:rPr>
                        <a:t>G.Viswa</a:t>
                      </a:r>
                      <a:r>
                        <a:rPr lang="en-IN" altLang="en-US" dirty="0">
                          <a:latin typeface="Times New Roman" panose="02020603050405020304" pitchFamily="18" charset="0"/>
                          <a:cs typeface="Times New Roman" panose="02020603050405020304" pitchFamily="18" charset="0"/>
                        </a:rPr>
                        <a:t> Datta Reddy</a:t>
                      </a:r>
                    </a:p>
                  </a:txBody>
                  <a:tcPr/>
                </a:tc>
                <a:tc>
                  <a:txBody>
                    <a:bodyPr/>
                    <a:lstStyle/>
                    <a:p>
                      <a:pPr algn="ctr">
                        <a:buNone/>
                      </a:pPr>
                      <a:r>
                        <a:rPr lang="en-IN" altLang="en-US" dirty="0">
                          <a:latin typeface="Times New Roman" panose="02020603050405020304" pitchFamily="18" charset="0"/>
                          <a:cs typeface="Times New Roman" panose="02020603050405020304" pitchFamily="18" charset="0"/>
                        </a:rPr>
                        <a:t>99230040557</a:t>
                      </a:r>
                    </a:p>
                  </a:txBody>
                  <a:tcPr/>
                </a:tc>
                <a:extLst>
                  <a:ext uri="{0D108BD9-81ED-4DB2-BD59-A6C34878D82A}">
                    <a16:rowId xmlns:a16="http://schemas.microsoft.com/office/drawing/2014/main" val="10002"/>
                  </a:ext>
                </a:extLst>
              </a:tr>
              <a:tr h="365760">
                <a:tc>
                  <a:txBody>
                    <a:bodyPr/>
                    <a:lstStyle/>
                    <a:p>
                      <a:pPr>
                        <a:buNone/>
                      </a:pPr>
                      <a:r>
                        <a:rPr lang="en-IN" altLang="en-US" dirty="0" err="1">
                          <a:latin typeface="Times New Roman" panose="02020603050405020304" pitchFamily="18" charset="0"/>
                          <a:cs typeface="Times New Roman" panose="02020603050405020304" pitchFamily="18" charset="0"/>
                        </a:rPr>
                        <a:t>M.Sumalatha</a:t>
                      </a:r>
                      <a:endParaRPr lang="en-IN" altLang="en-US" dirty="0">
                        <a:latin typeface="Times New Roman" panose="02020603050405020304" pitchFamily="18" charset="0"/>
                        <a:cs typeface="Times New Roman" panose="02020603050405020304" pitchFamily="18" charset="0"/>
                      </a:endParaRPr>
                    </a:p>
                  </a:txBody>
                  <a:tcPr/>
                </a:tc>
                <a:tc>
                  <a:txBody>
                    <a:bodyPr/>
                    <a:lstStyle/>
                    <a:p>
                      <a:pPr algn="ctr">
                        <a:buNone/>
                      </a:pPr>
                      <a:r>
                        <a:rPr lang="en-IN" altLang="en-US">
                          <a:latin typeface="Times New Roman" panose="02020603050405020304" pitchFamily="18" charset="0"/>
                          <a:cs typeface="Times New Roman" panose="02020603050405020304" pitchFamily="18" charset="0"/>
                        </a:rPr>
                        <a:t>99230040677</a:t>
                      </a:r>
                    </a:p>
                  </a:txBody>
                  <a:tcPr/>
                </a:tc>
                <a:extLst>
                  <a:ext uri="{0D108BD9-81ED-4DB2-BD59-A6C34878D82A}">
                    <a16:rowId xmlns:a16="http://schemas.microsoft.com/office/drawing/2014/main" val="10003"/>
                  </a:ext>
                </a:extLst>
              </a:tr>
              <a:tr h="365760">
                <a:tc>
                  <a:txBody>
                    <a:bodyPr/>
                    <a:lstStyle/>
                    <a:p>
                      <a:pPr>
                        <a:buNone/>
                      </a:pPr>
                      <a:r>
                        <a:rPr lang="en-IN" altLang="en-US">
                          <a:latin typeface="Times New Roman" panose="02020603050405020304" pitchFamily="18" charset="0"/>
                          <a:cs typeface="Times New Roman" panose="02020603050405020304" pitchFamily="18" charset="0"/>
                        </a:rPr>
                        <a:t>Matam Vandana</a:t>
                      </a:r>
                    </a:p>
                  </a:txBody>
                  <a:tcPr/>
                </a:tc>
                <a:tc>
                  <a:txBody>
                    <a:bodyPr/>
                    <a:lstStyle/>
                    <a:p>
                      <a:pPr algn="ctr">
                        <a:buNone/>
                      </a:pPr>
                      <a:r>
                        <a:rPr lang="en-IN" altLang="en-US" dirty="0">
                          <a:latin typeface="Times New Roman" panose="02020603050405020304" pitchFamily="18" charset="0"/>
                          <a:cs typeface="Times New Roman" panose="02020603050405020304" pitchFamily="18" charset="0"/>
                        </a:rPr>
                        <a:t>99230040665</a:t>
                      </a:r>
                    </a:p>
                  </a:txBody>
                  <a:tcPr/>
                </a:tc>
                <a:extLst>
                  <a:ext uri="{0D108BD9-81ED-4DB2-BD59-A6C34878D82A}">
                    <a16:rowId xmlns:a16="http://schemas.microsoft.com/office/drawing/2014/main" val="10004"/>
                  </a:ext>
                </a:extLst>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764631" y="938281"/>
            <a:ext cx="6096000" cy="461665"/>
          </a:xfrm>
          <a:prstGeom prst="rect">
            <a:avLst/>
          </a:prstGeom>
          <a:noFill/>
        </p:spPr>
        <p:txBody>
          <a:bodyPr wrap="square">
            <a:spAutoFit/>
          </a:bodyPr>
          <a:lstStyle/>
          <a:p>
            <a:r>
              <a:rPr lang="en-IN" sz="2400" b="1" dirty="0">
                <a:latin typeface="Times New Roman" panose="02020603050405020304" pitchFamily="18" charset="0"/>
                <a:cs typeface="Times New Roman" panose="02020603050405020304" pitchFamily="18" charset="0"/>
              </a:rPr>
              <a:t>INTRODUCTION:</a:t>
            </a:r>
          </a:p>
        </p:txBody>
      </p:sp>
      <p:sp>
        <p:nvSpPr>
          <p:cNvPr id="5" name="TextBox 4"/>
          <p:cNvSpPr txBox="1"/>
          <p:nvPr/>
        </p:nvSpPr>
        <p:spPr>
          <a:xfrm>
            <a:off x="1564640" y="1400810"/>
            <a:ext cx="9869805" cy="4805680"/>
          </a:xfrm>
          <a:prstGeom prst="rect">
            <a:avLst/>
          </a:prstGeom>
          <a:noFill/>
        </p:spPr>
        <p:txBody>
          <a:bodyPr wrap="square">
            <a:noAutofit/>
          </a:bodyPr>
          <a:lstStyle/>
          <a:p>
            <a:pPr marL="285750" indent="-285750" algn="just">
              <a:lnSpc>
                <a:spcPct val="130000"/>
              </a:lnSpc>
              <a:spcAft>
                <a:spcPts val="0"/>
              </a:spcAft>
              <a:buFont typeface="Wingdings" panose="05000000000000000000" pitchFamily="2" charset="2"/>
              <a:buChar char="Ø"/>
            </a:pPr>
            <a:r>
              <a:rPr lang="en-US" altLang="zh-CN" dirty="0">
                <a:latin typeface="Times New Roman" panose="02020603050405020304" pitchFamily="18" charset="0"/>
                <a:ea typeface="仿宋" charset="0"/>
                <a:cs typeface="Times New Roman" panose="02020603050405020304" pitchFamily="18" charset="0"/>
              </a:rPr>
              <a:t>Iron deficiency is most commonly the cause of anemia and results in fatigue, weakness, and impaired mental development.</a:t>
            </a:r>
          </a:p>
          <a:p>
            <a:pPr marL="285750" indent="-285750" algn="just">
              <a:lnSpc>
                <a:spcPct val="130000"/>
              </a:lnSpc>
              <a:spcAft>
                <a:spcPts val="0"/>
              </a:spcAft>
              <a:buFont typeface="Wingdings" panose="05000000000000000000" pitchFamily="2" charset="2"/>
              <a:buChar char="Ø"/>
            </a:pPr>
            <a:r>
              <a:rPr lang="en-US" altLang="zh-CN" dirty="0">
                <a:latin typeface="Times New Roman" panose="02020603050405020304" pitchFamily="18" charset="0"/>
                <a:ea typeface="仿宋" charset="0"/>
                <a:cs typeface="Times New Roman" panose="02020603050405020304" pitchFamily="18" charset="0"/>
              </a:rPr>
              <a:t>Early diagnosis is necessary to avoid long-term health complications.</a:t>
            </a:r>
          </a:p>
          <a:p>
            <a:pPr marL="285750" indent="-285750" algn="just">
              <a:lnSpc>
                <a:spcPct val="130000"/>
              </a:lnSpc>
              <a:spcAft>
                <a:spcPts val="0"/>
              </a:spcAft>
              <a:buFont typeface="Wingdings" panose="05000000000000000000" pitchFamily="2" charset="2"/>
              <a:buChar char="Ø"/>
            </a:pPr>
            <a:r>
              <a:rPr lang="en-US" altLang="zh-CN" dirty="0">
                <a:latin typeface="Times New Roman" panose="02020603050405020304" pitchFamily="18" charset="0"/>
                <a:ea typeface="仿宋" charset="0"/>
                <a:cs typeface="Times New Roman" panose="02020603050405020304" pitchFamily="18" charset="0"/>
              </a:rPr>
              <a:t>Conventional methods of diagnosis depend on invasive blood tests, which are painful, expensive, and need trained operators.</a:t>
            </a:r>
          </a:p>
          <a:p>
            <a:pPr marL="285750" indent="-285750" algn="just">
              <a:lnSpc>
                <a:spcPct val="130000"/>
              </a:lnSpc>
              <a:spcAft>
                <a:spcPts val="0"/>
              </a:spcAft>
              <a:buFont typeface="Wingdings" panose="05000000000000000000" pitchFamily="2" charset="2"/>
              <a:buChar char="Ø"/>
            </a:pPr>
            <a:r>
              <a:rPr lang="en-US" altLang="zh-CN" dirty="0">
                <a:latin typeface="Times New Roman" panose="02020603050405020304" pitchFamily="18" charset="0"/>
                <a:ea typeface="仿宋" charset="0"/>
                <a:cs typeface="Times New Roman" panose="02020603050405020304" pitchFamily="18" charset="0"/>
              </a:rPr>
              <a:t>A non-invasive, fast, and friendly-to-children alternative for screening anemia is needed.</a:t>
            </a:r>
          </a:p>
          <a:p>
            <a:pPr marL="285750" indent="-285750" algn="just">
              <a:lnSpc>
                <a:spcPct val="130000"/>
              </a:lnSpc>
              <a:spcAft>
                <a:spcPts val="0"/>
              </a:spcAft>
              <a:buFont typeface="Wingdings" panose="05000000000000000000" pitchFamily="2" charset="2"/>
              <a:buChar char="Ø"/>
            </a:pPr>
            <a:r>
              <a:rPr lang="en-US" altLang="zh-CN" dirty="0">
                <a:latin typeface="Times New Roman" panose="02020603050405020304" pitchFamily="18" charset="0"/>
                <a:ea typeface="仿宋" charset="0"/>
                <a:cs typeface="Times New Roman" panose="02020603050405020304" pitchFamily="18" charset="0"/>
              </a:rPr>
              <a:t>The conjunctiva of the eye (the interior of the lower lid) exhibits visible pallor in anemic patients.</a:t>
            </a:r>
          </a:p>
          <a:p>
            <a:pPr marL="285750" indent="-285750" algn="just">
              <a:lnSpc>
                <a:spcPct val="130000"/>
              </a:lnSpc>
              <a:spcAft>
                <a:spcPts val="0"/>
              </a:spcAft>
              <a:buFont typeface="Wingdings" panose="05000000000000000000" pitchFamily="2" charset="2"/>
              <a:buChar char="Ø"/>
            </a:pPr>
            <a:r>
              <a:rPr lang="en-US" altLang="zh-CN" dirty="0">
                <a:latin typeface="Times New Roman" panose="02020603050405020304" pitchFamily="18" charset="0"/>
                <a:ea typeface="仿宋" charset="0"/>
                <a:cs typeface="Times New Roman" panose="02020603050405020304" pitchFamily="18" charset="0"/>
              </a:rPr>
              <a:t>These signs can be identified using technology through image-based analysis of the conjunctiva.</a:t>
            </a:r>
          </a:p>
          <a:p>
            <a:pPr marL="285750" indent="-285750" algn="just">
              <a:lnSpc>
                <a:spcPct val="130000"/>
              </a:lnSpc>
              <a:spcAft>
                <a:spcPts val="0"/>
              </a:spcAft>
              <a:buFont typeface="Wingdings" panose="05000000000000000000" pitchFamily="2" charset="2"/>
              <a:buChar char="Ø"/>
            </a:pPr>
            <a:r>
              <a:rPr lang="en-US" altLang="zh-CN" dirty="0">
                <a:latin typeface="Times New Roman" panose="02020603050405020304" pitchFamily="18" charset="0"/>
                <a:ea typeface="仿宋" charset="0"/>
                <a:cs typeface="Times New Roman" panose="02020603050405020304" pitchFamily="18" charset="0"/>
              </a:rPr>
              <a:t>New technologies in computer vision and machine learning provide new means for automating this detection.</a:t>
            </a:r>
          </a:p>
          <a:p>
            <a:pPr marL="285750" indent="-285750" algn="just">
              <a:lnSpc>
                <a:spcPct val="130000"/>
              </a:lnSpc>
              <a:spcAft>
                <a:spcPts val="0"/>
              </a:spcAft>
              <a:buFont typeface="Wingdings" panose="05000000000000000000" pitchFamily="2" charset="2"/>
              <a:buChar char="Ø"/>
            </a:pPr>
            <a:r>
              <a:rPr lang="en-US" altLang="zh-CN" dirty="0">
                <a:latin typeface="Times New Roman" panose="02020603050405020304" pitchFamily="18" charset="0"/>
                <a:ea typeface="仿宋" charset="0"/>
                <a:cs typeface="Times New Roman" panose="02020603050405020304" pitchFamily="18" charset="0"/>
              </a:rPr>
              <a:t>This project seeks to utilize these technologies to construct an efficient and non-invasive anemia diagnosis tool for children.</a:t>
            </a:r>
          </a:p>
          <a:p>
            <a:pPr marL="285750" indent="-285750" algn="just">
              <a:lnSpc>
                <a:spcPct val="130000"/>
              </a:lnSpc>
              <a:spcAft>
                <a:spcPts val="0"/>
              </a:spcAft>
              <a:buFont typeface="Wingdings" panose="05000000000000000000" pitchFamily="2" charset="2"/>
              <a:buChar char="Ø"/>
            </a:pPr>
            <a:r>
              <a:rPr lang="en-US" altLang="zh-CN" dirty="0">
                <a:latin typeface="Times New Roman" panose="02020603050405020304" pitchFamily="18" charset="0"/>
                <a:ea typeface="仿宋" charset="0"/>
                <a:cs typeface="Times New Roman" panose="02020603050405020304" pitchFamily="18" charset="0"/>
                <a:sym typeface="+mn-ea"/>
              </a:rPr>
              <a:t>Anemia is a common health condition among children, particularly in underdeveloped nations.</a:t>
            </a:r>
            <a:endParaRPr lang="en-US" altLang="zh-CN" dirty="0">
              <a:latin typeface="Times New Roman" panose="02020603050405020304" pitchFamily="18" charset="0"/>
              <a:ea typeface="仿宋" charset="0"/>
              <a:cs typeface="Times New Roman" panose="02020603050405020304" pitchFamily="18" charset="0"/>
            </a:endParaRPr>
          </a:p>
          <a:p>
            <a:pPr marL="285750" indent="-285750" algn="just">
              <a:lnSpc>
                <a:spcPct val="130000"/>
              </a:lnSpc>
              <a:spcAft>
                <a:spcPts val="0"/>
              </a:spcAft>
              <a:buFont typeface="Wingdings" panose="05000000000000000000" pitchFamily="2" charset="2"/>
              <a:buChar char="Ø"/>
            </a:pPr>
            <a:endParaRPr lang="en-US" altLang="zh-CN" dirty="0">
              <a:latin typeface="Times New Roman" panose="02020603050405020304" pitchFamily="18" charset="0"/>
              <a:ea typeface="仿宋" charset="0"/>
              <a:cs typeface="Times New Roman" panose="02020603050405020304" pitchFamily="18" charset="0"/>
            </a:endParaRPr>
          </a:p>
          <a:p>
            <a:pPr marL="285750" indent="-285750" algn="just">
              <a:lnSpc>
                <a:spcPct val="130000"/>
              </a:lnSpc>
              <a:spcAft>
                <a:spcPts val="0"/>
              </a:spcAft>
              <a:buFont typeface="Wingdings" panose="05000000000000000000" pitchFamily="2" charset="2"/>
              <a:buChar char="Ø"/>
            </a:pPr>
            <a:endParaRPr lang="en-US" altLang="zh-CN" dirty="0">
              <a:latin typeface="Times New Roman" panose="02020603050405020304" pitchFamily="18" charset="0"/>
              <a:ea typeface="仿宋" charset="0"/>
              <a:cs typeface="Times New Roman" panose="02020603050405020304" pitchFamily="18" charset="0"/>
            </a:endParaRPr>
          </a:p>
          <a:p>
            <a:pPr algn="just">
              <a:lnSpc>
                <a:spcPct val="130000"/>
              </a:lnSpc>
            </a:pPr>
            <a:endParaRPr lang="en-US" altLang="zh-CN" dirty="0">
              <a:latin typeface="Times New Roman" panose="02020603050405020304" pitchFamily="18" charset="0"/>
              <a:ea typeface="仿宋" charset="0"/>
              <a:cs typeface="Times New Roman" panose="02020603050405020304" pitchFamily="18" charset="0"/>
            </a:endParaRPr>
          </a:p>
          <a:p>
            <a:pPr marL="285750" indent="-285750" algn="just">
              <a:lnSpc>
                <a:spcPct val="130000"/>
              </a:lnSpc>
              <a:spcAft>
                <a:spcPts val="0"/>
              </a:spcAft>
              <a:buFont typeface="Wingdings" panose="05000000000000000000" pitchFamily="2" charset="2"/>
              <a:buChar char="Ø"/>
            </a:pPr>
            <a:endParaRPr lang="en-US" altLang="zh-CN" dirty="0">
              <a:latin typeface="Times New Roman" panose="02020603050405020304" pitchFamily="18" charset="0"/>
              <a:ea typeface="仿宋" charset="0"/>
              <a:cs typeface="Times New Roman" panose="02020603050405020304" pitchFamily="18" charset="0"/>
            </a:endParaRPr>
          </a:p>
          <a:p>
            <a:pPr marL="285750" indent="-285750">
              <a:buFont typeface="Wingdings" panose="05000000000000000000" pitchFamily="2" charset="2"/>
              <a:buChar char="Ø"/>
            </a:pPr>
            <a:endParaRPr lang="en-IN"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892968" y="1531839"/>
            <a:ext cx="6096000" cy="461665"/>
          </a:xfrm>
          <a:prstGeom prst="rect">
            <a:avLst/>
          </a:prstGeom>
          <a:noFill/>
        </p:spPr>
        <p:txBody>
          <a:bodyPr wrap="square">
            <a:spAutoFit/>
          </a:bodyPr>
          <a:lstStyle/>
          <a:p>
            <a:r>
              <a:rPr lang="en-IN" sz="2400" b="1" dirty="0">
                <a:latin typeface="Times New Roman" panose="02020603050405020304" pitchFamily="18" charset="0"/>
                <a:cs typeface="Times New Roman" panose="02020603050405020304" pitchFamily="18" charset="0"/>
              </a:rPr>
              <a:t>OBJECTIVE:</a:t>
            </a:r>
          </a:p>
        </p:txBody>
      </p:sp>
      <p:sp>
        <p:nvSpPr>
          <p:cNvPr id="5" name="TextBox 4"/>
          <p:cNvSpPr txBox="1"/>
          <p:nvPr/>
        </p:nvSpPr>
        <p:spPr>
          <a:xfrm>
            <a:off x="2277745" y="2229485"/>
            <a:ext cx="9031605" cy="2517140"/>
          </a:xfrm>
          <a:prstGeom prst="rect">
            <a:avLst/>
          </a:prstGeom>
          <a:noFill/>
        </p:spPr>
        <p:txBody>
          <a:bodyPr wrap="square">
            <a:noAutofit/>
          </a:bodyPr>
          <a:lstStyle/>
          <a:p>
            <a:pPr marL="285750" indent="-285750" algn="just">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To Detect Anemia in Children with Eye-Conjunctiva Images using Convolutional Neural Network(CNN).</a:t>
            </a:r>
          </a:p>
          <a:p>
            <a:pPr algn="just"/>
            <a:endParaRPr lang="en-IN" dirty="0">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To provide an alternative to blood tests and minimizing discomfort and risk for children.</a:t>
            </a:r>
          </a:p>
          <a:p>
            <a:pPr algn="just"/>
            <a:endParaRPr lang="en-IN" dirty="0">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To analyze eye-conjunctiva images as an indicator of conjunctival pallor (a symptom of anemia).</a:t>
            </a:r>
          </a:p>
          <a:p>
            <a:pPr algn="just"/>
            <a:endParaRPr lang="en-IN"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242566" y="1849874"/>
            <a:ext cx="6094476" cy="400110"/>
          </a:xfrm>
          <a:prstGeom prst="rect">
            <a:avLst/>
          </a:prstGeom>
          <a:noFill/>
        </p:spPr>
        <p:txBody>
          <a:bodyPr wrap="square">
            <a:spAutoFit/>
          </a:bodyPr>
          <a:lstStyle/>
          <a:p>
            <a:r>
              <a:rPr lang="en-IN" sz="2000" b="1" dirty="0">
                <a:latin typeface="Times New Roman" panose="02020603050405020304" pitchFamily="18" charset="0"/>
                <a:cs typeface="Times New Roman" panose="02020603050405020304" pitchFamily="18" charset="0"/>
              </a:rPr>
              <a:t>TARGETED COMMUNITY:</a:t>
            </a:r>
          </a:p>
        </p:txBody>
      </p:sp>
      <p:sp>
        <p:nvSpPr>
          <p:cNvPr id="5" name="TextBox 4"/>
          <p:cNvSpPr txBox="1"/>
          <p:nvPr/>
        </p:nvSpPr>
        <p:spPr>
          <a:xfrm>
            <a:off x="2672080" y="2722245"/>
            <a:ext cx="7623810" cy="1603375"/>
          </a:xfrm>
          <a:prstGeom prst="rect">
            <a:avLst/>
          </a:prstGeom>
          <a:noFill/>
        </p:spPr>
        <p:txBody>
          <a:bodyPr wrap="square">
            <a:noAutofit/>
          </a:bodyPr>
          <a:lstStyle/>
          <a:p>
            <a:pPr marL="285750" indent="-285750" algn="just">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This community service project aims to detect anemia in children </a:t>
            </a:r>
            <a:r>
              <a:rPr lang="en-IN" altLang="en-US" dirty="0">
                <a:latin typeface="Times New Roman" panose="02020603050405020304" pitchFamily="18" charset="0"/>
                <a:cs typeface="Times New Roman" panose="02020603050405020304" pitchFamily="18" charset="0"/>
              </a:rPr>
              <a:t>6 years and below 6</a:t>
            </a:r>
            <a:r>
              <a:rPr lang="en-US" dirty="0">
                <a:latin typeface="Times New Roman" panose="02020603050405020304" pitchFamily="18" charset="0"/>
                <a:cs typeface="Times New Roman" panose="02020603050405020304" pitchFamily="18" charset="0"/>
              </a:rPr>
              <a:t> years by analyzing images of their eye conjunctiva. </a:t>
            </a:r>
          </a:p>
          <a:p>
            <a:pPr marL="285750" indent="-285750" algn="just">
              <a:buFont typeface="Wingdings" panose="05000000000000000000" pitchFamily="2" charset="2"/>
              <a:buChar char="Ø"/>
            </a:pPr>
            <a:endParaRPr lang="en-US" dirty="0">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Early identification of anemia is crucial for preventing health complications and promoting the overall well-being of young children of age </a:t>
            </a:r>
            <a:r>
              <a:rPr lang="en-IN" altLang="en-US" dirty="0">
                <a:latin typeface="Times New Roman" panose="02020603050405020304" pitchFamily="18" charset="0"/>
                <a:cs typeface="Times New Roman" panose="02020603050405020304" pitchFamily="18" charset="0"/>
              </a:rPr>
              <a:t>6 </a:t>
            </a:r>
            <a:r>
              <a:rPr lang="en-US" dirty="0">
                <a:latin typeface="Times New Roman" panose="02020603050405020304" pitchFamily="18" charset="0"/>
                <a:cs typeface="Times New Roman" panose="02020603050405020304" pitchFamily="18" charset="0"/>
              </a:rPr>
              <a:t>years.</a:t>
            </a:r>
            <a:endParaRPr lang="en-US" b="1" cap="none" spc="0" dirty="0">
              <a:ln w="12700">
                <a:solidFill>
                  <a:schemeClr val="tx2">
                    <a:lumMod val="75000"/>
                  </a:schemeClr>
                </a:solidFill>
                <a:prstDash val="solid"/>
              </a:ln>
              <a:pattFill prst="dkUpDiag">
                <a:fgClr>
                  <a:schemeClr val="tx2"/>
                </a:fgClr>
                <a:bgClr>
                  <a:schemeClr val="tx2">
                    <a:lumMod val="20000"/>
                    <a:lumOff val="80000"/>
                  </a:schemeClr>
                </a:bgClr>
              </a:pattFill>
              <a:effectLst>
                <a:outerShdw dist="38100" dir="2640000" algn="bl" rotWithShape="0">
                  <a:schemeClr val="tx2">
                    <a:lumMod val="75000"/>
                  </a:schemeClr>
                </a:outerShdw>
              </a:effectLst>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968246" y="1584698"/>
            <a:ext cx="6094476" cy="400110"/>
          </a:xfrm>
          <a:prstGeom prst="rect">
            <a:avLst/>
          </a:prstGeom>
          <a:noFill/>
        </p:spPr>
        <p:txBody>
          <a:bodyPr wrap="square">
            <a:spAutoFit/>
          </a:bodyPr>
          <a:lstStyle/>
          <a:p>
            <a:r>
              <a:rPr lang="en-IN" sz="2000" b="1" dirty="0">
                <a:latin typeface="Times New Roman" panose="02020603050405020304" pitchFamily="18" charset="0"/>
                <a:cs typeface="Times New Roman" panose="02020603050405020304" pitchFamily="18" charset="0"/>
              </a:rPr>
              <a:t>PROBLEM STATEMENT:</a:t>
            </a:r>
          </a:p>
        </p:txBody>
      </p:sp>
      <p:sp>
        <p:nvSpPr>
          <p:cNvPr id="5" name="TextBox 4"/>
          <p:cNvSpPr txBox="1"/>
          <p:nvPr/>
        </p:nvSpPr>
        <p:spPr>
          <a:xfrm>
            <a:off x="2544256" y="1984808"/>
            <a:ext cx="8227376" cy="2277610"/>
          </a:xfrm>
          <a:prstGeom prst="rect">
            <a:avLst/>
          </a:prstGeom>
          <a:noFill/>
        </p:spPr>
        <p:txBody>
          <a:bodyPr wrap="square">
            <a:noAutofit/>
          </a:bodyPr>
          <a:lstStyle/>
          <a:p>
            <a:pPr marL="285750" indent="-285750" algn="just">
              <a:buFont typeface="Wingdings" panose="05000000000000000000" pitchFamily="2" charset="2"/>
              <a:buChar char="Ø"/>
            </a:pPr>
            <a:endParaRPr lang="en-IN" dirty="0">
              <a:latin typeface="Times New Roman" panose="02020603050405020304" pitchFamily="18" charset="0"/>
              <a:cs typeface="Times New Roman" panose="02020603050405020304" pitchFamily="18" charset="0"/>
            </a:endParaRPr>
          </a:p>
          <a:p>
            <a:pPr algn="just"/>
            <a:endParaRPr lang="en-US" dirty="0">
              <a:latin typeface="Times New Roman" panose="02020603050405020304" pitchFamily="18" charset="0"/>
              <a:cs typeface="Times New Roman" panose="02020603050405020304" pitchFamily="18" charset="0"/>
            </a:endParaRPr>
          </a:p>
          <a:p>
            <a:pPr algn="just">
              <a:lnSpc>
                <a:spcPct val="200000"/>
              </a:lnSpc>
            </a:pPr>
            <a:r>
              <a:rPr lang="en-US" dirty="0">
                <a:latin typeface="Times New Roman" panose="02020603050405020304" pitchFamily="18" charset="0"/>
                <a:cs typeface="Times New Roman" panose="02020603050405020304" pitchFamily="18" charset="0"/>
              </a:rPr>
              <a:t>There are Invasive methods to detect anemia like…(Blood Test,</a:t>
            </a:r>
            <a:r>
              <a:rPr lang="en-IN" dirty="0">
                <a:latin typeface="Times New Roman" panose="02020603050405020304" pitchFamily="18" charset="0"/>
                <a:cs typeface="Times New Roman" panose="02020603050405020304" pitchFamily="18" charset="0"/>
              </a:rPr>
              <a:t> Bone Marrow Biopsy</a:t>
            </a:r>
            <a:r>
              <a:rPr lang="en-US" dirty="0">
                <a:latin typeface="Times New Roman" panose="02020603050405020304" pitchFamily="18" charset="0"/>
                <a:cs typeface="Times New Roman" panose="02020603050405020304" pitchFamily="18" charset="0"/>
              </a:rPr>
              <a:t>)</a:t>
            </a:r>
          </a:p>
          <a:p>
            <a:pPr algn="just">
              <a:lnSpc>
                <a:spcPct val="150000"/>
              </a:lnSpc>
            </a:pPr>
            <a:r>
              <a:rPr lang="en-US" dirty="0">
                <a:latin typeface="Times New Roman" panose="02020603050405020304" pitchFamily="18" charset="0"/>
                <a:cs typeface="Times New Roman" panose="02020603050405020304" pitchFamily="18" charset="0"/>
              </a:rPr>
              <a:t>But using those methods for children's is risky and painful. So a  NON-INVASIVE method is needed.</a:t>
            </a:r>
            <a:endParaRPr lang="en-IN" dirty="0">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Ø"/>
            </a:pPr>
            <a:endParaRPr lang="en-IN" dirty="0">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Ø"/>
            </a:pPr>
            <a:endParaRPr lang="en-IN"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572260" y="442595"/>
            <a:ext cx="6096000" cy="481965"/>
          </a:xfrm>
          <a:prstGeom prst="rect">
            <a:avLst/>
          </a:prstGeom>
          <a:noFill/>
        </p:spPr>
        <p:txBody>
          <a:bodyPr wrap="square">
            <a:noAutofit/>
          </a:bodyPr>
          <a:lstStyle/>
          <a:p>
            <a:r>
              <a:rPr lang="en-IN" sz="2400" b="1" dirty="0">
                <a:latin typeface="Times New Roman" panose="02020603050405020304" pitchFamily="18" charset="0"/>
                <a:cs typeface="Times New Roman" panose="02020603050405020304" pitchFamily="18" charset="0"/>
              </a:rPr>
              <a:t>LITERATURE SURVEY:</a:t>
            </a:r>
          </a:p>
        </p:txBody>
      </p:sp>
      <p:graphicFrame>
        <p:nvGraphicFramePr>
          <p:cNvPr id="8" name="Table 7"/>
          <p:cNvGraphicFramePr/>
          <p:nvPr>
            <p:custDataLst>
              <p:tags r:id="rId1"/>
            </p:custDataLst>
          </p:nvPr>
        </p:nvGraphicFramePr>
        <p:xfrm>
          <a:off x="493160" y="1117600"/>
          <a:ext cx="11381340" cy="5630545"/>
        </p:xfrm>
        <a:graphic>
          <a:graphicData uri="http://schemas.openxmlformats.org/drawingml/2006/table">
            <a:tbl>
              <a:tblPr firstRow="1" bandRow="1">
                <a:tableStyleId>{5C22544A-7EE6-4342-B048-85BDC9FD1C3A}</a:tableStyleId>
              </a:tblPr>
              <a:tblGrid>
                <a:gridCol w="3826110">
                  <a:extLst>
                    <a:ext uri="{9D8B030D-6E8A-4147-A177-3AD203B41FA5}">
                      <a16:colId xmlns:a16="http://schemas.microsoft.com/office/drawing/2014/main" val="20000"/>
                    </a:ext>
                  </a:extLst>
                </a:gridCol>
                <a:gridCol w="7555230">
                  <a:extLst>
                    <a:ext uri="{9D8B030D-6E8A-4147-A177-3AD203B41FA5}">
                      <a16:colId xmlns:a16="http://schemas.microsoft.com/office/drawing/2014/main" val="20001"/>
                    </a:ext>
                  </a:extLst>
                </a:gridCol>
              </a:tblGrid>
              <a:tr h="472440">
                <a:tc>
                  <a:txBody>
                    <a:bodyPr/>
                    <a:lstStyle/>
                    <a:p>
                      <a:pPr algn="just">
                        <a:buNone/>
                      </a:pPr>
                      <a:r>
                        <a:rPr lang="en-IN" altLang="en-US" dirty="0">
                          <a:latin typeface="Times New Roman" panose="02020603050405020304" pitchFamily="18" charset="0"/>
                          <a:cs typeface="Times New Roman" panose="02020603050405020304" pitchFamily="18" charset="0"/>
                        </a:rPr>
                        <a:t>PAPER DETAILS</a:t>
                      </a:r>
                    </a:p>
                  </a:txBody>
                  <a:tcPr/>
                </a:tc>
                <a:tc>
                  <a:txBody>
                    <a:bodyPr/>
                    <a:lstStyle/>
                    <a:p>
                      <a:pPr algn="just">
                        <a:buNone/>
                      </a:pPr>
                      <a:r>
                        <a:rPr lang="en-IN" altLang="en-US">
                          <a:latin typeface="Times New Roman" panose="02020603050405020304" pitchFamily="18" charset="0"/>
                          <a:cs typeface="Times New Roman" panose="02020603050405020304" pitchFamily="18" charset="0"/>
                        </a:rPr>
                        <a:t>PAPER DESCRIPTION</a:t>
                      </a:r>
                    </a:p>
                  </a:txBody>
                  <a:tcPr/>
                </a:tc>
                <a:extLst>
                  <a:ext uri="{0D108BD9-81ED-4DB2-BD59-A6C34878D82A}">
                    <a16:rowId xmlns:a16="http://schemas.microsoft.com/office/drawing/2014/main" val="10000"/>
                  </a:ext>
                </a:extLst>
              </a:tr>
              <a:tr h="2597785">
                <a:tc>
                  <a:txBody>
                    <a:bodyPr/>
                    <a:lstStyle/>
                    <a:p>
                      <a:pPr algn="just">
                        <a:buNone/>
                      </a:pPr>
                      <a:r>
                        <a:rPr lang="en-IN" altLang="en-US" dirty="0">
                          <a:latin typeface="Times New Roman" panose="02020603050405020304" pitchFamily="18" charset="0"/>
                          <a:cs typeface="Times New Roman" panose="02020603050405020304" pitchFamily="18" charset="0"/>
                        </a:rPr>
                        <a:t>Justice Williams Asare, William Leslie Brown-Acquaye ,et.al </a:t>
                      </a:r>
                      <a:r>
                        <a:rPr lang="en-US" altLang="en-US" dirty="0">
                          <a:latin typeface="Times New Roman" panose="02020603050405020304" pitchFamily="18" charset="0"/>
                          <a:cs typeface="Times New Roman" panose="02020603050405020304" pitchFamily="18" charset="0"/>
                        </a:rPr>
                        <a:t>"Application of machine learning approach for iron deficiency anemia using conjunctiva images"</a:t>
                      </a:r>
                      <a:r>
                        <a:rPr lang="en-IN" altLang="en-US" dirty="0">
                          <a:latin typeface="Times New Roman" panose="02020603050405020304" pitchFamily="18" charset="0"/>
                          <a:cs typeface="Times New Roman" panose="02020603050405020304" pitchFamily="18" charset="0"/>
                        </a:rPr>
                        <a:t>,Informatics in Medicine Unlocked , Elsevier, 19 January 2024.</a:t>
                      </a:r>
                    </a:p>
                  </a:txBody>
                  <a:tcPr/>
                </a:tc>
                <a:tc>
                  <a:txBody>
                    <a:bodyPr/>
                    <a:lstStyle/>
                    <a:p>
                      <a:pPr algn="just">
                        <a:buNone/>
                      </a:pPr>
                      <a:r>
                        <a:rPr lang="en-US" altLang="en-US" b="1" dirty="0">
                          <a:latin typeface="Times New Roman" panose="02020603050405020304" pitchFamily="18" charset="0"/>
                          <a:cs typeface="Times New Roman" panose="02020603050405020304" pitchFamily="18" charset="0"/>
                        </a:rPr>
                        <a:t>Work:</a:t>
                      </a:r>
                      <a:r>
                        <a:rPr lang="en-US" altLang="en-US" dirty="0">
                          <a:latin typeface="Times New Roman" panose="02020603050405020304" pitchFamily="18" charset="0"/>
                          <a:cs typeface="Times New Roman" panose="02020603050405020304" pitchFamily="18" charset="0"/>
                        </a:rPr>
                        <a:t> In this work, we used images of the</a:t>
                      </a:r>
                      <a:r>
                        <a:rPr lang="en-IN" altLang="en-US" dirty="0">
                          <a:latin typeface="Times New Roman" panose="02020603050405020304" pitchFamily="18" charset="0"/>
                          <a:cs typeface="Times New Roman" panose="02020603050405020304" pitchFamily="18" charset="0"/>
                        </a:rPr>
                        <a:t> </a:t>
                      </a:r>
                      <a:r>
                        <a:rPr lang="en-US" altLang="en-US" dirty="0">
                          <a:latin typeface="Times New Roman" panose="02020603050405020304" pitchFamily="18" charset="0"/>
                          <a:cs typeface="Times New Roman" panose="02020603050405020304" pitchFamily="18" charset="0"/>
                        </a:rPr>
                        <a:t>conjunctiva of the eyes to examine how well convolutional neural network, k-nearest neighbor, decision tree, Naive Bayes, </a:t>
                      </a:r>
                      <a:r>
                        <a:rPr lang="en-IN" altLang="en-US" dirty="0">
                          <a:latin typeface="Times New Roman" panose="02020603050405020304" pitchFamily="18" charset="0"/>
                          <a:cs typeface="Times New Roman" panose="02020603050405020304" pitchFamily="18" charset="0"/>
                        </a:rPr>
                        <a:t>&amp; SVM</a:t>
                      </a:r>
                      <a:r>
                        <a:rPr lang="en-US" altLang="en-US" dirty="0">
                          <a:latin typeface="Times New Roman" panose="02020603050405020304" pitchFamily="18" charset="0"/>
                          <a:cs typeface="Times New Roman" panose="02020603050405020304" pitchFamily="18" charset="0"/>
                        </a:rPr>
                        <a:t> performed in detecting anemia.</a:t>
                      </a:r>
                    </a:p>
                    <a:p>
                      <a:pPr algn="just">
                        <a:buNone/>
                      </a:pPr>
                      <a:r>
                        <a:rPr lang="en-US" altLang="en-US" b="1" dirty="0">
                          <a:latin typeface="Times New Roman" panose="02020603050405020304" pitchFamily="18" charset="0"/>
                          <a:cs typeface="Times New Roman" panose="02020603050405020304" pitchFamily="18" charset="0"/>
                        </a:rPr>
                        <a:t>Algorithm:</a:t>
                      </a:r>
                      <a:r>
                        <a:rPr lang="en-US" altLang="en-US" dirty="0">
                          <a:latin typeface="Times New Roman" panose="02020603050405020304" pitchFamily="18" charset="0"/>
                          <a:cs typeface="Times New Roman" panose="02020603050405020304" pitchFamily="18" charset="0"/>
                        </a:rPr>
                        <a:t> Machine learning algorithms like CNN, Decision Tree.</a:t>
                      </a:r>
                    </a:p>
                    <a:p>
                      <a:pPr algn="just">
                        <a:buNone/>
                      </a:pPr>
                      <a:r>
                        <a:rPr lang="en-US" altLang="en-US" b="1" dirty="0">
                          <a:latin typeface="Times New Roman" panose="02020603050405020304" pitchFamily="18" charset="0"/>
                          <a:cs typeface="Times New Roman" panose="02020603050405020304" pitchFamily="18" charset="0"/>
                        </a:rPr>
                        <a:t>Advantages : </a:t>
                      </a:r>
                      <a:r>
                        <a:rPr lang="en-US" altLang="en-US" b="0" dirty="0">
                          <a:latin typeface="Times New Roman" panose="02020603050405020304" pitchFamily="18" charset="0"/>
                          <a:cs typeface="Times New Roman" panose="02020603050405020304" pitchFamily="18" charset="0"/>
                        </a:rPr>
                        <a:t>Machine</a:t>
                      </a:r>
                      <a:r>
                        <a:rPr lang="en-IN" altLang="en-US" dirty="0">
                          <a:latin typeface="Times New Roman" panose="02020603050405020304" pitchFamily="18" charset="0"/>
                          <a:cs typeface="Times New Roman" panose="02020603050405020304" pitchFamily="18" charset="0"/>
                        </a:rPr>
                        <a:t> learning</a:t>
                      </a:r>
                      <a:r>
                        <a:rPr lang="en-US" altLang="en-US" dirty="0">
                          <a:latin typeface="Times New Roman" panose="02020603050405020304" pitchFamily="18" charset="0"/>
                          <a:cs typeface="Times New Roman" panose="02020603050405020304" pitchFamily="18" charset="0"/>
                        </a:rPr>
                        <a:t> models can process images quickly, enabling rapid</a:t>
                      </a:r>
                      <a:r>
                        <a:rPr lang="en-IN" altLang="en-US" dirty="0">
                          <a:latin typeface="Times New Roman" panose="02020603050405020304" pitchFamily="18" charset="0"/>
                          <a:cs typeface="Times New Roman" panose="02020603050405020304" pitchFamily="18" charset="0"/>
                        </a:rPr>
                        <a:t> </a:t>
                      </a:r>
                      <a:r>
                        <a:rPr lang="en-US" altLang="en-US" dirty="0">
                          <a:latin typeface="Times New Roman" panose="02020603050405020304" pitchFamily="18" charset="0"/>
                          <a:cs typeface="Times New Roman" panose="02020603050405020304" pitchFamily="18" charset="0"/>
                        </a:rPr>
                        <a:t>screening of large populations for IDA.</a:t>
                      </a:r>
                    </a:p>
                    <a:p>
                      <a:pPr algn="just">
                        <a:buNone/>
                      </a:pPr>
                      <a:r>
                        <a:rPr lang="en-US" altLang="en-US" b="1" dirty="0">
                          <a:latin typeface="Times New Roman" panose="02020603050405020304" pitchFamily="18" charset="0"/>
                          <a:cs typeface="Times New Roman" panose="02020603050405020304" pitchFamily="18" charset="0"/>
                        </a:rPr>
                        <a:t>Disadvantages:</a:t>
                      </a:r>
                      <a:r>
                        <a:rPr lang="en-US" altLang="en-US" dirty="0">
                          <a:latin typeface="Times New Roman" panose="02020603050405020304" pitchFamily="18" charset="0"/>
                          <a:cs typeface="Times New Roman" panose="02020603050405020304" pitchFamily="18" charset="0"/>
                        </a:rPr>
                        <a:t> The accuracy of </a:t>
                      </a:r>
                      <a:r>
                        <a:rPr lang="en-IN" altLang="en-US" dirty="0">
                          <a:latin typeface="Times New Roman" panose="02020603050405020304" pitchFamily="18" charset="0"/>
                          <a:cs typeface="Times New Roman" panose="02020603050405020304" pitchFamily="18" charset="0"/>
                        </a:rPr>
                        <a:t>Machine learning</a:t>
                      </a:r>
                      <a:r>
                        <a:rPr lang="en-US" altLang="en-US" dirty="0">
                          <a:latin typeface="Times New Roman" panose="02020603050405020304" pitchFamily="18" charset="0"/>
                          <a:cs typeface="Times New Roman" panose="02020603050405020304" pitchFamily="18" charset="0"/>
                        </a:rPr>
                        <a:t> models heavily relies on the quality and consistency of the images used for training.</a:t>
                      </a:r>
                    </a:p>
                  </a:txBody>
                  <a:tcPr/>
                </a:tc>
                <a:extLst>
                  <a:ext uri="{0D108BD9-81ED-4DB2-BD59-A6C34878D82A}">
                    <a16:rowId xmlns:a16="http://schemas.microsoft.com/office/drawing/2014/main" val="10001"/>
                  </a:ext>
                </a:extLst>
              </a:tr>
              <a:tr h="2251075">
                <a:tc>
                  <a:txBody>
                    <a:bodyPr/>
                    <a:lstStyle/>
                    <a:p>
                      <a:pPr algn="just">
                        <a:buNone/>
                      </a:pPr>
                      <a:r>
                        <a:rPr lang="en-IN" altLang="en-US" dirty="0">
                          <a:latin typeface="Times New Roman" panose="02020603050405020304" pitchFamily="18" charset="0"/>
                          <a:cs typeface="Times New Roman" panose="02020603050405020304" pitchFamily="18" charset="0"/>
                        </a:rPr>
                        <a:t>Justice Williams Asare, Peter Appiahene, et.al,</a:t>
                      </a:r>
                      <a:r>
                        <a:rPr lang="en-US" altLang="en-US" dirty="0">
                          <a:latin typeface="Times New Roman" panose="02020603050405020304" pitchFamily="18" charset="0"/>
                          <a:cs typeface="Times New Roman" panose="02020603050405020304" pitchFamily="18" charset="0"/>
                        </a:rPr>
                        <a:t>"</a:t>
                      </a:r>
                      <a:r>
                        <a:rPr lang="en-IN" altLang="en-US" dirty="0">
                          <a:latin typeface="Times New Roman" panose="02020603050405020304" pitchFamily="18" charset="0"/>
                          <a:cs typeface="Times New Roman" panose="02020603050405020304" pitchFamily="18" charset="0"/>
                        </a:rPr>
                        <a:t>Detection of </a:t>
                      </a:r>
                      <a:r>
                        <a:rPr lang="en-IN" altLang="en-US" dirty="0" err="1">
                          <a:latin typeface="Times New Roman" panose="02020603050405020304" pitchFamily="18" charset="0"/>
                          <a:cs typeface="Times New Roman" panose="02020603050405020304" pitchFamily="18" charset="0"/>
                        </a:rPr>
                        <a:t>anemia</a:t>
                      </a:r>
                      <a:r>
                        <a:rPr lang="en-IN" altLang="en-US" dirty="0">
                          <a:latin typeface="Times New Roman" panose="02020603050405020304" pitchFamily="18" charset="0"/>
                          <a:cs typeface="Times New Roman" panose="02020603050405020304" pitchFamily="18" charset="0"/>
                        </a:rPr>
                        <a:t> using medical images: A comparative study of machine learning learing algorithm-A systematic literature review</a:t>
                      </a:r>
                      <a:r>
                        <a:rPr lang="en-US" altLang="en-US" dirty="0">
                          <a:latin typeface="Times New Roman" panose="02020603050405020304" pitchFamily="18" charset="0"/>
                          <a:cs typeface="Times New Roman" panose="02020603050405020304" pitchFamily="18" charset="0"/>
                        </a:rPr>
                        <a:t>"</a:t>
                      </a:r>
                      <a:r>
                        <a:rPr lang="en-IN" altLang="en-US" dirty="0">
                          <a:latin typeface="Times New Roman" panose="02020603050405020304" pitchFamily="18" charset="0"/>
                          <a:cs typeface="Times New Roman" panose="02020603050405020304" pitchFamily="18" charset="0"/>
                        </a:rPr>
                        <a:t>, Informatics in Medicine Unlocked , Elsevier, 26 May 2023.</a:t>
                      </a:r>
                      <a:endParaRPr lang="en-US" altLang="en-US" dirty="0">
                        <a:latin typeface="Times New Roman" panose="02020603050405020304" pitchFamily="18" charset="0"/>
                        <a:cs typeface="Times New Roman" panose="02020603050405020304" pitchFamily="18" charset="0"/>
                      </a:endParaRPr>
                    </a:p>
                  </a:txBody>
                  <a:tcPr/>
                </a:tc>
                <a:tc>
                  <a:txBody>
                    <a:bodyPr/>
                    <a:lstStyle/>
                    <a:p>
                      <a:pPr algn="just">
                        <a:buNone/>
                      </a:pPr>
                      <a:r>
                        <a:rPr lang="en-US" altLang="en-US" b="1" dirty="0">
                          <a:latin typeface="Times New Roman" panose="02020603050405020304" pitchFamily="18" charset="0"/>
                          <a:cs typeface="Times New Roman" panose="02020603050405020304" pitchFamily="18" charset="0"/>
                        </a:rPr>
                        <a:t>Work: </a:t>
                      </a:r>
                      <a:r>
                        <a:rPr lang="en-US" altLang="en-US" dirty="0">
                          <a:latin typeface="Times New Roman" panose="02020603050405020304" pitchFamily="18" charset="0"/>
                          <a:cs typeface="Times New Roman" panose="02020603050405020304" pitchFamily="18" charset="0"/>
                        </a:rPr>
                        <a:t>This implies that it is crucial to prevent anemia in adolescent girls and women before and during pregnancy as a part of programs to eliminate stunting in children.</a:t>
                      </a:r>
                    </a:p>
                    <a:p>
                      <a:pPr algn="just">
                        <a:buNone/>
                      </a:pPr>
                      <a:r>
                        <a:rPr lang="en-US" altLang="en-US" b="1" dirty="0">
                          <a:latin typeface="Times New Roman" panose="02020603050405020304" pitchFamily="18" charset="0"/>
                          <a:cs typeface="Times New Roman" panose="02020603050405020304" pitchFamily="18" charset="0"/>
                        </a:rPr>
                        <a:t>Algorithm: </a:t>
                      </a:r>
                      <a:r>
                        <a:rPr lang="en-US" altLang="en-US" dirty="0">
                          <a:latin typeface="Times New Roman" panose="02020603050405020304" pitchFamily="18" charset="0"/>
                          <a:cs typeface="Times New Roman" panose="02020603050405020304" pitchFamily="18" charset="0"/>
                        </a:rPr>
                        <a:t>Random forest, XG Boost.</a:t>
                      </a:r>
                    </a:p>
                    <a:p>
                      <a:pPr algn="just">
                        <a:buNone/>
                      </a:pPr>
                      <a:r>
                        <a:rPr lang="en-US" altLang="en-US" b="1" dirty="0">
                          <a:latin typeface="Times New Roman" panose="02020603050405020304" pitchFamily="18" charset="0"/>
                          <a:cs typeface="Times New Roman" panose="02020603050405020304" pitchFamily="18" charset="0"/>
                        </a:rPr>
                        <a:t>Advantages:</a:t>
                      </a:r>
                      <a:r>
                        <a:rPr lang="en-US" altLang="en-US" dirty="0">
                          <a:latin typeface="Times New Roman" panose="02020603050405020304" pitchFamily="18" charset="0"/>
                          <a:cs typeface="Times New Roman" panose="02020603050405020304" pitchFamily="18" charset="0"/>
                        </a:rPr>
                        <a:t> The review can highlight gaps in current knowledge, helping to direct future research efforts and interventions in maternal and child health.</a:t>
                      </a:r>
                    </a:p>
                    <a:p>
                      <a:pPr algn="just">
                        <a:buNone/>
                      </a:pPr>
                      <a:r>
                        <a:rPr lang="en-US" altLang="en-US" b="1" dirty="0">
                          <a:latin typeface="Times New Roman" panose="02020603050405020304" pitchFamily="18" charset="0"/>
                          <a:cs typeface="Times New Roman" panose="02020603050405020304" pitchFamily="18" charset="0"/>
                        </a:rPr>
                        <a:t>Disadvantages: </a:t>
                      </a:r>
                      <a:r>
                        <a:rPr lang="en-US" altLang="en-US" dirty="0">
                          <a:latin typeface="Times New Roman" panose="02020603050405020304" pitchFamily="18" charset="0"/>
                          <a:cs typeface="Times New Roman" panose="02020603050405020304" pitchFamily="18" charset="0"/>
                        </a:rPr>
                        <a:t>The variability in study</a:t>
                      </a:r>
                      <a:r>
                        <a:rPr lang="en-IN" altLang="en-US" dirty="0">
                          <a:latin typeface="Times New Roman" panose="02020603050405020304" pitchFamily="18" charset="0"/>
                          <a:cs typeface="Times New Roman" panose="02020603050405020304" pitchFamily="18" charset="0"/>
                        </a:rPr>
                        <a:t> </a:t>
                      </a:r>
                      <a:r>
                        <a:rPr lang="en-US" altLang="en-US" dirty="0">
                          <a:latin typeface="Times New Roman" panose="02020603050405020304" pitchFamily="18" charset="0"/>
                          <a:cs typeface="Times New Roman" panose="02020603050405020304" pitchFamily="18" charset="0"/>
                        </a:rPr>
                        <a:t>designs, populations, and methodologies can complicate the synthesis of results and affect the reliability of conclusions.</a:t>
                      </a:r>
                    </a:p>
                  </a:txBody>
                  <a:tcPr/>
                </a:tc>
                <a:extLst>
                  <a:ext uri="{0D108BD9-81ED-4DB2-BD59-A6C34878D82A}">
                    <a16:rowId xmlns:a16="http://schemas.microsoft.com/office/drawing/2014/main" val="10002"/>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p:cNvGraphicFramePr/>
          <p:nvPr>
            <p:custDataLst>
              <p:tags r:id="rId1"/>
            </p:custDataLst>
          </p:nvPr>
        </p:nvGraphicFramePr>
        <p:xfrm>
          <a:off x="976630" y="415925"/>
          <a:ext cx="10939780" cy="6026150"/>
        </p:xfrm>
        <a:graphic>
          <a:graphicData uri="http://schemas.openxmlformats.org/drawingml/2006/table">
            <a:tbl>
              <a:tblPr firstRow="1" bandRow="1">
                <a:tableStyleId>{5C22544A-7EE6-4342-B048-85BDC9FD1C3A}</a:tableStyleId>
              </a:tblPr>
              <a:tblGrid>
                <a:gridCol w="3223260">
                  <a:extLst>
                    <a:ext uri="{9D8B030D-6E8A-4147-A177-3AD203B41FA5}">
                      <a16:colId xmlns:a16="http://schemas.microsoft.com/office/drawing/2014/main" val="20000"/>
                    </a:ext>
                  </a:extLst>
                </a:gridCol>
                <a:gridCol w="7716520">
                  <a:extLst>
                    <a:ext uri="{9D8B030D-6E8A-4147-A177-3AD203B41FA5}">
                      <a16:colId xmlns:a16="http://schemas.microsoft.com/office/drawing/2014/main" val="20001"/>
                    </a:ext>
                  </a:extLst>
                </a:gridCol>
              </a:tblGrid>
              <a:tr h="3213100">
                <a:tc>
                  <a:txBody>
                    <a:bodyPr/>
                    <a:lstStyle/>
                    <a:p>
                      <a:pPr algn="just">
                        <a:buNone/>
                      </a:pPr>
                      <a:r>
                        <a:rPr lang="en-US" altLang="en-US" b="0" dirty="0">
                          <a:solidFill>
                            <a:schemeClr val="tx1"/>
                          </a:solidFill>
                          <a:latin typeface="Times New Roman" panose="02020603050405020304" pitchFamily="18" charset="0"/>
                          <a:cs typeface="Times New Roman" panose="02020603050405020304" pitchFamily="18" charset="0"/>
                        </a:rPr>
                        <a:t> </a:t>
                      </a:r>
                      <a:r>
                        <a:rPr lang="en-IN" altLang="en-US" b="0" dirty="0">
                          <a:solidFill>
                            <a:schemeClr val="tx1"/>
                          </a:solidFill>
                          <a:latin typeface="Times New Roman" panose="02020603050405020304" pitchFamily="18" charset="0"/>
                          <a:cs typeface="Times New Roman" panose="02020603050405020304" pitchFamily="18" charset="0"/>
                        </a:rPr>
                        <a:t>Sana Maidoumi, Charif Radouan Ouaziz, et.al,</a:t>
                      </a:r>
                    </a:p>
                    <a:p>
                      <a:pPr algn="just">
                        <a:buNone/>
                      </a:pPr>
                      <a:r>
                        <a:rPr lang="en-US" altLang="en-US" b="0" dirty="0">
                          <a:solidFill>
                            <a:schemeClr val="tx1"/>
                          </a:solidFill>
                          <a:latin typeface="Times New Roman" panose="02020603050405020304" pitchFamily="18" charset="0"/>
                          <a:cs typeface="Times New Roman" panose="02020603050405020304" pitchFamily="18" charset="0"/>
                        </a:rPr>
                        <a:t> "Iron deficiency and cognitive impairment in children with low blood lead levels"</a:t>
                      </a:r>
                      <a:r>
                        <a:rPr lang="en-IN" altLang="en-US" b="0" dirty="0">
                          <a:solidFill>
                            <a:schemeClr val="tx1"/>
                          </a:solidFill>
                          <a:latin typeface="Times New Roman" panose="02020603050405020304" pitchFamily="18" charset="0"/>
                          <a:cs typeface="Times New Roman" panose="02020603050405020304" pitchFamily="18" charset="0"/>
                        </a:rPr>
                        <a:t>, Toxicology Reports , Elsevier, 23 August 2022.</a:t>
                      </a:r>
                    </a:p>
                  </a:txBody>
                  <a:tcPr>
                    <a:solidFill>
                      <a:schemeClr val="accent3">
                        <a:lumMod val="20000"/>
                        <a:lumOff val="80000"/>
                      </a:schemeClr>
                    </a:solidFill>
                  </a:tcPr>
                </a:tc>
                <a:tc>
                  <a:txBody>
                    <a:bodyPr/>
                    <a:lstStyle/>
                    <a:p>
                      <a:pPr algn="just">
                        <a:buNone/>
                      </a:pPr>
                      <a:r>
                        <a:rPr lang="en-US" altLang="en-US" b="1" dirty="0">
                          <a:solidFill>
                            <a:schemeClr val="tx1"/>
                          </a:solidFill>
                          <a:latin typeface="Times New Roman" panose="02020603050405020304" pitchFamily="18" charset="0"/>
                          <a:cs typeface="Times New Roman" panose="02020603050405020304" pitchFamily="18" charset="0"/>
                        </a:rPr>
                        <a:t>Work:</a:t>
                      </a:r>
                      <a:r>
                        <a:rPr lang="en-US" altLang="en-US" b="0" dirty="0">
                          <a:solidFill>
                            <a:schemeClr val="tx1"/>
                          </a:solidFill>
                          <a:latin typeface="Times New Roman" panose="02020603050405020304" pitchFamily="18" charset="0"/>
                          <a:cs typeface="Times New Roman" panose="02020603050405020304" pitchFamily="18" charset="0"/>
                        </a:rPr>
                        <a:t> After extracting the relevant emotions from the collected tweets, we attempted to determine the types of emotions that are associated with anemia. The main emotions of anger, fear, sadness, and joy were extracted from both anemia</a:t>
                      </a:r>
                      <a:r>
                        <a:rPr lang="en-IN" altLang="en-US" b="0" dirty="0">
                          <a:solidFill>
                            <a:schemeClr val="tx1"/>
                          </a:solidFill>
                          <a:latin typeface="Times New Roman" panose="02020603050405020304" pitchFamily="18" charset="0"/>
                          <a:cs typeface="Times New Roman" panose="02020603050405020304" pitchFamily="18" charset="0"/>
                        </a:rPr>
                        <a:t> &amp;</a:t>
                      </a:r>
                      <a:r>
                        <a:rPr lang="en-US" altLang="en-US" b="0" dirty="0">
                          <a:solidFill>
                            <a:schemeClr val="tx1"/>
                          </a:solidFill>
                          <a:latin typeface="Times New Roman" panose="02020603050405020304" pitchFamily="18" charset="0"/>
                          <a:cs typeface="Times New Roman" panose="02020603050405020304" pitchFamily="18" charset="0"/>
                        </a:rPr>
                        <a:t> non-anemia groups</a:t>
                      </a:r>
                      <a:r>
                        <a:rPr lang="en-IN" altLang="en-US" b="0" dirty="0">
                          <a:solidFill>
                            <a:schemeClr val="tx1"/>
                          </a:solidFill>
                          <a:latin typeface="Times New Roman" panose="02020603050405020304" pitchFamily="18" charset="0"/>
                          <a:cs typeface="Times New Roman" panose="02020603050405020304" pitchFamily="18" charset="0"/>
                        </a:rPr>
                        <a:t>.</a:t>
                      </a:r>
                    </a:p>
                    <a:p>
                      <a:pPr algn="just">
                        <a:buNone/>
                      </a:pPr>
                      <a:r>
                        <a:rPr lang="en-US" altLang="en-US" b="1" dirty="0">
                          <a:solidFill>
                            <a:schemeClr val="tx1"/>
                          </a:solidFill>
                          <a:latin typeface="Times New Roman" panose="02020603050405020304" pitchFamily="18" charset="0"/>
                          <a:cs typeface="Times New Roman" panose="02020603050405020304" pitchFamily="18" charset="0"/>
                        </a:rPr>
                        <a:t>Algorithm: </a:t>
                      </a:r>
                      <a:r>
                        <a:rPr lang="en-US" altLang="en-US" b="0" dirty="0">
                          <a:solidFill>
                            <a:schemeClr val="tx1"/>
                          </a:solidFill>
                          <a:latin typeface="Times New Roman" panose="02020603050405020304" pitchFamily="18" charset="0"/>
                          <a:cs typeface="Times New Roman" panose="02020603050405020304" pitchFamily="18" charset="0"/>
                        </a:rPr>
                        <a:t>Naïve Bayes</a:t>
                      </a:r>
                    </a:p>
                    <a:p>
                      <a:pPr algn="just">
                        <a:buNone/>
                      </a:pPr>
                      <a:r>
                        <a:rPr lang="en-US" altLang="en-US" b="1" dirty="0">
                          <a:solidFill>
                            <a:schemeClr val="tx1"/>
                          </a:solidFill>
                          <a:latin typeface="Times New Roman" panose="02020603050405020304" pitchFamily="18" charset="0"/>
                          <a:cs typeface="Times New Roman" panose="02020603050405020304" pitchFamily="18" charset="0"/>
                        </a:rPr>
                        <a:t>Advantages:</a:t>
                      </a:r>
                      <a:r>
                        <a:rPr lang="en-US" altLang="en-US" b="0" dirty="0">
                          <a:solidFill>
                            <a:schemeClr val="tx1"/>
                          </a:solidFill>
                          <a:latin typeface="Times New Roman" panose="02020603050405020304" pitchFamily="18" charset="0"/>
                          <a:cs typeface="Times New Roman" panose="02020603050405020304" pitchFamily="18" charset="0"/>
                        </a:rPr>
                        <a:t> Twitter provides a continuous</a:t>
                      </a:r>
                      <a:r>
                        <a:rPr lang="en-IN" altLang="en-US" b="0" dirty="0">
                          <a:solidFill>
                            <a:schemeClr val="tx1"/>
                          </a:solidFill>
                          <a:latin typeface="Times New Roman" panose="02020603050405020304" pitchFamily="18" charset="0"/>
                          <a:cs typeface="Times New Roman" panose="02020603050405020304" pitchFamily="18" charset="0"/>
                        </a:rPr>
                        <a:t> </a:t>
                      </a:r>
                      <a:r>
                        <a:rPr lang="en-US" altLang="en-US" b="0" dirty="0">
                          <a:solidFill>
                            <a:schemeClr val="tx1"/>
                          </a:solidFill>
                          <a:latin typeface="Times New Roman" panose="02020603050405020304" pitchFamily="18" charset="0"/>
                          <a:cs typeface="Times New Roman" panose="02020603050405020304" pitchFamily="18" charset="0"/>
                        </a:rPr>
                        <a:t>stream of real-time data, allowing for timely identification of discussions and trends. related to anemia, which can facilitate early recognition of potential outbreaks or awareness needs.</a:t>
                      </a:r>
                    </a:p>
                    <a:p>
                      <a:pPr algn="just">
                        <a:buNone/>
                      </a:pPr>
                      <a:r>
                        <a:rPr lang="en-US" altLang="en-US" b="1" dirty="0">
                          <a:solidFill>
                            <a:schemeClr val="tx1"/>
                          </a:solidFill>
                          <a:latin typeface="Times New Roman" panose="02020603050405020304" pitchFamily="18" charset="0"/>
                          <a:cs typeface="Times New Roman" panose="02020603050405020304" pitchFamily="18" charset="0"/>
                        </a:rPr>
                        <a:t>Disadvantages: </a:t>
                      </a:r>
                      <a:r>
                        <a:rPr lang="en-US" altLang="en-US" b="0" dirty="0">
                          <a:solidFill>
                            <a:schemeClr val="tx1"/>
                          </a:solidFill>
                          <a:latin typeface="Times New Roman" panose="02020603050405020304" pitchFamily="18" charset="0"/>
                          <a:cs typeface="Times New Roman" panose="02020603050405020304" pitchFamily="18" charset="0"/>
                        </a:rPr>
                        <a:t>Social media data can be</a:t>
                      </a:r>
                      <a:r>
                        <a:rPr lang="en-IN" altLang="en-US" b="0" dirty="0">
                          <a:solidFill>
                            <a:schemeClr val="tx1"/>
                          </a:solidFill>
                          <a:latin typeface="Times New Roman" panose="02020603050405020304" pitchFamily="18" charset="0"/>
                          <a:cs typeface="Times New Roman" panose="02020603050405020304" pitchFamily="18" charset="0"/>
                        </a:rPr>
                        <a:t> </a:t>
                      </a:r>
                      <a:r>
                        <a:rPr lang="en-US" altLang="en-US" b="0" dirty="0">
                          <a:solidFill>
                            <a:schemeClr val="tx1"/>
                          </a:solidFill>
                          <a:latin typeface="Times New Roman" panose="02020603050405020304" pitchFamily="18" charset="0"/>
                          <a:cs typeface="Times New Roman" panose="02020603050405020304" pitchFamily="18" charset="0"/>
                        </a:rPr>
                        <a:t>noisy and unstructured, leading to challenges in accurately identifying relevant posts and determining the context of discussions around anemia.</a:t>
                      </a:r>
                    </a:p>
                  </a:txBody>
                  <a:tcPr>
                    <a:solidFill>
                      <a:schemeClr val="accent3">
                        <a:lumMod val="20000"/>
                        <a:lumOff val="80000"/>
                      </a:schemeClr>
                    </a:solidFill>
                  </a:tcPr>
                </a:tc>
                <a:extLst>
                  <a:ext uri="{0D108BD9-81ED-4DB2-BD59-A6C34878D82A}">
                    <a16:rowId xmlns:a16="http://schemas.microsoft.com/office/drawing/2014/main" val="10000"/>
                  </a:ext>
                </a:extLst>
              </a:tr>
              <a:tr h="2813050">
                <a:tc>
                  <a:txBody>
                    <a:bodyPr/>
                    <a:lstStyle/>
                    <a:p>
                      <a:pPr algn="just">
                        <a:buNone/>
                      </a:pPr>
                      <a:r>
                        <a:rPr lang="en-IN" altLang="en-US" dirty="0">
                          <a:latin typeface="Times New Roman" panose="02020603050405020304" pitchFamily="18" charset="0"/>
                          <a:cs typeface="Times New Roman" panose="02020603050405020304" pitchFamily="18" charset="0"/>
                        </a:rPr>
                        <a:t>Tuba Karagul Yildiz, Nilufer Yurtay, Birgul Onec,</a:t>
                      </a:r>
                      <a:r>
                        <a:rPr lang="en-US" altLang="en-US" dirty="0">
                          <a:latin typeface="Times New Roman" panose="02020603050405020304" pitchFamily="18" charset="0"/>
                          <a:cs typeface="Times New Roman" panose="02020603050405020304" pitchFamily="18" charset="0"/>
                        </a:rPr>
                        <a:t>"Classifying anemia types using artificial learning methods"</a:t>
                      </a:r>
                      <a:r>
                        <a:rPr lang="en-IN" altLang="en-US" dirty="0">
                          <a:latin typeface="Times New Roman" panose="02020603050405020304" pitchFamily="18" charset="0"/>
                          <a:cs typeface="Times New Roman" panose="02020603050405020304" pitchFamily="18" charset="0"/>
                        </a:rPr>
                        <a:t>,</a:t>
                      </a:r>
                      <a:r>
                        <a:rPr lang="en-US" altLang="en-US" dirty="0">
                          <a:latin typeface="Times New Roman" panose="02020603050405020304" pitchFamily="18" charset="0"/>
                          <a:cs typeface="Times New Roman" panose="02020603050405020304" pitchFamily="18" charset="0"/>
                        </a:rPr>
                        <a:t> </a:t>
                      </a:r>
                      <a:r>
                        <a:rPr lang="en-IN" altLang="en-US" dirty="0">
                          <a:latin typeface="Times New Roman" panose="02020603050405020304" pitchFamily="18" charset="0"/>
                          <a:cs typeface="Times New Roman" panose="02020603050405020304" pitchFamily="18" charset="0"/>
                        </a:rPr>
                        <a:t>Engineering Science and Technology</a:t>
                      </a:r>
                      <a:r>
                        <a:rPr lang="en-IN" altLang="en-US" b="0" dirty="0">
                          <a:solidFill>
                            <a:schemeClr val="tx1"/>
                          </a:solidFill>
                          <a:latin typeface="Times New Roman" panose="02020603050405020304" pitchFamily="18" charset="0"/>
                          <a:cs typeface="Times New Roman" panose="02020603050405020304" pitchFamily="18" charset="0"/>
                        </a:rPr>
                        <a:t> , an international journal, Elsevier, 7 January 2021.</a:t>
                      </a:r>
                      <a:endParaRPr lang="en-US" altLang="en-US" dirty="0">
                        <a:latin typeface="Times New Roman" panose="02020603050405020304" pitchFamily="18" charset="0"/>
                        <a:cs typeface="Times New Roman" panose="02020603050405020304" pitchFamily="18" charset="0"/>
                      </a:endParaRPr>
                    </a:p>
                  </a:txBody>
                  <a:tcPr>
                    <a:solidFill>
                      <a:schemeClr val="accent3">
                        <a:lumMod val="20000"/>
                        <a:lumOff val="80000"/>
                      </a:schemeClr>
                    </a:solidFill>
                  </a:tcPr>
                </a:tc>
                <a:tc>
                  <a:txBody>
                    <a:bodyPr/>
                    <a:lstStyle/>
                    <a:p>
                      <a:pPr algn="just">
                        <a:buNone/>
                      </a:pPr>
                      <a:r>
                        <a:rPr lang="en-US" altLang="en-US" b="1" dirty="0">
                          <a:latin typeface="Times New Roman" panose="02020603050405020304" pitchFamily="18" charset="0"/>
                          <a:cs typeface="Times New Roman" panose="02020603050405020304" pitchFamily="18" charset="0"/>
                        </a:rPr>
                        <a:t>Work:</a:t>
                      </a:r>
                      <a:r>
                        <a:rPr lang="en-US" altLang="en-US" dirty="0">
                          <a:latin typeface="Times New Roman" panose="02020603050405020304" pitchFamily="18" charset="0"/>
                          <a:cs typeface="Times New Roman" panose="02020603050405020304" pitchFamily="18" charset="0"/>
                        </a:rPr>
                        <a:t> The present work proposes a system that will enable the recognition of anemia under general clinical practice conditions for this system.</a:t>
                      </a:r>
                    </a:p>
                    <a:p>
                      <a:pPr algn="just">
                        <a:buNone/>
                      </a:pPr>
                      <a:r>
                        <a:rPr lang="en-US" altLang="en-US" b="1" dirty="0">
                          <a:latin typeface="Times New Roman" panose="02020603050405020304" pitchFamily="18" charset="0"/>
                          <a:cs typeface="Times New Roman" panose="02020603050405020304" pitchFamily="18" charset="0"/>
                        </a:rPr>
                        <a:t>Algorithm:</a:t>
                      </a:r>
                      <a:r>
                        <a:rPr lang="en-US" altLang="en-US" dirty="0">
                          <a:latin typeface="Times New Roman" panose="02020603050405020304" pitchFamily="18" charset="0"/>
                          <a:cs typeface="Times New Roman" panose="02020603050405020304" pitchFamily="18" charset="0"/>
                        </a:rPr>
                        <a:t> Artificial neural</a:t>
                      </a:r>
                      <a:r>
                        <a:rPr lang="en-IN" altLang="en-US" dirty="0">
                          <a:latin typeface="Times New Roman" panose="02020603050405020304" pitchFamily="18" charset="0"/>
                          <a:cs typeface="Times New Roman" panose="02020603050405020304" pitchFamily="18" charset="0"/>
                        </a:rPr>
                        <a:t> </a:t>
                      </a:r>
                      <a:r>
                        <a:rPr lang="en-US" altLang="en-US" dirty="0">
                          <a:latin typeface="Times New Roman" panose="02020603050405020304" pitchFamily="18" charset="0"/>
                          <a:cs typeface="Times New Roman" panose="02020603050405020304" pitchFamily="18" charset="0"/>
                        </a:rPr>
                        <a:t>network(ANN)</a:t>
                      </a:r>
                    </a:p>
                    <a:p>
                      <a:pPr algn="just">
                        <a:buNone/>
                      </a:pPr>
                      <a:r>
                        <a:rPr lang="en-US" altLang="en-US" b="1" dirty="0">
                          <a:latin typeface="Times New Roman" panose="02020603050405020304" pitchFamily="18" charset="0"/>
                          <a:cs typeface="Times New Roman" panose="02020603050405020304" pitchFamily="18" charset="0"/>
                        </a:rPr>
                        <a:t>Advantages:</a:t>
                      </a:r>
                      <a:r>
                        <a:rPr lang="en-US" altLang="en-US" dirty="0">
                          <a:latin typeface="Times New Roman" panose="02020603050405020304" pitchFamily="18" charset="0"/>
                          <a:cs typeface="Times New Roman" panose="02020603050405020304" pitchFamily="18" charset="0"/>
                        </a:rPr>
                        <a:t> Artificial learning methods</a:t>
                      </a:r>
                      <a:r>
                        <a:rPr lang="en-IN" altLang="en-US" dirty="0">
                          <a:latin typeface="Times New Roman" panose="02020603050405020304" pitchFamily="18" charset="0"/>
                          <a:cs typeface="Times New Roman" panose="02020603050405020304" pitchFamily="18" charset="0"/>
                        </a:rPr>
                        <a:t>,</a:t>
                      </a:r>
                      <a:r>
                        <a:rPr lang="en-US" altLang="en-US" dirty="0">
                          <a:latin typeface="Times New Roman" panose="02020603050405020304" pitchFamily="18" charset="0"/>
                          <a:cs typeface="Times New Roman" panose="02020603050405020304" pitchFamily="18" charset="0"/>
                        </a:rPr>
                        <a:t>especially advanced techniques like deep learning, can improve the accuracy of anemia classification by analyzing complex patterns in large datasets that may not be evident to human experts.</a:t>
                      </a:r>
                    </a:p>
                    <a:p>
                      <a:pPr algn="just">
                        <a:buNone/>
                      </a:pPr>
                      <a:r>
                        <a:rPr lang="en-US" altLang="en-US" b="1" dirty="0">
                          <a:latin typeface="Times New Roman" panose="02020603050405020304" pitchFamily="18" charset="0"/>
                          <a:cs typeface="Times New Roman" panose="02020603050405020304" pitchFamily="18" charset="0"/>
                        </a:rPr>
                        <a:t>Disadvantages:</a:t>
                      </a:r>
                      <a:r>
                        <a:rPr lang="en-US" altLang="en-US" dirty="0">
                          <a:latin typeface="Times New Roman" panose="02020603050405020304" pitchFamily="18" charset="0"/>
                          <a:cs typeface="Times New Roman" panose="02020603050405020304" pitchFamily="18" charset="0"/>
                        </a:rPr>
                        <a:t> Models may overfit the</a:t>
                      </a:r>
                      <a:r>
                        <a:rPr lang="en-IN" altLang="en-US" dirty="0">
                          <a:latin typeface="Times New Roman" panose="02020603050405020304" pitchFamily="18" charset="0"/>
                          <a:cs typeface="Times New Roman" panose="02020603050405020304" pitchFamily="18" charset="0"/>
                        </a:rPr>
                        <a:t> </a:t>
                      </a:r>
                      <a:r>
                        <a:rPr lang="en-US" altLang="en-US" dirty="0">
                          <a:latin typeface="Times New Roman" panose="02020603050405020304" pitchFamily="18" charset="0"/>
                          <a:cs typeface="Times New Roman" panose="02020603050405020304" pitchFamily="18" charset="0"/>
                        </a:rPr>
                        <a:t>training data, meaning they perform well on known data but poorly on unseen data, which can limit their real-world applicability.</a:t>
                      </a:r>
                    </a:p>
                  </a:txBody>
                  <a:tcPr>
                    <a:solidFill>
                      <a:schemeClr val="accent3">
                        <a:lumMod val="20000"/>
                        <a:lumOff val="80000"/>
                      </a:schemeClr>
                    </a:solidFill>
                  </a:tcPr>
                </a:tc>
                <a:extLst>
                  <a:ext uri="{0D108BD9-81ED-4DB2-BD59-A6C34878D82A}">
                    <a16:rowId xmlns:a16="http://schemas.microsoft.com/office/drawing/2014/main" val="10001"/>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p:cNvGraphicFramePr/>
          <p:nvPr>
            <p:custDataLst>
              <p:tags r:id="rId1"/>
            </p:custDataLst>
          </p:nvPr>
        </p:nvGraphicFramePr>
        <p:xfrm>
          <a:off x="619125" y="158750"/>
          <a:ext cx="11200765" cy="6492240"/>
        </p:xfrm>
        <a:graphic>
          <a:graphicData uri="http://schemas.openxmlformats.org/drawingml/2006/table">
            <a:tbl>
              <a:tblPr firstRow="1" bandRow="1">
                <a:tableStyleId>{5C22544A-7EE6-4342-B048-85BDC9FD1C3A}</a:tableStyleId>
              </a:tblPr>
              <a:tblGrid>
                <a:gridCol w="3302000">
                  <a:extLst>
                    <a:ext uri="{9D8B030D-6E8A-4147-A177-3AD203B41FA5}">
                      <a16:colId xmlns:a16="http://schemas.microsoft.com/office/drawing/2014/main" val="20000"/>
                    </a:ext>
                  </a:extLst>
                </a:gridCol>
                <a:gridCol w="7898765">
                  <a:extLst>
                    <a:ext uri="{9D8B030D-6E8A-4147-A177-3AD203B41FA5}">
                      <a16:colId xmlns:a16="http://schemas.microsoft.com/office/drawing/2014/main" val="20001"/>
                    </a:ext>
                  </a:extLst>
                </a:gridCol>
              </a:tblGrid>
              <a:tr h="3108960">
                <a:tc>
                  <a:txBody>
                    <a:bodyPr/>
                    <a:lstStyle/>
                    <a:p>
                      <a:pPr algn="just">
                        <a:buNone/>
                      </a:pPr>
                      <a:r>
                        <a:rPr lang="en-IN" altLang="en-US" b="0" dirty="0">
                          <a:solidFill>
                            <a:schemeClr val="tx1"/>
                          </a:solidFill>
                          <a:latin typeface="Times New Roman" panose="02020603050405020304" pitchFamily="18" charset="0"/>
                          <a:cs typeface="Times New Roman" panose="02020603050405020304" pitchFamily="18" charset="0"/>
                        </a:rPr>
                        <a:t>Sarah J.Hart</a:t>
                      </a:r>
                      <a:r>
                        <a:rPr lang="en-US" altLang="en-US" b="0" dirty="0">
                          <a:solidFill>
                            <a:schemeClr val="tx1"/>
                          </a:solidFill>
                          <a:latin typeface="Times New Roman" panose="02020603050405020304" pitchFamily="18" charset="0"/>
                          <a:cs typeface="Times New Roman" panose="02020603050405020304" pitchFamily="18" charset="0"/>
                        </a:rPr>
                        <a:t>,</a:t>
                      </a:r>
                      <a:r>
                        <a:rPr lang="en-IN" altLang="en-US" b="0" dirty="0">
                          <a:solidFill>
                            <a:schemeClr val="tx1"/>
                          </a:solidFill>
                          <a:latin typeface="Times New Roman" panose="02020603050405020304" pitchFamily="18" charset="0"/>
                          <a:cs typeface="Times New Roman" panose="02020603050405020304" pitchFamily="18" charset="0"/>
                        </a:rPr>
                        <a:t> Kanecia Zimmerman, Corinne M. Linardic,</a:t>
                      </a:r>
                      <a:r>
                        <a:rPr lang="en-US" altLang="en-US" b="0" dirty="0">
                          <a:solidFill>
                            <a:schemeClr val="tx1"/>
                          </a:solidFill>
                          <a:latin typeface="Times New Roman" panose="02020603050405020304" pitchFamily="18" charset="0"/>
                          <a:cs typeface="Times New Roman" panose="02020603050405020304" pitchFamily="18" charset="0"/>
                        </a:rPr>
                        <a:t> et.al</a:t>
                      </a:r>
                    </a:p>
                    <a:p>
                      <a:pPr algn="just">
                        <a:buNone/>
                      </a:pPr>
                      <a:r>
                        <a:rPr lang="en-US" altLang="en-US" b="0" dirty="0">
                          <a:solidFill>
                            <a:schemeClr val="tx1"/>
                          </a:solidFill>
                          <a:latin typeface="Times New Roman" panose="02020603050405020304" pitchFamily="18" charset="0"/>
                          <a:cs typeface="Times New Roman" panose="02020603050405020304" pitchFamily="18" charset="0"/>
                        </a:rPr>
                        <a:t>"Detection of iron deficiency in children with Down syndrome"</a:t>
                      </a:r>
                      <a:r>
                        <a:rPr lang="en-IN" altLang="en-US" b="0" dirty="0">
                          <a:solidFill>
                            <a:schemeClr val="tx1"/>
                          </a:solidFill>
                          <a:latin typeface="Times New Roman" panose="02020603050405020304" pitchFamily="18" charset="0"/>
                          <a:cs typeface="Times New Roman" panose="02020603050405020304" pitchFamily="18" charset="0"/>
                        </a:rPr>
                        <a:t>, Genetics in Medicine, Nature Publishing Group, February 2020.</a:t>
                      </a:r>
                      <a:endParaRPr lang="en-US" altLang="en-US" dirty="0">
                        <a:solidFill>
                          <a:schemeClr val="tx1"/>
                        </a:solidFill>
                        <a:latin typeface="Times New Roman" panose="02020603050405020304" pitchFamily="18" charset="0"/>
                        <a:cs typeface="Times New Roman" panose="02020603050405020304" pitchFamily="18" charset="0"/>
                      </a:endParaRPr>
                    </a:p>
                  </a:txBody>
                  <a:tcPr>
                    <a:solidFill>
                      <a:schemeClr val="accent3">
                        <a:lumMod val="20000"/>
                        <a:lumOff val="80000"/>
                      </a:schemeClr>
                    </a:solidFill>
                  </a:tcPr>
                </a:tc>
                <a:tc>
                  <a:txBody>
                    <a:bodyPr/>
                    <a:lstStyle/>
                    <a:p>
                      <a:pPr algn="just">
                        <a:buNone/>
                      </a:pPr>
                      <a:r>
                        <a:rPr lang="en-US" altLang="en-US" b="1" dirty="0">
                          <a:solidFill>
                            <a:schemeClr val="tx1"/>
                          </a:solidFill>
                          <a:latin typeface="Times New Roman" panose="02020603050405020304" pitchFamily="18" charset="0"/>
                          <a:cs typeface="Times New Roman" panose="02020603050405020304" pitchFamily="18" charset="0"/>
                        </a:rPr>
                        <a:t>Work:</a:t>
                      </a:r>
                      <a:r>
                        <a:rPr lang="en-US" altLang="en-US" b="0" dirty="0">
                          <a:solidFill>
                            <a:schemeClr val="tx1"/>
                          </a:solidFill>
                          <a:latin typeface="Times New Roman" panose="02020603050405020304" pitchFamily="18" charset="0"/>
                          <a:cs typeface="Times New Roman" panose="02020603050405020304" pitchFamily="18" charset="0"/>
                        </a:rPr>
                        <a:t> We provide evidence to support that a CBC and ferritin be obtained routinely for children over 1 year old with DS rather than hemoglobin alone for detection of ID.</a:t>
                      </a:r>
                    </a:p>
                    <a:p>
                      <a:pPr algn="just">
                        <a:buNone/>
                      </a:pPr>
                      <a:r>
                        <a:rPr lang="en-US" altLang="en-US" b="1" dirty="0">
                          <a:solidFill>
                            <a:schemeClr val="tx1"/>
                          </a:solidFill>
                          <a:latin typeface="Times New Roman" panose="02020603050405020304" pitchFamily="18" charset="0"/>
                          <a:cs typeface="Times New Roman" panose="02020603050405020304" pitchFamily="18" charset="0"/>
                        </a:rPr>
                        <a:t>Algorithm:</a:t>
                      </a:r>
                      <a:r>
                        <a:rPr lang="en-US" altLang="en-US" b="0" dirty="0">
                          <a:solidFill>
                            <a:schemeClr val="tx1"/>
                          </a:solidFill>
                          <a:latin typeface="Times New Roman" panose="02020603050405020304" pitchFamily="18" charset="0"/>
                          <a:cs typeface="Times New Roman" panose="02020603050405020304" pitchFamily="18" charset="0"/>
                        </a:rPr>
                        <a:t> Decision tree.</a:t>
                      </a:r>
                    </a:p>
                    <a:p>
                      <a:pPr algn="just">
                        <a:buNone/>
                      </a:pPr>
                      <a:r>
                        <a:rPr lang="en-US" altLang="en-US" b="1" dirty="0">
                          <a:solidFill>
                            <a:schemeClr val="tx1"/>
                          </a:solidFill>
                          <a:latin typeface="Times New Roman" panose="02020603050405020304" pitchFamily="18" charset="0"/>
                          <a:cs typeface="Times New Roman" panose="02020603050405020304" pitchFamily="18" charset="0"/>
                        </a:rPr>
                        <a:t>Advantage:</a:t>
                      </a:r>
                      <a:r>
                        <a:rPr lang="en-US" altLang="en-US" b="0" dirty="0">
                          <a:solidFill>
                            <a:schemeClr val="tx1"/>
                          </a:solidFill>
                          <a:latin typeface="Times New Roman" panose="02020603050405020304" pitchFamily="18" charset="0"/>
                          <a:cs typeface="Times New Roman" panose="02020603050405020304" pitchFamily="18" charset="0"/>
                        </a:rPr>
                        <a:t> Iron is essential for muscle</a:t>
                      </a:r>
                      <a:r>
                        <a:rPr lang="en-IN" altLang="en-US" b="0" dirty="0">
                          <a:solidFill>
                            <a:schemeClr val="tx1"/>
                          </a:solidFill>
                          <a:latin typeface="Times New Roman" panose="02020603050405020304" pitchFamily="18" charset="0"/>
                          <a:cs typeface="Times New Roman" panose="02020603050405020304" pitchFamily="18" charset="0"/>
                        </a:rPr>
                        <a:t> </a:t>
                      </a:r>
                      <a:r>
                        <a:rPr lang="en-US" altLang="en-US" b="0" dirty="0">
                          <a:solidFill>
                            <a:schemeClr val="tx1"/>
                          </a:solidFill>
                          <a:latin typeface="Times New Roman" panose="02020603050405020304" pitchFamily="18" charset="0"/>
                          <a:cs typeface="Times New Roman" panose="02020603050405020304" pitchFamily="18" charset="0"/>
                        </a:rPr>
                        <a:t>development, immune function, and growth Detecting deficiencies early can prevent stunted growth and frequent infections.</a:t>
                      </a:r>
                    </a:p>
                    <a:p>
                      <a:pPr algn="just">
                        <a:buNone/>
                      </a:pPr>
                      <a:r>
                        <a:rPr lang="en-US" altLang="en-US" b="1" dirty="0">
                          <a:solidFill>
                            <a:schemeClr val="tx1"/>
                          </a:solidFill>
                          <a:latin typeface="Times New Roman" panose="02020603050405020304" pitchFamily="18" charset="0"/>
                          <a:cs typeface="Times New Roman" panose="02020603050405020304" pitchFamily="18" charset="0"/>
                        </a:rPr>
                        <a:t>Disadvantage:</a:t>
                      </a:r>
                      <a:r>
                        <a:rPr lang="en-US" altLang="en-US" b="0" dirty="0">
                          <a:solidFill>
                            <a:schemeClr val="tx1"/>
                          </a:solidFill>
                          <a:latin typeface="Times New Roman" panose="02020603050405020304" pitchFamily="18" charset="0"/>
                          <a:cs typeface="Times New Roman" panose="02020603050405020304" pitchFamily="18" charset="0"/>
                        </a:rPr>
                        <a:t> Routine screening for iron deficiency may lead to overdiagnosis, resulting in unnecessary treatments such as iron supplementation. Over-supplementation can lead to side effects like constipation, stomach pain, or, in severe cases, iron overload (hemochromatosis), which can damage organs.</a:t>
                      </a:r>
                    </a:p>
                  </a:txBody>
                  <a:tcPr>
                    <a:solidFill>
                      <a:schemeClr val="accent3">
                        <a:lumMod val="20000"/>
                        <a:lumOff val="80000"/>
                      </a:schemeClr>
                    </a:solidFill>
                  </a:tcPr>
                </a:tc>
                <a:extLst>
                  <a:ext uri="{0D108BD9-81ED-4DB2-BD59-A6C34878D82A}">
                    <a16:rowId xmlns:a16="http://schemas.microsoft.com/office/drawing/2014/main" val="10000"/>
                  </a:ext>
                </a:extLst>
              </a:tr>
              <a:tr h="3357245">
                <a:tc>
                  <a:txBody>
                    <a:bodyPr/>
                    <a:lstStyle/>
                    <a:p>
                      <a:pPr algn="just">
                        <a:buNone/>
                      </a:pPr>
                      <a:r>
                        <a:rPr lang="en-IN" altLang="en-US" dirty="0">
                          <a:latin typeface="Times New Roman" panose="02020603050405020304" pitchFamily="18" charset="0"/>
                          <a:cs typeface="Times New Roman" panose="02020603050405020304" pitchFamily="18" charset="0"/>
                        </a:rPr>
                        <a:t>Olufunke Odunlade, Olugbenga Adeodu, et.al</a:t>
                      </a:r>
                    </a:p>
                    <a:p>
                      <a:pPr algn="just">
                        <a:buNone/>
                      </a:pPr>
                      <a:r>
                        <a:rPr lang="en-US" altLang="en-US" dirty="0">
                          <a:latin typeface="Times New Roman" panose="02020603050405020304" pitchFamily="18" charset="0"/>
                          <a:cs typeface="Times New Roman" panose="02020603050405020304" pitchFamily="18" charset="0"/>
                        </a:rPr>
                        <a:t> "Iron</a:t>
                      </a:r>
                      <a:r>
                        <a:rPr lang="en-IN" altLang="en-US" dirty="0">
                          <a:latin typeface="Times New Roman" panose="02020603050405020304" pitchFamily="18" charset="0"/>
                          <a:cs typeface="Times New Roman" panose="02020603050405020304" pitchFamily="18" charset="0"/>
                        </a:rPr>
                        <a:t> </a:t>
                      </a:r>
                      <a:r>
                        <a:rPr lang="en-US" altLang="en-US" dirty="0">
                          <a:latin typeface="Times New Roman" panose="02020603050405020304" pitchFamily="18" charset="0"/>
                          <a:cs typeface="Times New Roman" panose="02020603050405020304" pitchFamily="18" charset="0"/>
                        </a:rPr>
                        <a:t>deficiency, still a rarity in children with sickle cell anemia in </a:t>
                      </a:r>
                      <a:r>
                        <a:rPr lang="en-IN" altLang="en-US" dirty="0">
                          <a:latin typeface="Times New Roman" panose="02020603050405020304" pitchFamily="18" charset="0"/>
                          <a:cs typeface="Times New Roman" panose="02020603050405020304" pitchFamily="18" charset="0"/>
                        </a:rPr>
                        <a:t>IL</a:t>
                      </a:r>
                      <a:r>
                        <a:rPr lang="en-US" altLang="en-US" dirty="0">
                          <a:latin typeface="Times New Roman" panose="02020603050405020304" pitchFamily="18" charset="0"/>
                          <a:cs typeface="Times New Roman" panose="02020603050405020304" pitchFamily="18" charset="0"/>
                        </a:rPr>
                        <a:t>e-</a:t>
                      </a:r>
                      <a:r>
                        <a:rPr lang="en-IN" altLang="en-US" dirty="0">
                          <a:latin typeface="Times New Roman" panose="02020603050405020304" pitchFamily="18" charset="0"/>
                          <a:cs typeface="Times New Roman" panose="02020603050405020304" pitchFamily="18" charset="0"/>
                        </a:rPr>
                        <a:t>I</a:t>
                      </a:r>
                      <a:r>
                        <a:rPr lang="en-US" altLang="en-US" dirty="0">
                          <a:latin typeface="Times New Roman" panose="02020603050405020304" pitchFamily="18" charset="0"/>
                          <a:cs typeface="Times New Roman" panose="02020603050405020304" pitchFamily="18" charset="0"/>
                        </a:rPr>
                        <a:t>fe, Nigeria"</a:t>
                      </a:r>
                      <a:r>
                        <a:rPr lang="en-IN" altLang="en-US" dirty="0">
                          <a:latin typeface="Times New Roman" panose="02020603050405020304" pitchFamily="18" charset="0"/>
                          <a:cs typeface="Times New Roman" panose="02020603050405020304" pitchFamily="18" charset="0"/>
                        </a:rPr>
                        <a:t>,</a:t>
                      </a:r>
                      <a:r>
                        <a:rPr lang="en-US" altLang="en-US" dirty="0">
                          <a:latin typeface="Times New Roman" panose="02020603050405020304" pitchFamily="18" charset="0"/>
                          <a:cs typeface="Times New Roman" panose="02020603050405020304" pitchFamily="18" charset="0"/>
                        </a:rPr>
                        <a:t> Hematology, Transfusion and Cell Therapy,  Elsevier , </a:t>
                      </a:r>
                      <a:r>
                        <a:rPr lang="en-IN" altLang="en-US" dirty="0">
                          <a:latin typeface="Times New Roman" panose="02020603050405020304" pitchFamily="18" charset="0"/>
                          <a:cs typeface="Times New Roman" panose="02020603050405020304" pitchFamily="18" charset="0"/>
                        </a:rPr>
                        <a:t>28 March </a:t>
                      </a:r>
                      <a:r>
                        <a:rPr lang="en-US" altLang="en-US" dirty="0">
                          <a:latin typeface="Times New Roman" panose="02020603050405020304" pitchFamily="18" charset="0"/>
                          <a:cs typeface="Times New Roman" panose="02020603050405020304" pitchFamily="18" charset="0"/>
                        </a:rPr>
                        <a:t>2019.</a:t>
                      </a:r>
                      <a:endParaRPr lang="en-IN" altLang="en-US" dirty="0">
                        <a:latin typeface="Times New Roman" panose="02020603050405020304" pitchFamily="18" charset="0"/>
                        <a:cs typeface="Times New Roman" panose="02020603050405020304" pitchFamily="18" charset="0"/>
                      </a:endParaRPr>
                    </a:p>
                  </a:txBody>
                  <a:tcPr>
                    <a:solidFill>
                      <a:schemeClr val="accent3">
                        <a:lumMod val="20000"/>
                        <a:lumOff val="80000"/>
                      </a:schemeClr>
                    </a:solidFill>
                  </a:tcPr>
                </a:tc>
                <a:tc>
                  <a:txBody>
                    <a:bodyPr/>
                    <a:lstStyle/>
                    <a:p>
                      <a:pPr algn="just">
                        <a:buNone/>
                      </a:pPr>
                      <a:r>
                        <a:rPr lang="en-US" altLang="en-US" b="1" dirty="0">
                          <a:latin typeface="Times New Roman" panose="02020603050405020304" pitchFamily="18" charset="0"/>
                          <a:cs typeface="Times New Roman" panose="02020603050405020304" pitchFamily="18" charset="0"/>
                        </a:rPr>
                        <a:t>Work:</a:t>
                      </a:r>
                      <a:r>
                        <a:rPr lang="en-US" altLang="en-US" dirty="0">
                          <a:latin typeface="Times New Roman" panose="02020603050405020304" pitchFamily="18" charset="0"/>
                          <a:cs typeface="Times New Roman" panose="02020603050405020304" pitchFamily="18" charset="0"/>
                        </a:rPr>
                        <a:t> In this study, children with sickle cell anemia were evaluated for iron deficiency. Serum ferritin and free erythrocyte protoporphyrin free erythrocyte protoporphyrin (FEP) levels, mean corpuscular volume mean corpuscular volume (MCV) and mean corpuscular hemoglobin mean corpuscular hemoglobin (MCH) were used in determining their iron status.</a:t>
                      </a:r>
                    </a:p>
                    <a:p>
                      <a:pPr algn="just">
                        <a:buNone/>
                      </a:pPr>
                      <a:r>
                        <a:rPr lang="en-US" altLang="en-US" b="1" dirty="0">
                          <a:latin typeface="Times New Roman" panose="02020603050405020304" pitchFamily="18" charset="0"/>
                          <a:cs typeface="Times New Roman" panose="02020603050405020304" pitchFamily="18" charset="0"/>
                        </a:rPr>
                        <a:t>Algorithm:</a:t>
                      </a:r>
                      <a:r>
                        <a:rPr lang="en-US" altLang="en-US" dirty="0">
                          <a:latin typeface="Times New Roman" panose="02020603050405020304" pitchFamily="18" charset="0"/>
                          <a:cs typeface="Times New Roman" panose="02020603050405020304" pitchFamily="18" charset="0"/>
                        </a:rPr>
                        <a:t> Regression.</a:t>
                      </a:r>
                    </a:p>
                    <a:p>
                      <a:pPr algn="just">
                        <a:buNone/>
                      </a:pPr>
                      <a:r>
                        <a:rPr lang="en-US" altLang="en-US" b="1" dirty="0">
                          <a:latin typeface="Times New Roman" panose="02020603050405020304" pitchFamily="18" charset="0"/>
                          <a:cs typeface="Times New Roman" panose="02020603050405020304" pitchFamily="18" charset="0"/>
                        </a:rPr>
                        <a:t>Advantages: </a:t>
                      </a:r>
                      <a:r>
                        <a:rPr lang="en-US" altLang="en-US" dirty="0">
                          <a:latin typeface="Times New Roman" panose="02020603050405020304" pitchFamily="18" charset="0"/>
                          <a:cs typeface="Times New Roman" panose="02020603050405020304" pitchFamily="18" charset="0"/>
                        </a:rPr>
                        <a:t>In SCA, hemolysis (the breakdown of</a:t>
                      </a:r>
                      <a:r>
                        <a:rPr lang="en-IN" altLang="en-US" dirty="0">
                          <a:latin typeface="Times New Roman" panose="02020603050405020304" pitchFamily="18" charset="0"/>
                          <a:cs typeface="Times New Roman" panose="02020603050405020304" pitchFamily="18" charset="0"/>
                        </a:rPr>
                        <a:t> </a:t>
                      </a:r>
                      <a:r>
                        <a:rPr lang="en-US" altLang="en-US" dirty="0">
                          <a:latin typeface="Times New Roman" panose="02020603050405020304" pitchFamily="18" charset="0"/>
                          <a:cs typeface="Times New Roman" panose="02020603050405020304" pitchFamily="18" charset="0"/>
                        </a:rPr>
                        <a:t>red blood cells) leads to increased iron recycling in the body, making iron deficiency rare. </a:t>
                      </a:r>
                    </a:p>
                    <a:p>
                      <a:pPr algn="just">
                        <a:buNone/>
                      </a:pPr>
                      <a:r>
                        <a:rPr lang="en-US" altLang="en-US" b="1" dirty="0">
                          <a:latin typeface="Times New Roman" panose="02020603050405020304" pitchFamily="18" charset="0"/>
                          <a:cs typeface="Times New Roman" panose="02020603050405020304" pitchFamily="18" charset="0"/>
                        </a:rPr>
                        <a:t>Disadvantages: </a:t>
                      </a:r>
                      <a:r>
                        <a:rPr lang="en-US" altLang="en-US" dirty="0">
                          <a:latin typeface="Times New Roman" panose="02020603050405020304" pitchFamily="18" charset="0"/>
                          <a:cs typeface="Times New Roman" panose="02020603050405020304" pitchFamily="18" charset="0"/>
                        </a:rPr>
                        <a:t>While iron deficiency is rare in</a:t>
                      </a:r>
                      <a:r>
                        <a:rPr lang="en-IN" altLang="en-US" dirty="0">
                          <a:latin typeface="Times New Roman" panose="02020603050405020304" pitchFamily="18" charset="0"/>
                          <a:cs typeface="Times New Roman" panose="02020603050405020304" pitchFamily="18" charset="0"/>
                        </a:rPr>
                        <a:t> </a:t>
                      </a:r>
                      <a:r>
                        <a:rPr lang="en-US" altLang="en-US" dirty="0">
                          <a:latin typeface="Times New Roman" panose="02020603050405020304" pitchFamily="18" charset="0"/>
                          <a:cs typeface="Times New Roman" panose="02020603050405020304" pitchFamily="18" charset="0"/>
                        </a:rPr>
                        <a:t>children with SCA, it is not impossible. A focus on the rarity of iron deficiency might lead to neglect in diagnosing and treating those few cases that do exist, leaving some children with undiagnosed deficiencies.</a:t>
                      </a:r>
                    </a:p>
                  </a:txBody>
                  <a:tcPr>
                    <a:solidFill>
                      <a:schemeClr val="accent3">
                        <a:lumMod val="20000"/>
                        <a:lumOff val="80000"/>
                      </a:schemeClr>
                    </a:solidFill>
                  </a:tcPr>
                </a:tc>
                <a:extLst>
                  <a:ext uri="{0D108BD9-81ED-4DB2-BD59-A6C34878D82A}">
                    <a16:rowId xmlns:a16="http://schemas.microsoft.com/office/drawing/2014/main" val="10001"/>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p:cNvGraphicFramePr>
            <a:graphicFrameLocks noGrp="1"/>
          </p:cNvGraphicFramePr>
          <p:nvPr>
            <p:custDataLst>
              <p:tags r:id="rId1"/>
            </p:custDataLst>
          </p:nvPr>
        </p:nvGraphicFramePr>
        <p:xfrm>
          <a:off x="1262380" y="938530"/>
          <a:ext cx="10589895" cy="5444490"/>
        </p:xfrm>
        <a:graphic>
          <a:graphicData uri="http://schemas.openxmlformats.org/drawingml/2006/table">
            <a:tbl>
              <a:tblPr firstRow="1" bandRow="1">
                <a:tableStyleId>{5C22544A-7EE6-4342-B048-85BDC9FD1C3A}</a:tableStyleId>
              </a:tblPr>
              <a:tblGrid>
                <a:gridCol w="3813175">
                  <a:extLst>
                    <a:ext uri="{9D8B030D-6E8A-4147-A177-3AD203B41FA5}">
                      <a16:colId xmlns:a16="http://schemas.microsoft.com/office/drawing/2014/main" val="20000"/>
                    </a:ext>
                  </a:extLst>
                </a:gridCol>
                <a:gridCol w="6776720">
                  <a:extLst>
                    <a:ext uri="{9D8B030D-6E8A-4147-A177-3AD203B41FA5}">
                      <a16:colId xmlns:a16="http://schemas.microsoft.com/office/drawing/2014/main" val="20001"/>
                    </a:ext>
                  </a:extLst>
                </a:gridCol>
              </a:tblGrid>
              <a:tr h="2552065">
                <a:tc>
                  <a:txBody>
                    <a:bodyPr/>
                    <a:lstStyle/>
                    <a:p>
                      <a:pPr algn="just"/>
                      <a:r>
                        <a:rPr lang="en-IN" b="0" dirty="0">
                          <a:solidFill>
                            <a:schemeClr val="tx1"/>
                          </a:solidFill>
                          <a:latin typeface="Times New Roman" panose="02020603050405020304" pitchFamily="18" charset="0"/>
                          <a:cs typeface="Times New Roman" panose="02020603050405020304" pitchFamily="18" charset="0"/>
                        </a:rPr>
                        <a:t>Fu-Ping </a:t>
                      </a:r>
                      <a:r>
                        <a:rPr lang="en-IN" b="0" dirty="0" err="1">
                          <a:solidFill>
                            <a:schemeClr val="tx1"/>
                          </a:solidFill>
                          <a:latin typeface="Times New Roman" panose="02020603050405020304" pitchFamily="18" charset="0"/>
                          <a:cs typeface="Times New Roman" panose="02020603050405020304" pitchFamily="18" charset="0"/>
                        </a:rPr>
                        <a:t>lai,Yao</a:t>
                      </a:r>
                      <a:r>
                        <a:rPr lang="en-IN" b="0" dirty="0">
                          <a:solidFill>
                            <a:schemeClr val="tx1"/>
                          </a:solidFill>
                          <a:latin typeface="Times New Roman" panose="02020603050405020304" pitchFamily="18" charset="0"/>
                          <a:cs typeface="Times New Roman" panose="02020603050405020304" pitchFamily="18" charset="0"/>
                        </a:rPr>
                        <a:t>-Jong </a:t>
                      </a:r>
                      <a:r>
                        <a:rPr lang="en-IN" b="0" dirty="0" err="1">
                          <a:solidFill>
                            <a:schemeClr val="tx1"/>
                          </a:solidFill>
                          <a:latin typeface="Times New Roman" panose="02020603050405020304" pitchFamily="18" charset="0"/>
                          <a:cs typeface="Times New Roman" panose="02020603050405020304" pitchFamily="18" charset="0"/>
                        </a:rPr>
                        <a:t>Yang,</a:t>
                      </a:r>
                      <a:r>
                        <a:rPr lang="en-US" altLang="en-US" sz="1800" b="0" dirty="0">
                          <a:solidFill>
                            <a:schemeClr val="tx1"/>
                          </a:solidFill>
                          <a:latin typeface="Times New Roman" panose="02020603050405020304" pitchFamily="18" charset="0"/>
                          <a:cs typeface="Times New Roman" panose="02020603050405020304" pitchFamily="18" charset="0"/>
                          <a:sym typeface="+mn-ea"/>
                        </a:rPr>
                        <a:t>"</a:t>
                      </a:r>
                      <a:r>
                        <a:rPr lang="en-IN" b="0" dirty="0" err="1">
                          <a:solidFill>
                            <a:schemeClr val="tx1"/>
                          </a:solidFill>
                          <a:latin typeface="Times New Roman" panose="02020603050405020304" pitchFamily="18" charset="0"/>
                          <a:cs typeface="Times New Roman" panose="02020603050405020304" pitchFamily="18" charset="0"/>
                        </a:rPr>
                        <a:t>The</a:t>
                      </a:r>
                      <a:r>
                        <a:rPr lang="en-IN" b="0" dirty="0">
                          <a:solidFill>
                            <a:schemeClr val="tx1"/>
                          </a:solidFill>
                          <a:latin typeface="Times New Roman" panose="02020603050405020304" pitchFamily="18" charset="0"/>
                          <a:cs typeface="Times New Roman" panose="02020603050405020304" pitchFamily="18" charset="0"/>
                        </a:rPr>
                        <a:t> prevalence and characteristics</a:t>
                      </a:r>
                      <a:r>
                        <a:rPr lang="en-IN" b="0" baseline="0" dirty="0">
                          <a:solidFill>
                            <a:schemeClr val="tx1"/>
                          </a:solidFill>
                          <a:latin typeface="Times New Roman" panose="02020603050405020304" pitchFamily="18" charset="0"/>
                          <a:cs typeface="Times New Roman" panose="02020603050405020304" pitchFamily="18" charset="0"/>
                        </a:rPr>
                        <a:t> of cows milk protein allergy in infants and young children with iron deficiency </a:t>
                      </a:r>
                      <a:r>
                        <a:rPr lang="en-IN" b="0" baseline="0" dirty="0" err="1">
                          <a:solidFill>
                            <a:schemeClr val="tx1"/>
                          </a:solidFill>
                          <a:latin typeface="Times New Roman" panose="02020603050405020304" pitchFamily="18" charset="0"/>
                          <a:cs typeface="Times New Roman" panose="02020603050405020304" pitchFamily="18" charset="0"/>
                        </a:rPr>
                        <a:t>anemia</a:t>
                      </a:r>
                      <a:r>
                        <a:rPr lang="en-US" altLang="en-US" sz="1800" b="0" dirty="0">
                          <a:solidFill>
                            <a:schemeClr val="tx1"/>
                          </a:solidFill>
                          <a:latin typeface="Times New Roman" panose="02020603050405020304" pitchFamily="18" charset="0"/>
                          <a:cs typeface="Times New Roman" panose="02020603050405020304" pitchFamily="18" charset="0"/>
                          <a:sym typeface="+mn-ea"/>
                        </a:rPr>
                        <a:t>"</a:t>
                      </a:r>
                      <a:r>
                        <a:rPr lang="en-IN" b="0" baseline="0" dirty="0">
                          <a:solidFill>
                            <a:schemeClr val="tx1"/>
                          </a:solidFill>
                          <a:latin typeface="Times New Roman" panose="02020603050405020304" pitchFamily="18" charset="0"/>
                          <a:cs typeface="Times New Roman" panose="02020603050405020304" pitchFamily="18" charset="0"/>
                        </a:rPr>
                        <a:t>,Taiwan </a:t>
                      </a:r>
                      <a:r>
                        <a:rPr lang="en-IN" b="0" baseline="0" dirty="0" err="1">
                          <a:solidFill>
                            <a:schemeClr val="tx1"/>
                          </a:solidFill>
                          <a:latin typeface="Times New Roman" panose="02020603050405020304" pitchFamily="18" charset="0"/>
                          <a:cs typeface="Times New Roman" panose="02020603050405020304" pitchFamily="18" charset="0"/>
                        </a:rPr>
                        <a:t>pediatric</a:t>
                      </a:r>
                      <a:r>
                        <a:rPr lang="en-IN" b="0" baseline="0" dirty="0">
                          <a:solidFill>
                            <a:schemeClr val="tx1"/>
                          </a:solidFill>
                          <a:latin typeface="Times New Roman" panose="02020603050405020304" pitchFamily="18" charset="0"/>
                          <a:cs typeface="Times New Roman" panose="02020603050405020304" pitchFamily="18" charset="0"/>
                        </a:rPr>
                        <a:t> association,30 June 2018</a:t>
                      </a:r>
                    </a:p>
                  </a:txBody>
                  <a:tcPr>
                    <a:solidFill>
                      <a:schemeClr val="accent2">
                        <a:lumMod val="20000"/>
                        <a:lumOff val="80000"/>
                      </a:schemeClr>
                    </a:solidFill>
                  </a:tcPr>
                </a:tc>
                <a:tc>
                  <a:txBody>
                    <a:bodyPr/>
                    <a:lstStyle/>
                    <a:p>
                      <a:pPr algn="just"/>
                      <a:r>
                        <a:rPr lang="en-IN" sz="1800" b="1" dirty="0">
                          <a:solidFill>
                            <a:schemeClr val="tx1"/>
                          </a:solidFill>
                          <a:latin typeface="Times New Roman" panose="02020603050405020304" pitchFamily="18" charset="0"/>
                          <a:cs typeface="Times New Roman" panose="02020603050405020304" pitchFamily="18" charset="0"/>
                        </a:rPr>
                        <a:t>Work:</a:t>
                      </a:r>
                      <a:r>
                        <a:rPr lang="en-US" sz="1800" b="0" dirty="0">
                          <a:solidFill>
                            <a:schemeClr val="tx1"/>
                          </a:solidFill>
                          <a:latin typeface="Times New Roman" panose="02020603050405020304" pitchFamily="18" charset="0"/>
                          <a:cs typeface="Times New Roman" panose="02020603050405020304" pitchFamily="18" charset="0"/>
                        </a:rPr>
                        <a:t>The study identified CMPA as a cause of IDA in 13.7% of young children through elimination diet and iron supplementation.</a:t>
                      </a:r>
                      <a:endParaRPr lang="en-IN" sz="1800" b="1" dirty="0">
                        <a:solidFill>
                          <a:schemeClr val="tx1"/>
                        </a:solidFill>
                        <a:latin typeface="Times New Roman" panose="02020603050405020304" pitchFamily="18" charset="0"/>
                        <a:cs typeface="Times New Roman" panose="02020603050405020304" pitchFamily="18" charset="0"/>
                      </a:endParaRPr>
                    </a:p>
                    <a:p>
                      <a:pPr algn="just"/>
                      <a:r>
                        <a:rPr lang="en-IN" sz="1800" b="1" dirty="0">
                          <a:solidFill>
                            <a:schemeClr val="tx1"/>
                          </a:solidFill>
                          <a:latin typeface="Times New Roman" panose="02020603050405020304" pitchFamily="18" charset="0"/>
                          <a:cs typeface="Times New Roman" panose="02020603050405020304" pitchFamily="18" charset="0"/>
                        </a:rPr>
                        <a:t>Algorithm: </a:t>
                      </a:r>
                      <a:r>
                        <a:rPr lang="en-IN" sz="1800" b="0" dirty="0">
                          <a:solidFill>
                            <a:schemeClr val="tx1"/>
                          </a:solidFill>
                          <a:latin typeface="Times New Roman" panose="02020603050405020304" pitchFamily="18" charset="0"/>
                          <a:cs typeface="Times New Roman" panose="02020603050405020304" pitchFamily="18" charset="0"/>
                        </a:rPr>
                        <a:t>Naïve </a:t>
                      </a:r>
                      <a:r>
                        <a:rPr lang="en-IN" sz="1800" b="0" dirty="0" err="1">
                          <a:solidFill>
                            <a:schemeClr val="tx1"/>
                          </a:solidFill>
                          <a:latin typeface="Times New Roman" panose="02020603050405020304" pitchFamily="18" charset="0"/>
                          <a:cs typeface="Times New Roman" panose="02020603050405020304" pitchFamily="18" charset="0"/>
                        </a:rPr>
                        <a:t>bayes</a:t>
                      </a:r>
                      <a:endParaRPr lang="en-IN" sz="1800" b="0" dirty="0">
                        <a:solidFill>
                          <a:schemeClr val="tx1"/>
                        </a:solidFill>
                        <a:latin typeface="Times New Roman" panose="02020603050405020304" pitchFamily="18" charset="0"/>
                        <a:cs typeface="Times New Roman" panose="02020603050405020304" pitchFamily="18" charset="0"/>
                      </a:endParaRPr>
                    </a:p>
                    <a:p>
                      <a:pPr algn="just"/>
                      <a:r>
                        <a:rPr lang="en-IN" sz="1800" b="1" dirty="0">
                          <a:solidFill>
                            <a:schemeClr val="tx1"/>
                          </a:solidFill>
                          <a:latin typeface="Times New Roman" panose="02020603050405020304" pitchFamily="18" charset="0"/>
                          <a:cs typeface="Times New Roman" panose="02020603050405020304" pitchFamily="18" charset="0"/>
                        </a:rPr>
                        <a:t>Advantage:</a:t>
                      </a:r>
                      <a:r>
                        <a:rPr lang="en-US" sz="1800" b="0" dirty="0">
                          <a:solidFill>
                            <a:schemeClr val="tx1"/>
                          </a:solidFill>
                          <a:latin typeface="Times New Roman" panose="02020603050405020304" pitchFamily="18" charset="0"/>
                          <a:cs typeface="Times New Roman" panose="02020603050405020304" pitchFamily="18" charset="0"/>
                        </a:rPr>
                        <a:t>Effective non-invasive diagnostic approach using elimination diet and iron supplementation. </a:t>
                      </a:r>
                      <a:endParaRPr lang="en-IN" sz="1800" b="0" dirty="0">
                        <a:solidFill>
                          <a:schemeClr val="tx1"/>
                        </a:solidFill>
                        <a:latin typeface="Times New Roman" panose="02020603050405020304" pitchFamily="18" charset="0"/>
                        <a:cs typeface="Times New Roman" panose="02020603050405020304" pitchFamily="18" charset="0"/>
                      </a:endParaRPr>
                    </a:p>
                    <a:p>
                      <a:pPr algn="just"/>
                      <a:r>
                        <a:rPr lang="en-IN" sz="1800" b="1" dirty="0">
                          <a:solidFill>
                            <a:schemeClr val="tx1"/>
                          </a:solidFill>
                          <a:latin typeface="Times New Roman" panose="02020603050405020304" pitchFamily="18" charset="0"/>
                          <a:cs typeface="Times New Roman" panose="02020603050405020304" pitchFamily="18" charset="0"/>
                        </a:rPr>
                        <a:t>Disadvantage:</a:t>
                      </a:r>
                      <a:r>
                        <a:rPr lang="en-US" sz="1800" b="0" dirty="0">
                          <a:solidFill>
                            <a:schemeClr val="tx1"/>
                          </a:solidFill>
                          <a:latin typeface="Times New Roman" panose="02020603050405020304" pitchFamily="18" charset="0"/>
                          <a:cs typeface="Times New Roman" panose="02020603050405020304" pitchFamily="18" charset="0"/>
                        </a:rPr>
                        <a:t>Risk of over-diagnosis without confirmatory food challenge.</a:t>
                      </a:r>
                    </a:p>
                  </a:txBody>
                  <a:tcPr>
                    <a:solidFill>
                      <a:schemeClr val="accent2">
                        <a:lumMod val="20000"/>
                        <a:lumOff val="80000"/>
                      </a:schemeClr>
                    </a:solidFill>
                  </a:tcPr>
                </a:tc>
                <a:extLst>
                  <a:ext uri="{0D108BD9-81ED-4DB2-BD59-A6C34878D82A}">
                    <a16:rowId xmlns:a16="http://schemas.microsoft.com/office/drawing/2014/main" val="10000"/>
                  </a:ext>
                </a:extLst>
              </a:tr>
              <a:tr h="2892425">
                <a:tc>
                  <a:txBody>
                    <a:bodyPr/>
                    <a:lstStyle/>
                    <a:p>
                      <a:pPr algn="just"/>
                      <a:r>
                        <a:rPr lang="en-IN" dirty="0" err="1">
                          <a:latin typeface="Times New Roman" panose="02020603050405020304" pitchFamily="18" charset="0"/>
                          <a:cs typeface="Times New Roman" panose="02020603050405020304" pitchFamily="18" charset="0"/>
                        </a:rPr>
                        <a:t>Byung</a:t>
                      </a:r>
                      <a:r>
                        <a:rPr lang="en-IN" dirty="0">
                          <a:latin typeface="Times New Roman" panose="02020603050405020304" pitchFamily="18" charset="0"/>
                          <a:cs typeface="Times New Roman" panose="02020603050405020304" pitchFamily="18" charset="0"/>
                        </a:rPr>
                        <a:t> Ok </a:t>
                      </a:r>
                      <a:r>
                        <a:rPr lang="en-IN" dirty="0" err="1">
                          <a:latin typeface="Times New Roman" panose="02020603050405020304" pitchFamily="18" charset="0"/>
                          <a:cs typeface="Times New Roman" panose="02020603050405020304" pitchFamily="18" charset="0"/>
                        </a:rPr>
                        <a:t>Kwak</a:t>
                      </a: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Kyungmin</a:t>
                      </a: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Kim,et.al,</a:t>
                      </a:r>
                      <a:r>
                        <a:rPr lang="en-US" altLang="en-US" sz="1800" dirty="0">
                          <a:solidFill>
                            <a:schemeClr val="tx1"/>
                          </a:solidFill>
                          <a:latin typeface="Times New Roman" panose="02020603050405020304" pitchFamily="18" charset="0"/>
                          <a:cs typeface="Times New Roman" panose="02020603050405020304" pitchFamily="18" charset="0"/>
                          <a:sym typeface="+mn-ea"/>
                        </a:rPr>
                        <a:t>"</a:t>
                      </a:r>
                      <a:r>
                        <a:rPr lang="en-IN" dirty="0" err="1">
                          <a:latin typeface="Times New Roman" panose="02020603050405020304" pitchFamily="18" charset="0"/>
                          <a:cs typeface="Times New Roman" panose="02020603050405020304" pitchFamily="18" charset="0"/>
                        </a:rPr>
                        <a:t>Relation</a:t>
                      </a:r>
                      <a:r>
                        <a:rPr lang="en-IN" dirty="0">
                          <a:latin typeface="Times New Roman" panose="02020603050405020304" pitchFamily="18" charset="0"/>
                          <a:cs typeface="Times New Roman" panose="02020603050405020304" pitchFamily="18" charset="0"/>
                        </a:rPr>
                        <a:t> ship</a:t>
                      </a:r>
                      <a:r>
                        <a:rPr lang="en-IN" baseline="0" dirty="0">
                          <a:latin typeface="Times New Roman" panose="02020603050405020304" pitchFamily="18" charset="0"/>
                          <a:cs typeface="Times New Roman" panose="02020603050405020304" pitchFamily="18" charset="0"/>
                        </a:rPr>
                        <a:t> between iron deficiency </a:t>
                      </a:r>
                      <a:r>
                        <a:rPr lang="en-IN" baseline="0" dirty="0" err="1">
                          <a:latin typeface="Times New Roman" panose="02020603050405020304" pitchFamily="18" charset="0"/>
                          <a:cs typeface="Times New Roman" panose="02020603050405020304" pitchFamily="18" charset="0"/>
                        </a:rPr>
                        <a:t>anemia</a:t>
                      </a:r>
                      <a:r>
                        <a:rPr lang="en-IN" baseline="0" dirty="0">
                          <a:latin typeface="Times New Roman" panose="02020603050405020304" pitchFamily="18" charset="0"/>
                          <a:cs typeface="Times New Roman" panose="02020603050405020304" pitchFamily="18" charset="0"/>
                        </a:rPr>
                        <a:t> and febrile seizures in children</a:t>
                      </a:r>
                      <a:r>
                        <a:rPr lang="en-US" altLang="en-US" sz="1800" dirty="0">
                          <a:solidFill>
                            <a:schemeClr val="tx1"/>
                          </a:solidFill>
                          <a:latin typeface="Times New Roman" panose="02020603050405020304" pitchFamily="18" charset="0"/>
                          <a:cs typeface="Times New Roman" panose="02020603050405020304" pitchFamily="18" charset="0"/>
                          <a:sym typeface="+mn-ea"/>
                        </a:rPr>
                        <a:t>"</a:t>
                      </a:r>
                      <a:r>
                        <a:rPr lang="en-IN" baseline="0" dirty="0">
                          <a:latin typeface="Times New Roman" panose="02020603050405020304" pitchFamily="18" charset="0"/>
                          <a:cs typeface="Times New Roman" panose="02020603050405020304" pitchFamily="18" charset="0"/>
                        </a:rPr>
                        <a:t>,Elsevier,14 September 2017</a:t>
                      </a:r>
                      <a:endParaRPr lang="en-IN" dirty="0">
                        <a:latin typeface="Times New Roman" panose="02020603050405020304" pitchFamily="18" charset="0"/>
                        <a:cs typeface="Times New Roman" panose="02020603050405020304" pitchFamily="18" charset="0"/>
                      </a:endParaRPr>
                    </a:p>
                  </a:txBody>
                  <a:tcPr>
                    <a:solidFill>
                      <a:schemeClr val="accent2">
                        <a:lumMod val="20000"/>
                        <a:lumOff val="80000"/>
                      </a:schemeClr>
                    </a:solidFill>
                  </a:tcPr>
                </a:tc>
                <a:tc>
                  <a:txBody>
                    <a:bodyPr/>
                    <a:lstStyle/>
                    <a:p>
                      <a:pPr algn="just"/>
                      <a:r>
                        <a:rPr lang="en-IN" sz="1800" b="1" dirty="0">
                          <a:latin typeface="Times New Roman" panose="02020603050405020304" pitchFamily="18" charset="0"/>
                          <a:cs typeface="Times New Roman" panose="02020603050405020304" pitchFamily="18" charset="0"/>
                        </a:rPr>
                        <a:t>Work</a:t>
                      </a:r>
                      <a:r>
                        <a:rPr lang="en-IN" sz="1800" dirty="0">
                          <a:latin typeface="Times New Roman" panose="02020603050405020304" pitchFamily="18" charset="0"/>
                          <a:cs typeface="Times New Roman" panose="02020603050405020304" pitchFamily="18" charset="0"/>
                        </a:rPr>
                        <a:t>:</a:t>
                      </a:r>
                      <a:r>
                        <a:rPr lang="en-US" sz="1800" dirty="0">
                          <a:latin typeface="Times New Roman" panose="02020603050405020304" pitchFamily="18" charset="0"/>
                          <a:cs typeface="Times New Roman" panose="02020603050405020304" pitchFamily="18" charset="0"/>
                        </a:rPr>
                        <a:t>This meta-analysis of 17 studies (2,416 children with febrile seizures and 2,387 controls) found a significant association between iron deficiency anemia (IDA) and febrile seizures, with a pooled odds ratio of 1.98.</a:t>
                      </a:r>
                      <a:endParaRPr lang="en-IN" sz="1800" dirty="0">
                        <a:latin typeface="Times New Roman" panose="02020603050405020304" pitchFamily="18" charset="0"/>
                        <a:cs typeface="Times New Roman" panose="02020603050405020304" pitchFamily="18" charset="0"/>
                      </a:endParaRPr>
                    </a:p>
                    <a:p>
                      <a:pPr algn="just"/>
                      <a:r>
                        <a:rPr lang="en-IN" sz="1800" b="1" dirty="0">
                          <a:latin typeface="Times New Roman" panose="02020603050405020304" pitchFamily="18" charset="0"/>
                          <a:cs typeface="Times New Roman" panose="02020603050405020304" pitchFamily="18" charset="0"/>
                        </a:rPr>
                        <a:t>Algorithm:</a:t>
                      </a:r>
                      <a:r>
                        <a:rPr lang="en-IN" sz="1800" dirty="0">
                          <a:latin typeface="Times New Roman" panose="02020603050405020304" pitchFamily="18" charset="0"/>
                          <a:cs typeface="Times New Roman" panose="02020603050405020304" pitchFamily="18" charset="0"/>
                        </a:rPr>
                        <a:t> Random forest</a:t>
                      </a:r>
                    </a:p>
                    <a:p>
                      <a:pPr algn="just"/>
                      <a:r>
                        <a:rPr lang="en-IN" sz="1800" b="1" dirty="0">
                          <a:latin typeface="Times New Roman" panose="02020603050405020304" pitchFamily="18" charset="0"/>
                          <a:cs typeface="Times New Roman" panose="02020603050405020304" pitchFamily="18" charset="0"/>
                        </a:rPr>
                        <a:t>Advantage:</a:t>
                      </a:r>
                      <a:r>
                        <a:rPr lang="en-US" sz="1800" dirty="0">
                          <a:latin typeface="Times New Roman" panose="02020603050405020304" pitchFamily="18" charset="0"/>
                          <a:cs typeface="Times New Roman" panose="02020603050405020304" pitchFamily="18" charset="0"/>
                        </a:rPr>
                        <a:t>Provides strong pooled evidence for IDA as a risk factor for FS using meta-analysis.</a:t>
                      </a:r>
                      <a:endParaRPr lang="en-IN" sz="1800" dirty="0">
                        <a:latin typeface="Times New Roman" panose="02020603050405020304" pitchFamily="18" charset="0"/>
                        <a:cs typeface="Times New Roman" panose="02020603050405020304" pitchFamily="18" charset="0"/>
                      </a:endParaRPr>
                    </a:p>
                    <a:p>
                      <a:pPr algn="just"/>
                      <a:r>
                        <a:rPr lang="en-IN" sz="1800" b="1" dirty="0">
                          <a:latin typeface="Times New Roman" panose="02020603050405020304" pitchFamily="18" charset="0"/>
                          <a:cs typeface="Times New Roman" panose="02020603050405020304" pitchFamily="18" charset="0"/>
                        </a:rPr>
                        <a:t>Disadvantage:</a:t>
                      </a:r>
                      <a:r>
                        <a:rPr lang="en-US" sz="1800" dirty="0">
                          <a:latin typeface="Times New Roman" panose="02020603050405020304" pitchFamily="18" charset="0"/>
                          <a:cs typeface="Times New Roman" panose="02020603050405020304" pitchFamily="18" charset="0"/>
                        </a:rPr>
                        <a:t>Cannot establish causality due to observational study design and confounding factors.</a:t>
                      </a:r>
                      <a:endParaRPr lang="en-IN" sz="1800" dirty="0">
                        <a:latin typeface="Times New Roman" panose="02020603050405020304" pitchFamily="18" charset="0"/>
                        <a:cs typeface="Times New Roman" panose="02020603050405020304" pitchFamily="18" charset="0"/>
                      </a:endParaRPr>
                    </a:p>
                  </a:txBody>
                  <a:tcPr>
                    <a:solidFill>
                      <a:schemeClr val="accent2">
                        <a:lumMod val="20000"/>
                        <a:lumOff val="80000"/>
                      </a:schemeClr>
                    </a:solidFill>
                  </a:tcPr>
                </a:tc>
                <a:extLst>
                  <a:ext uri="{0D108BD9-81ED-4DB2-BD59-A6C34878D82A}">
                    <a16:rowId xmlns:a16="http://schemas.microsoft.com/office/drawing/2014/main" val="10001"/>
                  </a:ext>
                </a:extLst>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73960" y="989965"/>
            <a:ext cx="3444240" cy="611505"/>
          </a:xfrm>
        </p:spPr>
        <p:txBody>
          <a:bodyPr>
            <a:normAutofit/>
          </a:bodyPr>
          <a:lstStyle/>
          <a:p>
            <a:r>
              <a:rPr lang="en-IN" sz="2400" b="1" dirty="0">
                <a:latin typeface="Times New Roman" panose="02020603050405020304" pitchFamily="18" charset="0"/>
                <a:cs typeface="Times New Roman" panose="02020603050405020304" pitchFamily="18" charset="0"/>
              </a:rPr>
              <a:t>Software components:</a:t>
            </a:r>
          </a:p>
        </p:txBody>
      </p:sp>
      <p:sp>
        <p:nvSpPr>
          <p:cNvPr id="3" name="Content Placeholder 2"/>
          <p:cNvSpPr>
            <a:spLocks noGrp="1"/>
          </p:cNvSpPr>
          <p:nvPr>
            <p:ph idx="1"/>
          </p:nvPr>
        </p:nvSpPr>
        <p:spPr>
          <a:xfrm>
            <a:off x="2863215" y="1601470"/>
            <a:ext cx="8915400" cy="4173855"/>
          </a:xfrm>
        </p:spPr>
        <p:txBody>
          <a:bodyPr>
            <a:normAutofit/>
          </a:bodyPr>
          <a:lstStyle/>
          <a:p>
            <a:pPr algn="just">
              <a:buFont typeface="Wingdings" panose="05000000000000000000" charset="0"/>
              <a:buChar char="Ø"/>
            </a:pPr>
            <a:r>
              <a:rPr lang="en-IN" dirty="0">
                <a:latin typeface="Times New Roman" panose="02020603050405020304" pitchFamily="18" charset="0"/>
                <a:cs typeface="Times New Roman" panose="02020603050405020304" pitchFamily="18" charset="0"/>
              </a:rPr>
              <a:t>Data gathering</a:t>
            </a:r>
          </a:p>
          <a:p>
            <a:pPr algn="just">
              <a:buFont typeface="Wingdings" panose="05000000000000000000" charset="0"/>
              <a:buChar char="Ø"/>
            </a:pPr>
            <a:r>
              <a:rPr lang="en-IN" dirty="0">
                <a:latin typeface="Times New Roman" panose="02020603050405020304" pitchFamily="18" charset="0"/>
                <a:cs typeface="Times New Roman" panose="02020603050405020304" pitchFamily="18" charset="0"/>
              </a:rPr>
              <a:t>Pre-processing</a:t>
            </a:r>
          </a:p>
          <a:p>
            <a:pPr algn="just">
              <a:buFont typeface="Wingdings" panose="05000000000000000000" charset="0"/>
              <a:buChar char="Ø"/>
            </a:pPr>
            <a:r>
              <a:rPr lang="en-IN" dirty="0">
                <a:latin typeface="Times New Roman" panose="02020603050405020304" pitchFamily="18" charset="0"/>
                <a:cs typeface="Times New Roman" panose="02020603050405020304" pitchFamily="18" charset="0"/>
              </a:rPr>
              <a:t>Feature extraction  </a:t>
            </a:r>
          </a:p>
          <a:p>
            <a:pPr algn="just">
              <a:buFont typeface="Wingdings" panose="05000000000000000000" charset="0"/>
              <a:buChar char="Ø"/>
            </a:pPr>
            <a:r>
              <a:rPr lang="en-IN" dirty="0">
                <a:latin typeface="Times New Roman" panose="02020603050405020304" pitchFamily="18" charset="0"/>
                <a:cs typeface="Times New Roman" panose="02020603050405020304" pitchFamily="18" charset="0"/>
              </a:rPr>
              <a:t>Deep learning model(CNN)</a:t>
            </a:r>
          </a:p>
          <a:p>
            <a:pPr algn="just">
              <a:buFont typeface="Wingdings" panose="05000000000000000000" charset="0"/>
              <a:buChar char="Ø"/>
            </a:pPr>
            <a:r>
              <a:rPr lang="en-IN" dirty="0">
                <a:latin typeface="Times New Roman" panose="02020603050405020304" pitchFamily="18" charset="0"/>
                <a:cs typeface="Times New Roman" panose="02020603050405020304" pitchFamily="18" charset="0"/>
              </a:rPr>
              <a:t>Model training</a:t>
            </a:r>
          </a:p>
          <a:p>
            <a:pPr algn="just">
              <a:buFont typeface="Wingdings" panose="05000000000000000000" charset="0"/>
              <a:buChar char="Ø"/>
            </a:pPr>
            <a:r>
              <a:rPr lang="en-IN" dirty="0">
                <a:latin typeface="Times New Roman" panose="02020603050405020304" pitchFamily="18" charset="0"/>
                <a:cs typeface="Times New Roman" panose="02020603050405020304" pitchFamily="18" charset="0"/>
              </a:rPr>
              <a:t>Classification(Binary)</a:t>
            </a:r>
          </a:p>
          <a:p>
            <a:pPr algn="just">
              <a:buFont typeface="Wingdings" panose="05000000000000000000" charset="0"/>
              <a:buChar char="Ø"/>
            </a:pPr>
            <a:r>
              <a:rPr lang="en-IN" dirty="0">
                <a:latin typeface="Times New Roman" panose="02020603050405020304" pitchFamily="18" charset="0"/>
                <a:cs typeface="Times New Roman" panose="02020603050405020304" pitchFamily="18" charset="0"/>
              </a:rPr>
              <a:t>User interface</a:t>
            </a:r>
          </a:p>
        </p:txBody>
      </p:sp>
      <p:sp>
        <p:nvSpPr>
          <p:cNvPr id="5" name="TextBox 4"/>
          <p:cNvSpPr txBox="1"/>
          <p:nvPr/>
        </p:nvSpPr>
        <p:spPr>
          <a:xfrm>
            <a:off x="2473960" y="4448810"/>
            <a:ext cx="6094730" cy="502920"/>
          </a:xfrm>
          <a:prstGeom prst="rect">
            <a:avLst/>
          </a:prstGeom>
          <a:noFill/>
        </p:spPr>
        <p:txBody>
          <a:bodyPr wrap="square">
            <a:noAutofit/>
          </a:bodyPr>
          <a:lstStyle/>
          <a:p>
            <a:r>
              <a:rPr lang="en-IN" sz="2400" b="1" dirty="0">
                <a:latin typeface="Times New Roman" panose="02020603050405020304" pitchFamily="18" charset="0"/>
                <a:cs typeface="Times New Roman" panose="02020603050405020304" pitchFamily="18" charset="0"/>
              </a:rPr>
              <a:t>For compilation:-</a:t>
            </a:r>
            <a:endParaRPr lang="en-IN" sz="2400" dirty="0"/>
          </a:p>
        </p:txBody>
      </p:sp>
      <p:sp>
        <p:nvSpPr>
          <p:cNvPr id="7" name="TextBox 6"/>
          <p:cNvSpPr txBox="1"/>
          <p:nvPr/>
        </p:nvSpPr>
        <p:spPr>
          <a:xfrm>
            <a:off x="2863215" y="4951095"/>
            <a:ext cx="6094730" cy="666750"/>
          </a:xfrm>
          <a:prstGeom prst="rect">
            <a:avLst/>
          </a:prstGeom>
          <a:noFill/>
        </p:spPr>
        <p:txBody>
          <a:bodyPr wrap="square">
            <a:noAutofit/>
          </a:bodyPr>
          <a:lstStyle/>
          <a:p>
            <a:pPr marL="285750" indent="-285750" algn="just">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VS-Code</a:t>
            </a:r>
          </a:p>
          <a:p>
            <a:pPr marL="285750" indent="-285750" algn="just">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Trae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1010385" y="148590"/>
            <a:ext cx="6949440" cy="715645"/>
          </a:xfrm>
          <a:prstGeom prst="rect">
            <a:avLst/>
          </a:prstGeom>
          <a:noFill/>
        </p:spPr>
        <p:txBody>
          <a:bodyPr wrap="square" rtlCol="0">
            <a:noAutofit/>
          </a:bodyPr>
          <a:lstStyle/>
          <a:p>
            <a:r>
              <a:rPr lang="en-IN" altLang="en-US" sz="2400" b="1" dirty="0">
                <a:latin typeface="Times New Roman" panose="02020603050405020304" pitchFamily="18" charset="0"/>
                <a:cs typeface="Times New Roman" panose="02020603050405020304" pitchFamily="18" charset="0"/>
              </a:rPr>
              <a:t>System design:</a:t>
            </a:r>
          </a:p>
        </p:txBody>
      </p:sp>
      <p:sp>
        <p:nvSpPr>
          <p:cNvPr id="3" name="Text Box 2"/>
          <p:cNvSpPr txBox="1"/>
          <p:nvPr/>
        </p:nvSpPr>
        <p:spPr>
          <a:xfrm>
            <a:off x="1026653" y="1162707"/>
            <a:ext cx="10205720" cy="5433060"/>
          </a:xfrm>
          <a:prstGeom prst="rect">
            <a:avLst/>
          </a:prstGeom>
          <a:noFill/>
        </p:spPr>
        <p:txBody>
          <a:bodyPr wrap="square" rtlCol="0">
            <a:noAutofit/>
          </a:bodyPr>
          <a:lstStyle/>
          <a:p>
            <a:endParaRPr lang="en-US" dirty="0"/>
          </a:p>
        </p:txBody>
      </p:sp>
      <p:sp>
        <p:nvSpPr>
          <p:cNvPr id="9" name="Rectangle 8"/>
          <p:cNvSpPr/>
          <p:nvPr/>
        </p:nvSpPr>
        <p:spPr>
          <a:xfrm>
            <a:off x="4485105" y="681355"/>
            <a:ext cx="2286000" cy="731520"/>
          </a:xfrm>
          <a:prstGeom prst="rect">
            <a:avLst/>
          </a:prstGeom>
          <a:solidFill>
            <a:srgbClr val="000000"/>
          </a:solidFill>
          <a:ln w="19050">
            <a:solidFill>
              <a:srgbClr val="8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dirty="0">
                <a:solidFill>
                  <a:srgbClr val="FFFFFF"/>
                </a:solidFill>
                <a:latin typeface="Times New Roman" panose="02020603050405020304" pitchFamily="18" charset="0"/>
                <a:cs typeface="Times New Roman" panose="02020603050405020304" pitchFamily="18" charset="0"/>
              </a:rPr>
              <a:t>User Input
Eye Image</a:t>
            </a:r>
          </a:p>
        </p:txBody>
      </p:sp>
      <p:sp>
        <p:nvSpPr>
          <p:cNvPr id="11" name="Rectangle 10"/>
          <p:cNvSpPr/>
          <p:nvPr/>
        </p:nvSpPr>
        <p:spPr>
          <a:xfrm>
            <a:off x="893852" y="1510302"/>
            <a:ext cx="2286000" cy="731520"/>
          </a:xfrm>
          <a:prstGeom prst="rect">
            <a:avLst/>
          </a:prstGeom>
          <a:solidFill>
            <a:srgbClr val="000000"/>
          </a:solidFill>
          <a:ln w="19050">
            <a:solidFill>
              <a:srgbClr val="8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dirty="0">
                <a:solidFill>
                  <a:srgbClr val="FFFFFF"/>
                </a:solidFill>
                <a:latin typeface="Times New Roman" panose="02020603050405020304" pitchFamily="18" charset="0"/>
                <a:cs typeface="Times New Roman" panose="02020603050405020304" pitchFamily="18" charset="0"/>
              </a:rPr>
              <a:t>Web Interface
HTML/CSS/JS</a:t>
            </a:r>
          </a:p>
        </p:txBody>
      </p:sp>
      <p:sp>
        <p:nvSpPr>
          <p:cNvPr id="12" name="Rectangle 11"/>
          <p:cNvSpPr/>
          <p:nvPr/>
        </p:nvSpPr>
        <p:spPr>
          <a:xfrm>
            <a:off x="3342105" y="2211506"/>
            <a:ext cx="2286000" cy="731520"/>
          </a:xfrm>
          <a:prstGeom prst="rect">
            <a:avLst/>
          </a:prstGeom>
          <a:solidFill>
            <a:srgbClr val="000000"/>
          </a:solidFill>
          <a:ln w="19050">
            <a:solidFill>
              <a:srgbClr val="8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dirty="0">
                <a:solidFill>
                  <a:srgbClr val="FFFFFF"/>
                </a:solidFill>
                <a:latin typeface="Times New Roman" panose="02020603050405020304" pitchFamily="18" charset="0"/>
                <a:cs typeface="Times New Roman" panose="02020603050405020304" pitchFamily="18" charset="0"/>
              </a:rPr>
              <a:t>File Upload
Handler</a:t>
            </a:r>
          </a:p>
        </p:txBody>
      </p:sp>
      <p:sp>
        <p:nvSpPr>
          <p:cNvPr id="13" name="Rectangle 12"/>
          <p:cNvSpPr/>
          <p:nvPr/>
        </p:nvSpPr>
        <p:spPr>
          <a:xfrm>
            <a:off x="3342105" y="3123032"/>
            <a:ext cx="2286000" cy="731520"/>
          </a:xfrm>
          <a:prstGeom prst="rect">
            <a:avLst/>
          </a:prstGeom>
          <a:solidFill>
            <a:srgbClr val="000000"/>
          </a:solidFill>
          <a:ln w="19050">
            <a:solidFill>
              <a:srgbClr val="8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dirty="0">
                <a:solidFill>
                  <a:srgbClr val="FFFFFF"/>
                </a:solidFill>
                <a:latin typeface="Times New Roman" panose="02020603050405020304" pitchFamily="18" charset="0"/>
                <a:cs typeface="Times New Roman" panose="02020603050405020304" pitchFamily="18" charset="0"/>
              </a:rPr>
              <a:t>Input Validation
&amp; Error Handling</a:t>
            </a:r>
          </a:p>
        </p:txBody>
      </p:sp>
      <p:sp>
        <p:nvSpPr>
          <p:cNvPr id="14" name="Rectangle 13"/>
          <p:cNvSpPr/>
          <p:nvPr/>
        </p:nvSpPr>
        <p:spPr>
          <a:xfrm>
            <a:off x="9149715" y="1510302"/>
            <a:ext cx="2286000" cy="731520"/>
          </a:xfrm>
          <a:prstGeom prst="rect">
            <a:avLst/>
          </a:prstGeom>
          <a:solidFill>
            <a:srgbClr val="000000"/>
          </a:solidFill>
          <a:ln w="19050">
            <a:solidFill>
              <a:srgbClr val="8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dirty="0">
                <a:solidFill>
                  <a:srgbClr val="FFFFFF"/>
                </a:solidFill>
                <a:latin typeface="Times New Roman" panose="02020603050405020304" pitchFamily="18" charset="0"/>
                <a:cs typeface="Times New Roman" panose="02020603050405020304" pitchFamily="18" charset="0"/>
              </a:rPr>
              <a:t>Image Input
Acquisition</a:t>
            </a:r>
          </a:p>
        </p:txBody>
      </p:sp>
      <p:sp>
        <p:nvSpPr>
          <p:cNvPr id="15" name="Rectangle 14"/>
          <p:cNvSpPr/>
          <p:nvPr/>
        </p:nvSpPr>
        <p:spPr>
          <a:xfrm>
            <a:off x="6373459" y="2248204"/>
            <a:ext cx="2286000" cy="731520"/>
          </a:xfrm>
          <a:prstGeom prst="rect">
            <a:avLst/>
          </a:prstGeom>
          <a:solidFill>
            <a:srgbClr val="000000"/>
          </a:solidFill>
          <a:ln w="19050">
            <a:solidFill>
              <a:srgbClr val="8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dirty="0">
                <a:solidFill>
                  <a:srgbClr val="FFFFFF"/>
                </a:solidFill>
                <a:latin typeface="Times New Roman" panose="02020603050405020304" pitchFamily="18" charset="0"/>
                <a:cs typeface="Times New Roman" panose="02020603050405020304" pitchFamily="18" charset="0"/>
              </a:rPr>
              <a:t>Image Preprocessing
Resize 
+ Normalization</a:t>
            </a:r>
          </a:p>
        </p:txBody>
      </p:sp>
      <p:sp>
        <p:nvSpPr>
          <p:cNvPr id="16" name="Rectangle 15"/>
          <p:cNvSpPr/>
          <p:nvPr/>
        </p:nvSpPr>
        <p:spPr>
          <a:xfrm>
            <a:off x="6373459" y="3147718"/>
            <a:ext cx="2286000" cy="731520"/>
          </a:xfrm>
          <a:prstGeom prst="rect">
            <a:avLst/>
          </a:prstGeom>
          <a:solidFill>
            <a:srgbClr val="000000"/>
          </a:solidFill>
          <a:ln w="19050">
            <a:solidFill>
              <a:srgbClr val="8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dirty="0">
                <a:solidFill>
                  <a:srgbClr val="FFFFFF"/>
                </a:solidFill>
                <a:latin typeface="Times New Roman" panose="02020603050405020304" pitchFamily="18" charset="0"/>
                <a:cs typeface="Times New Roman" panose="02020603050405020304" pitchFamily="18" charset="0"/>
              </a:rPr>
              <a:t>CNN Model
Conv2D + MaxPool2D
+ Dense Layers</a:t>
            </a:r>
          </a:p>
        </p:txBody>
      </p:sp>
      <p:sp>
        <p:nvSpPr>
          <p:cNvPr id="17" name="Rectangle 16"/>
          <p:cNvSpPr/>
          <p:nvPr/>
        </p:nvSpPr>
        <p:spPr>
          <a:xfrm>
            <a:off x="4782620" y="4121467"/>
            <a:ext cx="2286000" cy="731520"/>
          </a:xfrm>
          <a:prstGeom prst="rect">
            <a:avLst/>
          </a:prstGeom>
          <a:solidFill>
            <a:srgbClr val="000000"/>
          </a:solidFill>
          <a:ln w="19050">
            <a:solidFill>
              <a:srgbClr val="8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dirty="0">
                <a:solidFill>
                  <a:srgbClr val="FFFFFF"/>
                </a:solidFill>
                <a:latin typeface="Times New Roman" panose="02020603050405020304" pitchFamily="18" charset="0"/>
                <a:cs typeface="Times New Roman" panose="02020603050405020304" pitchFamily="18" charset="0"/>
              </a:rPr>
              <a:t>Feature Extraction
GlobalAveragePooling2D</a:t>
            </a:r>
          </a:p>
        </p:txBody>
      </p:sp>
      <p:sp>
        <p:nvSpPr>
          <p:cNvPr id="18" name="Rectangle 17"/>
          <p:cNvSpPr/>
          <p:nvPr/>
        </p:nvSpPr>
        <p:spPr>
          <a:xfrm>
            <a:off x="1565097" y="4777688"/>
            <a:ext cx="2286000" cy="731520"/>
          </a:xfrm>
          <a:prstGeom prst="rect">
            <a:avLst/>
          </a:prstGeom>
          <a:solidFill>
            <a:srgbClr val="000000"/>
          </a:solidFill>
          <a:ln w="19050">
            <a:solidFill>
              <a:srgbClr val="8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dirty="0">
                <a:solidFill>
                  <a:srgbClr val="FFFFFF"/>
                </a:solidFill>
                <a:latin typeface="Times New Roman" panose="02020603050405020304" pitchFamily="18" charset="0"/>
                <a:cs typeface="Times New Roman" panose="02020603050405020304" pitchFamily="18" charset="0"/>
              </a:rPr>
              <a:t>Prediction Engine
</a:t>
            </a:r>
            <a:r>
              <a:rPr sz="1000" dirty="0" err="1">
                <a:solidFill>
                  <a:srgbClr val="FFFFFF"/>
                </a:solidFill>
                <a:latin typeface="Times New Roman" panose="02020603050405020304" pitchFamily="18" charset="0"/>
                <a:cs typeface="Times New Roman" panose="02020603050405020304" pitchFamily="18" charset="0"/>
              </a:rPr>
              <a:t>Keras</a:t>
            </a:r>
            <a:r>
              <a:rPr sz="1000" dirty="0">
                <a:solidFill>
                  <a:srgbClr val="FFFFFF"/>
                </a:solidFill>
                <a:latin typeface="Times New Roman" panose="02020603050405020304" pitchFamily="18" charset="0"/>
                <a:cs typeface="Times New Roman" panose="02020603050405020304" pitchFamily="18" charset="0"/>
              </a:rPr>
              <a:t> </a:t>
            </a:r>
            <a:r>
              <a:rPr sz="1000" dirty="0" err="1">
                <a:solidFill>
                  <a:srgbClr val="FFFFFF"/>
                </a:solidFill>
                <a:latin typeface="Times New Roman" panose="02020603050405020304" pitchFamily="18" charset="0"/>
                <a:cs typeface="Times New Roman" panose="02020603050405020304" pitchFamily="18" charset="0"/>
              </a:rPr>
              <a:t>Model.predict</a:t>
            </a:r>
            <a:r>
              <a:rPr sz="1000" dirty="0">
                <a:solidFill>
                  <a:srgbClr val="FFFFFF"/>
                </a:solidFill>
                <a:latin typeface="Times New Roman" panose="02020603050405020304" pitchFamily="18" charset="0"/>
                <a:cs typeface="Times New Roman" panose="02020603050405020304" pitchFamily="18" charset="0"/>
              </a:rPr>
              <a:t>()</a:t>
            </a:r>
          </a:p>
        </p:txBody>
      </p:sp>
      <p:sp>
        <p:nvSpPr>
          <p:cNvPr id="20" name="Rectangle 19"/>
          <p:cNvSpPr/>
          <p:nvPr/>
        </p:nvSpPr>
        <p:spPr>
          <a:xfrm>
            <a:off x="8049802" y="4802717"/>
            <a:ext cx="2286000" cy="731520"/>
          </a:xfrm>
          <a:prstGeom prst="rect">
            <a:avLst/>
          </a:prstGeom>
          <a:solidFill>
            <a:srgbClr val="000000"/>
          </a:solidFill>
          <a:ln w="19050">
            <a:solidFill>
              <a:srgbClr val="8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dirty="0">
                <a:solidFill>
                  <a:srgbClr val="FFFFFF"/>
                </a:solidFill>
                <a:latin typeface="Times New Roman" panose="02020603050405020304" pitchFamily="18" charset="0"/>
                <a:cs typeface="Times New Roman" panose="02020603050405020304" pitchFamily="18" charset="0"/>
              </a:rPr>
              <a:t>Binary Classification
Sigmoid Activation</a:t>
            </a:r>
          </a:p>
        </p:txBody>
      </p:sp>
      <p:sp>
        <p:nvSpPr>
          <p:cNvPr id="22" name="Rectangle 21"/>
          <p:cNvSpPr/>
          <p:nvPr/>
        </p:nvSpPr>
        <p:spPr>
          <a:xfrm>
            <a:off x="4603714" y="5256258"/>
            <a:ext cx="2286000" cy="731520"/>
          </a:xfrm>
          <a:prstGeom prst="rect">
            <a:avLst/>
          </a:prstGeom>
          <a:solidFill>
            <a:srgbClr val="000000"/>
          </a:solidFill>
          <a:ln w="19050">
            <a:solidFill>
              <a:srgbClr val="8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dirty="0">
                <a:solidFill>
                  <a:srgbClr val="FFFFFF"/>
                </a:solidFill>
                <a:latin typeface="Times New Roman" panose="02020603050405020304" pitchFamily="18" charset="0"/>
                <a:cs typeface="Times New Roman" panose="02020603050405020304" pitchFamily="18" charset="0"/>
              </a:rPr>
              <a:t>Confidence Calculation
Threshold &gt; 0.5</a:t>
            </a:r>
          </a:p>
        </p:txBody>
      </p:sp>
      <p:sp>
        <p:nvSpPr>
          <p:cNvPr id="23" name="Rectangle 22"/>
          <p:cNvSpPr/>
          <p:nvPr/>
        </p:nvSpPr>
        <p:spPr>
          <a:xfrm>
            <a:off x="5925820" y="6114415"/>
            <a:ext cx="2286000" cy="640080"/>
          </a:xfrm>
          <a:prstGeom prst="rect">
            <a:avLst/>
          </a:prstGeom>
          <a:solidFill>
            <a:srgbClr val="000000"/>
          </a:solidFill>
          <a:ln w="19050">
            <a:solidFill>
              <a:srgbClr val="8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dirty="0">
                <a:solidFill>
                  <a:srgbClr val="FFFFFF"/>
                </a:solidFill>
                <a:latin typeface="Times New Roman" panose="02020603050405020304" pitchFamily="18" charset="0"/>
                <a:cs typeface="Times New Roman" panose="02020603050405020304" pitchFamily="18" charset="0"/>
              </a:rPr>
              <a:t>JSON Response
Result + Confidence</a:t>
            </a:r>
          </a:p>
        </p:txBody>
      </p:sp>
      <p:sp>
        <p:nvSpPr>
          <p:cNvPr id="27" name="Arrow: Bent 26"/>
          <p:cNvSpPr/>
          <p:nvPr/>
        </p:nvSpPr>
        <p:spPr>
          <a:xfrm rot="5400000">
            <a:off x="8235042" y="-599701"/>
            <a:ext cx="636823" cy="3564697"/>
          </a:xfrm>
          <a:prstGeom prst="bentArrow">
            <a:avLst>
              <a:gd name="adj1" fmla="val 25000"/>
              <a:gd name="adj2" fmla="val 25000"/>
              <a:gd name="adj3" fmla="val 19950"/>
              <a:gd name="adj4" fmla="val 43750"/>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28" name="Arrow: Bent 27"/>
          <p:cNvSpPr/>
          <p:nvPr/>
        </p:nvSpPr>
        <p:spPr>
          <a:xfrm rot="16200000" flipH="1">
            <a:off x="2787171" y="-196878"/>
            <a:ext cx="636822" cy="2759047"/>
          </a:xfrm>
          <a:prstGeom prst="bentArrow">
            <a:avLst>
              <a:gd name="adj1" fmla="val 25000"/>
              <a:gd name="adj2" fmla="val 25000"/>
              <a:gd name="adj3" fmla="val 19950"/>
              <a:gd name="adj4" fmla="val 43750"/>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solidFill>
                <a:schemeClr val="tx1"/>
              </a:solidFill>
            </a:endParaRPr>
          </a:p>
        </p:txBody>
      </p:sp>
      <p:sp>
        <p:nvSpPr>
          <p:cNvPr id="29" name="Arrow: Bent-Up 28"/>
          <p:cNvSpPr/>
          <p:nvPr/>
        </p:nvSpPr>
        <p:spPr>
          <a:xfrm rot="5400000">
            <a:off x="2437007" y="1683993"/>
            <a:ext cx="368808" cy="1441385"/>
          </a:xfrm>
          <a:prstGeom prst="bentUp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30" name="Arrow: Bent-Up 29"/>
          <p:cNvSpPr/>
          <p:nvPr/>
        </p:nvSpPr>
        <p:spPr>
          <a:xfrm rot="16200000" flipH="1">
            <a:off x="9438733" y="1486537"/>
            <a:ext cx="323278" cy="1881826"/>
          </a:xfrm>
          <a:prstGeom prst="bentUp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31" name="Arrow: U-Turn 30"/>
          <p:cNvSpPr/>
          <p:nvPr/>
        </p:nvSpPr>
        <p:spPr>
          <a:xfrm rot="5400000">
            <a:off x="8376632" y="3003247"/>
            <a:ext cx="893987" cy="311975"/>
          </a:xfrm>
          <a:prstGeom prst="utur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32" name="Arrow: U-Turn 31"/>
          <p:cNvSpPr/>
          <p:nvPr/>
        </p:nvSpPr>
        <p:spPr>
          <a:xfrm rot="5400000" flipV="1">
            <a:off x="2724410" y="3003247"/>
            <a:ext cx="893987" cy="311976"/>
          </a:xfrm>
          <a:prstGeom prst="utur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33" name="Arrow: Bent-Up 32"/>
          <p:cNvSpPr/>
          <p:nvPr/>
        </p:nvSpPr>
        <p:spPr>
          <a:xfrm rot="16200000" flipH="1">
            <a:off x="7395923" y="3581102"/>
            <a:ext cx="565507" cy="1161779"/>
          </a:xfrm>
          <a:prstGeom prst="bentUp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34" name="Arrow: Bent-Up 33"/>
          <p:cNvSpPr/>
          <p:nvPr/>
        </p:nvSpPr>
        <p:spPr>
          <a:xfrm rot="5400000">
            <a:off x="3989161" y="3632148"/>
            <a:ext cx="565508" cy="1023147"/>
          </a:xfrm>
          <a:prstGeom prst="bentUp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35" name="Arrow: U-Turn 34"/>
          <p:cNvSpPr/>
          <p:nvPr/>
        </p:nvSpPr>
        <p:spPr>
          <a:xfrm rot="5400000">
            <a:off x="8694717" y="2903611"/>
            <a:ext cx="565510" cy="3817706"/>
          </a:xfrm>
          <a:prstGeom prst="uturnArrow">
            <a:avLst>
              <a:gd name="adj1" fmla="val 25000"/>
              <a:gd name="adj2" fmla="val 25000"/>
              <a:gd name="adj3" fmla="val 43168"/>
              <a:gd name="adj4" fmla="val 43750"/>
              <a:gd name="adj5" fmla="val 14942"/>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36" name="Arrow: U-Turn 35"/>
          <p:cNvSpPr/>
          <p:nvPr/>
        </p:nvSpPr>
        <p:spPr>
          <a:xfrm rot="16200000" flipH="1">
            <a:off x="2597601" y="2932514"/>
            <a:ext cx="552330" cy="3817706"/>
          </a:xfrm>
          <a:prstGeom prst="uturnArrow">
            <a:avLst>
              <a:gd name="adj1" fmla="val 25000"/>
              <a:gd name="adj2" fmla="val 25000"/>
              <a:gd name="adj3" fmla="val 43168"/>
              <a:gd name="adj4" fmla="val 43750"/>
              <a:gd name="adj5" fmla="val 14942"/>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37" name="Arrow: Down 36"/>
          <p:cNvSpPr/>
          <p:nvPr/>
        </p:nvSpPr>
        <p:spPr>
          <a:xfrm>
            <a:off x="5542984" y="4862170"/>
            <a:ext cx="395479" cy="454272"/>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8" name="Arrow: Bent-Up 37"/>
          <p:cNvSpPr/>
          <p:nvPr/>
        </p:nvSpPr>
        <p:spPr>
          <a:xfrm rot="16200000" flipH="1">
            <a:off x="7668988" y="4782222"/>
            <a:ext cx="323278" cy="1881826"/>
          </a:xfrm>
          <a:prstGeom prst="bentUp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39" name="Arrow: Bent-Up 38"/>
          <p:cNvSpPr/>
          <p:nvPr/>
        </p:nvSpPr>
        <p:spPr>
          <a:xfrm rot="5400000">
            <a:off x="3534616" y="4759088"/>
            <a:ext cx="320499" cy="1817694"/>
          </a:xfrm>
          <a:prstGeom prst="bentUp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40" name="Arrow: Bent 39"/>
          <p:cNvSpPr/>
          <p:nvPr/>
        </p:nvSpPr>
        <p:spPr>
          <a:xfrm flipV="1">
            <a:off x="4822851" y="5997109"/>
            <a:ext cx="1102768" cy="731520"/>
          </a:xfrm>
          <a:prstGeom prst="ben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4" name="Arrow: Right 3"/>
          <p:cNvSpPr/>
          <p:nvPr/>
        </p:nvSpPr>
        <p:spPr>
          <a:xfrm>
            <a:off x="8234365" y="6357452"/>
            <a:ext cx="850188" cy="32327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Rectangle 4"/>
          <p:cNvSpPr/>
          <p:nvPr/>
        </p:nvSpPr>
        <p:spPr>
          <a:xfrm>
            <a:off x="9107170" y="6080125"/>
            <a:ext cx="2286000" cy="659130"/>
          </a:xfrm>
          <a:prstGeom prst="rect">
            <a:avLst/>
          </a:prstGeom>
          <a:solidFill>
            <a:srgbClr val="000000"/>
          </a:solidFill>
          <a:ln w="19050">
            <a:solidFill>
              <a:srgbClr val="8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IN" sz="1000" dirty="0"/>
              <a:t>Evaluation metrics </a:t>
            </a:r>
            <a:endParaRPr sz="1000" dirty="0">
              <a:solidFill>
                <a:srgbClr val="FFFFFF"/>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242820" y="1544955"/>
            <a:ext cx="6094730" cy="544195"/>
          </a:xfrm>
          <a:prstGeom prst="rect">
            <a:avLst/>
          </a:prstGeom>
          <a:noFill/>
        </p:spPr>
        <p:txBody>
          <a:bodyPr wrap="square">
            <a:noAutofit/>
          </a:bodyPr>
          <a:lstStyle/>
          <a:p>
            <a:r>
              <a:rPr lang="en-IN" sz="2400" b="1" dirty="0">
                <a:latin typeface="Times New Roman" panose="02020603050405020304" pitchFamily="18" charset="0"/>
                <a:cs typeface="Times New Roman" panose="02020603050405020304" pitchFamily="18" charset="0"/>
              </a:rPr>
              <a:t>Algorithm:</a:t>
            </a:r>
          </a:p>
        </p:txBody>
      </p:sp>
      <p:sp>
        <p:nvSpPr>
          <p:cNvPr id="4" name="Rectangle 2"/>
          <p:cNvSpPr>
            <a:spLocks noChangeArrowheads="1"/>
          </p:cNvSpPr>
          <p:nvPr/>
        </p:nvSpPr>
        <p:spPr bwMode="auto">
          <a:xfrm>
            <a:off x="2835910" y="2089150"/>
            <a:ext cx="7113905" cy="2570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noAutofit/>
          </a:bodyPr>
          <a:lstStyle/>
          <a:p>
            <a:pPr lvl="7" defTabSz="914400" eaLnBrk="0" fontAlgn="base" hangingPunct="0">
              <a:lnSpc>
                <a:spcPct val="150000"/>
              </a:lnSpc>
              <a:spcBef>
                <a:spcPct val="0"/>
              </a:spcBef>
              <a:spcAft>
                <a:spcPct val="0"/>
              </a:spcAft>
            </a:pP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285750" lvl="0" indent="-285750" defTabSz="914400" eaLnBrk="0" fontAlgn="base" hangingPunct="0">
              <a:lnSpc>
                <a:spcPct val="150000"/>
              </a:lnSpc>
              <a:spcBef>
                <a:spcPct val="0"/>
              </a:spcBef>
              <a:spcAft>
                <a:spcPct val="0"/>
              </a:spcAft>
              <a:buFont typeface="Wingdings" panose="05000000000000000000" pitchFamily="2" charset="2"/>
              <a:buChar char="Ø"/>
            </a:pPr>
            <a:r>
              <a:rPr lang="en-US" altLang="en-US" b="1" dirty="0">
                <a:latin typeface="Times New Roman" panose="02020603050405020304" pitchFamily="18" charset="0"/>
                <a:cs typeface="Times New Roman" panose="02020603050405020304" pitchFamily="18" charset="0"/>
              </a:rPr>
              <a:t>User Input</a:t>
            </a:r>
            <a:r>
              <a:rPr lang="en-US" altLang="en-US" dirty="0">
                <a:latin typeface="Times New Roman" panose="02020603050405020304" pitchFamily="18" charset="0"/>
                <a:cs typeface="Times New Roman" panose="02020603050405020304" pitchFamily="18" charset="0"/>
              </a:rPr>
              <a:t> → Upload eye image via web interface.</a:t>
            </a:r>
            <a:endParaRPr lang="en-US" altLang="en-US" b="1" dirty="0">
              <a:latin typeface="Times New Roman" panose="02020603050405020304" pitchFamily="18" charset="0"/>
              <a:cs typeface="Times New Roman" panose="02020603050405020304" pitchFamily="18" charset="0"/>
            </a:endParaRPr>
          </a:p>
          <a:p>
            <a:pPr marL="285750" lvl="0" indent="-285750" defTabSz="914400" eaLnBrk="0" fontAlgn="base" hangingPunct="0">
              <a:lnSpc>
                <a:spcPct val="150000"/>
              </a:lnSpc>
              <a:spcBef>
                <a:spcPct val="0"/>
              </a:spcBef>
              <a:spcAft>
                <a:spcPct val="0"/>
              </a:spcAft>
              <a:buFont typeface="Wingdings" panose="05000000000000000000" pitchFamily="2" charset="2"/>
              <a:buChar char="Ø"/>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Validation</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Check file format &amp; handle errors.</a:t>
            </a:r>
          </a:p>
          <a:p>
            <a:pPr marL="285750" lvl="0" indent="-285750" defTabSz="914400" eaLnBrk="0" fontAlgn="base" hangingPunct="0">
              <a:lnSpc>
                <a:spcPct val="150000"/>
              </a:lnSpc>
              <a:spcBef>
                <a:spcPct val="0"/>
              </a:spcBef>
              <a:spcAft>
                <a:spcPct val="0"/>
              </a:spcAft>
              <a:buFont typeface="Wingdings" panose="05000000000000000000" pitchFamily="2" charset="2"/>
              <a:buChar char="Ø"/>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Preprocessing</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Resize , Normalize pixels.</a:t>
            </a:r>
          </a:p>
          <a:p>
            <a:pPr marL="285750" lvl="0" indent="-285750" defTabSz="914400" eaLnBrk="0" fontAlgn="base" hangingPunct="0">
              <a:lnSpc>
                <a:spcPct val="150000"/>
              </a:lnSpc>
              <a:spcBef>
                <a:spcPct val="0"/>
              </a:spcBef>
              <a:spcAft>
                <a:spcPct val="0"/>
              </a:spcAft>
              <a:buFont typeface="Wingdings" panose="05000000000000000000" pitchFamily="2" charset="2"/>
              <a:buChar char="Ø"/>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CNN Model</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Conv2D + Max Pooling + Dense (Sigmoid AF).</a:t>
            </a:r>
          </a:p>
          <a:p>
            <a:pPr marL="285750" lvl="0" indent="-285750" defTabSz="914400" eaLnBrk="0" fontAlgn="base" hangingPunct="0">
              <a:lnSpc>
                <a:spcPct val="150000"/>
              </a:lnSpc>
              <a:spcBef>
                <a:spcPct val="0"/>
              </a:spcBef>
              <a:spcAft>
                <a:spcPct val="0"/>
              </a:spcAft>
              <a:buFont typeface="Wingdings" panose="05000000000000000000" pitchFamily="2" charset="2"/>
              <a:buChar char="Ø"/>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Classification</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Output: </a:t>
            </a:r>
            <a:r>
              <a:rPr kumimoji="0" lang="en-US" altLang="en-US" sz="18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Normal / Anemic</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285750" lvl="0" indent="-285750" defTabSz="914400" eaLnBrk="0" fontAlgn="base" hangingPunct="0">
              <a:lnSpc>
                <a:spcPct val="150000"/>
              </a:lnSpc>
              <a:spcBef>
                <a:spcPct val="0"/>
              </a:spcBef>
              <a:spcAft>
                <a:spcPct val="0"/>
              </a:spcAft>
              <a:buFont typeface="Wingdings" panose="05000000000000000000" pitchFamily="2" charset="2"/>
              <a:buChar char="Ø"/>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Confidence Score</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Threshold &gt; 0.5.</a:t>
            </a:r>
          </a:p>
          <a:p>
            <a:pPr marL="285750" lvl="0" indent="-285750" defTabSz="914400" eaLnBrk="0" fontAlgn="base" hangingPunct="0">
              <a:lnSpc>
                <a:spcPct val="150000"/>
              </a:lnSpc>
              <a:spcBef>
                <a:spcPct val="0"/>
              </a:spcBef>
              <a:spcAft>
                <a:spcPct val="0"/>
              </a:spcAft>
              <a:buFont typeface="Wingdings" panose="05000000000000000000" pitchFamily="2" charset="2"/>
              <a:buChar char="Ø"/>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Result</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JSON Response → Display on UI.</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40156" y="927160"/>
            <a:ext cx="8911687" cy="1280890"/>
          </a:xfrm>
        </p:spPr>
        <p:txBody>
          <a:bodyPr>
            <a:normAutofit/>
          </a:bodyPr>
          <a:lstStyle/>
          <a:p>
            <a:r>
              <a:rPr lang="en-IN" sz="2400" b="1" dirty="0">
                <a:latin typeface="Times New Roman" panose="02020603050405020304" pitchFamily="18" charset="0"/>
                <a:cs typeface="Times New Roman" panose="02020603050405020304" pitchFamily="18" charset="0"/>
              </a:rPr>
              <a:t>Real time demonstration &amp; Results :-</a:t>
            </a:r>
            <a:br>
              <a:rPr lang="en-IN" sz="2400" b="1" dirty="0">
                <a:latin typeface="Times New Roman" panose="02020603050405020304" pitchFamily="18" charset="0"/>
                <a:cs typeface="Times New Roman" panose="02020603050405020304" pitchFamily="18" charset="0"/>
              </a:rPr>
            </a:br>
            <a:endParaRPr lang="en-IN" sz="2400" b="1" dirty="0">
              <a:latin typeface="Times New Roman" panose="02020603050405020304" pitchFamily="18" charset="0"/>
              <a:cs typeface="Times New Roman" panose="02020603050405020304" pitchFamily="18" charset="0"/>
            </a:endParaRPr>
          </a:p>
        </p:txBody>
      </p:sp>
      <p:sp>
        <p:nvSpPr>
          <p:cNvPr id="7" name="TextBox 6"/>
          <p:cNvSpPr txBox="1"/>
          <p:nvPr/>
        </p:nvSpPr>
        <p:spPr>
          <a:xfrm>
            <a:off x="2024140" y="1530952"/>
            <a:ext cx="6094476" cy="369332"/>
          </a:xfrm>
          <a:prstGeom prst="rect">
            <a:avLst/>
          </a:prstGeom>
          <a:noFill/>
        </p:spPr>
        <p:txBody>
          <a:bodyPr wrap="square">
            <a:spAutoFit/>
          </a:bodyPr>
          <a:lstStyle/>
          <a:p>
            <a:pPr marL="0" indent="0" algn="just">
              <a:buNone/>
            </a:pPr>
            <a:r>
              <a:rPr lang="en-IN" dirty="0">
                <a:latin typeface="Times New Roman" panose="02020603050405020304" pitchFamily="18" charset="0"/>
                <a:cs typeface="Times New Roman" panose="02020603050405020304" pitchFamily="18" charset="0"/>
              </a:rPr>
              <a:t>Accuracy :- 80-82%</a:t>
            </a:r>
          </a:p>
        </p:txBody>
      </p:sp>
      <p:sp>
        <p:nvSpPr>
          <p:cNvPr id="9" name="TextBox 8"/>
          <p:cNvSpPr txBox="1"/>
          <p:nvPr/>
        </p:nvSpPr>
        <p:spPr>
          <a:xfrm>
            <a:off x="2024140" y="4538909"/>
            <a:ext cx="6094476" cy="369332"/>
          </a:xfrm>
          <a:prstGeom prst="rect">
            <a:avLst/>
          </a:prstGeom>
          <a:noFill/>
        </p:spPr>
        <p:txBody>
          <a:bodyPr wrap="square">
            <a:spAutoFit/>
          </a:bodyPr>
          <a:lstStyle/>
          <a:p>
            <a:pPr marL="0" indent="0" algn="just">
              <a:buNone/>
            </a:pPr>
            <a:r>
              <a:rPr lang="en-IN" dirty="0">
                <a:latin typeface="Times New Roman" panose="02020603050405020304" pitchFamily="18" charset="0"/>
                <a:cs typeface="Times New Roman" panose="02020603050405020304" pitchFamily="18" charset="0"/>
              </a:rPr>
              <a:t>F1- Score :- 70-72%</a:t>
            </a:r>
          </a:p>
        </p:txBody>
      </p:sp>
      <p:sp>
        <p:nvSpPr>
          <p:cNvPr id="11" name="TextBox 10"/>
          <p:cNvSpPr txBox="1"/>
          <p:nvPr/>
        </p:nvSpPr>
        <p:spPr>
          <a:xfrm>
            <a:off x="2064696" y="5540806"/>
            <a:ext cx="6094476" cy="369332"/>
          </a:xfrm>
          <a:prstGeom prst="rect">
            <a:avLst/>
          </a:prstGeom>
          <a:noFill/>
        </p:spPr>
        <p:txBody>
          <a:bodyPr wrap="square">
            <a:spAutoFit/>
          </a:bodyPr>
          <a:lstStyle/>
          <a:p>
            <a:pPr marL="0" indent="0" algn="just">
              <a:buNone/>
            </a:pPr>
            <a:r>
              <a:rPr lang="en-IN" dirty="0">
                <a:latin typeface="Times New Roman" panose="02020603050405020304" pitchFamily="18" charset="0"/>
                <a:cs typeface="Times New Roman" panose="02020603050405020304" pitchFamily="18" charset="0"/>
              </a:rPr>
              <a:t>Recall       :- 60-62%</a:t>
            </a:r>
          </a:p>
        </p:txBody>
      </p:sp>
      <p:sp>
        <p:nvSpPr>
          <p:cNvPr id="13" name="TextBox 12"/>
          <p:cNvSpPr txBox="1"/>
          <p:nvPr/>
        </p:nvSpPr>
        <p:spPr>
          <a:xfrm>
            <a:off x="2024140" y="3390971"/>
            <a:ext cx="6094476" cy="646331"/>
          </a:xfrm>
          <a:prstGeom prst="rect">
            <a:avLst/>
          </a:prstGeom>
          <a:noFill/>
        </p:spPr>
        <p:txBody>
          <a:bodyPr wrap="square">
            <a:spAutoFit/>
          </a:bodyPr>
          <a:lstStyle/>
          <a:p>
            <a:pPr algn="just"/>
            <a:r>
              <a:rPr lang="en-IN" dirty="0">
                <a:latin typeface="Times New Roman" panose="02020603050405020304" pitchFamily="18" charset="0"/>
                <a:cs typeface="Times New Roman" panose="02020603050405020304" pitchFamily="18" charset="0"/>
              </a:rPr>
              <a:t>Precision   :- 80-85%</a:t>
            </a:r>
            <a:endParaRPr lang="en-IN" dirty="0"/>
          </a:p>
          <a:p>
            <a:pPr marL="0" indent="0" algn="just">
              <a:buNone/>
            </a:pPr>
            <a:endParaRPr lang="en-IN" dirty="0">
              <a:latin typeface="Times New Roman" panose="02020603050405020304" pitchFamily="18" charset="0"/>
              <a:cs typeface="Times New Roman" panose="02020603050405020304" pitchFamily="18" charset="0"/>
            </a:endParaRPr>
          </a:p>
        </p:txBody>
      </p:sp>
      <p:pic>
        <p:nvPicPr>
          <p:cNvPr id="17" name="Picture 16"/>
          <p:cNvPicPr>
            <a:picLocks noChangeAspect="1"/>
          </p:cNvPicPr>
          <p:nvPr/>
        </p:nvPicPr>
        <p:blipFill>
          <a:blip r:embed="rId2"/>
          <a:stretch>
            <a:fillRect/>
          </a:stretch>
        </p:blipFill>
        <p:spPr>
          <a:xfrm>
            <a:off x="2064696" y="2002171"/>
            <a:ext cx="8558784" cy="1172793"/>
          </a:xfrm>
          <a:prstGeom prst="rect">
            <a:avLst/>
          </a:prstGeom>
        </p:spPr>
      </p:pic>
      <p:pic>
        <p:nvPicPr>
          <p:cNvPr id="19" name="Picture 18"/>
          <p:cNvPicPr>
            <a:picLocks noChangeAspect="1"/>
          </p:cNvPicPr>
          <p:nvPr/>
        </p:nvPicPr>
        <p:blipFill>
          <a:blip r:embed="rId3"/>
          <a:stretch>
            <a:fillRect/>
          </a:stretch>
        </p:blipFill>
        <p:spPr>
          <a:xfrm>
            <a:off x="2131332" y="3887530"/>
            <a:ext cx="3286584" cy="438211"/>
          </a:xfrm>
          <a:prstGeom prst="rect">
            <a:avLst/>
          </a:prstGeom>
        </p:spPr>
      </p:pic>
      <p:pic>
        <p:nvPicPr>
          <p:cNvPr id="21" name="Picture 20"/>
          <p:cNvPicPr>
            <a:picLocks noChangeAspect="1"/>
          </p:cNvPicPr>
          <p:nvPr/>
        </p:nvPicPr>
        <p:blipFill>
          <a:blip r:embed="rId4"/>
          <a:stretch>
            <a:fillRect/>
          </a:stretch>
        </p:blipFill>
        <p:spPr>
          <a:xfrm>
            <a:off x="2131332" y="6123545"/>
            <a:ext cx="2467319" cy="419158"/>
          </a:xfrm>
          <a:prstGeom prst="rect">
            <a:avLst/>
          </a:prstGeom>
        </p:spPr>
      </p:pic>
      <p:pic>
        <p:nvPicPr>
          <p:cNvPr id="23" name="Picture 22"/>
          <p:cNvPicPr>
            <a:picLocks noChangeAspect="1"/>
          </p:cNvPicPr>
          <p:nvPr/>
        </p:nvPicPr>
        <p:blipFill>
          <a:blip r:embed="rId5"/>
          <a:stretch>
            <a:fillRect/>
          </a:stretch>
        </p:blipFill>
        <p:spPr>
          <a:xfrm>
            <a:off x="2131332" y="4868961"/>
            <a:ext cx="2695951" cy="504895"/>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28C375DD-765F-CD43-C239-4B938F99D8F3}"/>
              </a:ext>
            </a:extLst>
          </p:cNvPr>
          <p:cNvSpPr txBox="1"/>
          <p:nvPr/>
        </p:nvSpPr>
        <p:spPr>
          <a:xfrm>
            <a:off x="1767078" y="953762"/>
            <a:ext cx="9882378" cy="400110"/>
          </a:xfrm>
          <a:prstGeom prst="rect">
            <a:avLst/>
          </a:prstGeom>
          <a:noFill/>
        </p:spPr>
        <p:txBody>
          <a:bodyPr wrap="square">
            <a:spAutoFit/>
          </a:bodyPr>
          <a:lstStyle/>
          <a:p>
            <a:r>
              <a:rPr lang="en-IN" sz="2000" b="1" dirty="0">
                <a:latin typeface="Times New Roman" panose="02020603050405020304" pitchFamily="18" charset="0"/>
                <a:cs typeface="Times New Roman" panose="02020603050405020304" pitchFamily="18" charset="0"/>
              </a:rPr>
              <a:t>EXISTING METHODOLOGY WITHOUT USING EYE CONJUNCTIVA IMAGES :-</a:t>
            </a:r>
          </a:p>
        </p:txBody>
      </p:sp>
      <p:pic>
        <p:nvPicPr>
          <p:cNvPr id="6" name="Picture 5">
            <a:extLst>
              <a:ext uri="{FF2B5EF4-FFF2-40B4-BE49-F238E27FC236}">
                <a16:creationId xmlns:a16="http://schemas.microsoft.com/office/drawing/2014/main" id="{7302AD49-71BC-A6DB-0CE9-22C78C37213D}"/>
              </a:ext>
            </a:extLst>
          </p:cNvPr>
          <p:cNvPicPr>
            <a:picLocks noChangeAspect="1"/>
          </p:cNvPicPr>
          <p:nvPr/>
        </p:nvPicPr>
        <p:blipFill>
          <a:blip r:embed="rId2"/>
          <a:stretch>
            <a:fillRect/>
          </a:stretch>
        </p:blipFill>
        <p:spPr>
          <a:xfrm>
            <a:off x="3201413" y="1826325"/>
            <a:ext cx="7013707" cy="4525366"/>
          </a:xfrm>
          <a:prstGeom prst="rect">
            <a:avLst/>
          </a:prstGeom>
        </p:spPr>
      </p:pic>
    </p:spTree>
    <p:extLst>
      <p:ext uri="{BB962C8B-B14F-4D97-AF65-F5344CB8AC3E}">
        <p14:creationId xmlns:p14="http://schemas.microsoft.com/office/powerpoint/2010/main" val="326333556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2400" b="1" dirty="0">
                <a:latin typeface="Times New Roman" panose="02020603050405020304" pitchFamily="18" charset="0"/>
                <a:cs typeface="Times New Roman" panose="02020603050405020304" pitchFamily="18" charset="0"/>
              </a:rPr>
              <a:t>Work done:</a:t>
            </a:r>
          </a:p>
        </p:txBody>
      </p:sp>
      <p:sp>
        <p:nvSpPr>
          <p:cNvPr id="4" name="Content Placeholder 3"/>
          <p:cNvSpPr>
            <a:spLocks noGrp="1"/>
          </p:cNvSpPr>
          <p:nvPr>
            <p:ph idx="1"/>
          </p:nvPr>
        </p:nvSpPr>
        <p:spPr>
          <a:xfrm>
            <a:off x="2588895" y="1195705"/>
            <a:ext cx="6661785" cy="4441825"/>
          </a:xfrm>
        </p:spPr>
        <p:txBody>
          <a:bodyPr/>
          <a:lstStyle/>
          <a:p>
            <a:pPr>
              <a:buFont typeface="Wingdings" panose="05000000000000000000" charset="0"/>
              <a:buChar char="ü"/>
            </a:pPr>
            <a:r>
              <a:rPr lang="en-US" altLang="en-US">
                <a:latin typeface="Times New Roman" panose="02020603050405020304" pitchFamily="18" charset="0"/>
                <a:cs typeface="Times New Roman" panose="02020603050405020304" pitchFamily="18" charset="0"/>
              </a:rPr>
              <a:t>Problem identification and literature survey</a:t>
            </a:r>
          </a:p>
          <a:p>
            <a:pPr>
              <a:buFont typeface="Wingdings" panose="05000000000000000000" charset="0"/>
              <a:buChar char="ü"/>
            </a:pPr>
            <a:r>
              <a:rPr lang="en-US" altLang="en-US">
                <a:latin typeface="Times New Roman" panose="02020603050405020304" pitchFamily="18" charset="0"/>
                <a:cs typeface="Times New Roman" panose="02020603050405020304" pitchFamily="18" charset="0"/>
              </a:rPr>
              <a:t>Data Gathering</a:t>
            </a:r>
          </a:p>
          <a:p>
            <a:pPr>
              <a:buFont typeface="Wingdings" panose="05000000000000000000" charset="0"/>
              <a:buChar char="ü"/>
            </a:pPr>
            <a:r>
              <a:rPr lang="en-US" altLang="en-US">
                <a:latin typeface="Times New Roman" panose="02020603050405020304" pitchFamily="18" charset="0"/>
                <a:cs typeface="Times New Roman" panose="02020603050405020304" pitchFamily="18" charset="0"/>
              </a:rPr>
              <a:t>Model selection and training</a:t>
            </a:r>
          </a:p>
          <a:p>
            <a:pPr>
              <a:buFont typeface="Wingdings" panose="05000000000000000000" charset="0"/>
              <a:buChar char="ü"/>
            </a:pPr>
            <a:r>
              <a:rPr lang="en-US" altLang="en-US">
                <a:latin typeface="Times New Roman" panose="02020603050405020304" pitchFamily="18" charset="0"/>
                <a:cs typeface="Times New Roman" panose="02020603050405020304" pitchFamily="18" charset="0"/>
              </a:rPr>
              <a:t>Feature extraction module</a:t>
            </a:r>
          </a:p>
          <a:p>
            <a:pPr>
              <a:buFont typeface="Wingdings" panose="05000000000000000000" charset="0"/>
              <a:buChar char="ü"/>
            </a:pPr>
            <a:r>
              <a:rPr lang="en-US" altLang="en-US">
                <a:latin typeface="Times New Roman" panose="02020603050405020304" pitchFamily="18" charset="0"/>
                <a:cs typeface="Times New Roman" panose="02020603050405020304" pitchFamily="18" charset="0"/>
              </a:rPr>
              <a:t>Web page interface</a:t>
            </a:r>
          </a:p>
          <a:p>
            <a:pPr marL="0" indent="0">
              <a:buFont typeface="Wingdings" panose="05000000000000000000" charset="0"/>
              <a:buNone/>
            </a:pPr>
            <a:r>
              <a:rPr lang="en-US" altLang="en-US" sz="2400" b="1">
                <a:latin typeface="Times New Roman" panose="02020603050405020304" pitchFamily="18" charset="0"/>
                <a:cs typeface="Times New Roman" panose="02020603050405020304" pitchFamily="18" charset="0"/>
              </a:rPr>
              <a:t>Remaining work:</a:t>
            </a:r>
          </a:p>
          <a:p>
            <a:pPr>
              <a:lnSpc>
                <a:spcPct val="100000"/>
              </a:lnSpc>
              <a:buFont typeface="Wingdings" panose="05000000000000000000" charset="0"/>
              <a:buChar char="Ø"/>
            </a:pPr>
            <a:r>
              <a:rPr lang="en-US" altLang="en-US">
                <a:latin typeface="Times New Roman" panose="02020603050405020304" pitchFamily="18" charset="0"/>
                <a:cs typeface="Times New Roman" panose="02020603050405020304" pitchFamily="18" charset="0"/>
              </a:rPr>
              <a:t>Int</a:t>
            </a:r>
            <a:r>
              <a:rPr lang="en-IN" altLang="en-US">
                <a:latin typeface="Times New Roman" panose="02020603050405020304" pitchFamily="18" charset="0"/>
                <a:cs typeface="Times New Roman" panose="02020603050405020304" pitchFamily="18" charset="0"/>
              </a:rPr>
              <a:t>e</a:t>
            </a:r>
            <a:r>
              <a:rPr lang="en-US" altLang="en-US">
                <a:latin typeface="Times New Roman" panose="02020603050405020304" pitchFamily="18" charset="0"/>
                <a:cs typeface="Times New Roman" panose="02020603050405020304" pitchFamily="18" charset="0"/>
              </a:rPr>
              <a:t>rested to adding local chatbot</a:t>
            </a:r>
          </a:p>
          <a:p>
            <a:pPr>
              <a:lnSpc>
                <a:spcPct val="100000"/>
              </a:lnSpc>
              <a:buFont typeface="Wingdings" panose="05000000000000000000" charset="0"/>
              <a:buChar char="Ø"/>
            </a:pPr>
            <a:r>
              <a:rPr lang="en-US" altLang="en-US">
                <a:latin typeface="Times New Roman" panose="02020603050405020304" pitchFamily="18" charset="0"/>
                <a:cs typeface="Times New Roman" panose="02020603050405020304" pitchFamily="18" charset="0"/>
              </a:rPr>
              <a:t>Minor changes in source codes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715770" y="455930"/>
            <a:ext cx="6094730" cy="497205"/>
          </a:xfrm>
          <a:prstGeom prst="rect">
            <a:avLst/>
          </a:prstGeom>
          <a:noFill/>
        </p:spPr>
        <p:txBody>
          <a:bodyPr wrap="square">
            <a:noAutofit/>
          </a:bodyPr>
          <a:lstStyle/>
          <a:p>
            <a:r>
              <a:rPr lang="en-IN" sz="2000" b="1" dirty="0">
                <a:latin typeface="Times New Roman" panose="02020603050405020304" pitchFamily="18" charset="0"/>
                <a:cs typeface="Times New Roman" panose="02020603050405020304" pitchFamily="18" charset="0"/>
              </a:rPr>
              <a:t>REFERENCES:</a:t>
            </a:r>
          </a:p>
        </p:txBody>
      </p:sp>
      <p:sp>
        <p:nvSpPr>
          <p:cNvPr id="5" name="TextBox 4"/>
          <p:cNvSpPr txBox="1"/>
          <p:nvPr/>
        </p:nvSpPr>
        <p:spPr>
          <a:xfrm>
            <a:off x="1525905" y="854710"/>
            <a:ext cx="10027285" cy="5824220"/>
          </a:xfrm>
          <a:prstGeom prst="rect">
            <a:avLst/>
          </a:prstGeom>
          <a:noFill/>
        </p:spPr>
        <p:txBody>
          <a:bodyPr wrap="square">
            <a:noAutofit/>
          </a:bodyPr>
          <a:lstStyle/>
          <a:p>
            <a:pPr indent="0" algn="just">
              <a:buFont typeface="+mj-lt"/>
              <a:buNone/>
            </a:pPr>
            <a:r>
              <a:rPr lang="en-IN" altLang="en-US" dirty="0">
                <a:latin typeface="Times New Roman" panose="02020603050405020304" pitchFamily="18" charset="0"/>
                <a:cs typeface="Times New Roman" panose="02020603050405020304" pitchFamily="18" charset="0"/>
                <a:sym typeface="+mn-ea"/>
              </a:rPr>
              <a:t>[1]Justice Williams Asare, William Leslie Brown-Acquaye ,et.al </a:t>
            </a:r>
            <a:r>
              <a:rPr lang="en-US" altLang="en-US" dirty="0">
                <a:latin typeface="Times New Roman" panose="02020603050405020304" pitchFamily="18" charset="0"/>
                <a:cs typeface="Times New Roman" panose="02020603050405020304" pitchFamily="18" charset="0"/>
                <a:sym typeface="+mn-ea"/>
              </a:rPr>
              <a:t>"Application of machine learning </a:t>
            </a:r>
            <a:r>
              <a:rPr lang="en-IN" altLang="en-US" dirty="0">
                <a:latin typeface="Times New Roman" panose="02020603050405020304" pitchFamily="18" charset="0"/>
                <a:cs typeface="Times New Roman" panose="02020603050405020304" pitchFamily="18" charset="0"/>
                <a:sym typeface="+mn-ea"/>
              </a:rPr>
              <a:t>                               </a:t>
            </a:r>
            <a:r>
              <a:rPr lang="en-US" altLang="en-US" dirty="0">
                <a:latin typeface="Times New Roman" panose="02020603050405020304" pitchFamily="18" charset="0"/>
                <a:cs typeface="Times New Roman" panose="02020603050405020304" pitchFamily="18" charset="0"/>
                <a:sym typeface="+mn-ea"/>
              </a:rPr>
              <a:t>approach for</a:t>
            </a:r>
            <a:r>
              <a:rPr lang="en-IN" altLang="en-US" dirty="0">
                <a:latin typeface="Times New Roman" panose="02020603050405020304" pitchFamily="18" charset="0"/>
                <a:cs typeface="Times New Roman" panose="02020603050405020304" pitchFamily="18" charset="0"/>
                <a:sym typeface="+mn-ea"/>
              </a:rPr>
              <a:t> </a:t>
            </a:r>
            <a:r>
              <a:rPr lang="en-US" altLang="en-US" dirty="0">
                <a:latin typeface="Times New Roman" panose="02020603050405020304" pitchFamily="18" charset="0"/>
                <a:cs typeface="Times New Roman" panose="02020603050405020304" pitchFamily="18" charset="0"/>
                <a:sym typeface="+mn-ea"/>
              </a:rPr>
              <a:t>iron deficiency anemia using conjunctiva images"</a:t>
            </a:r>
            <a:r>
              <a:rPr lang="en-IN" altLang="en-US" dirty="0">
                <a:latin typeface="Times New Roman" panose="02020603050405020304" pitchFamily="18" charset="0"/>
                <a:cs typeface="Times New Roman" panose="02020603050405020304" pitchFamily="18" charset="0"/>
                <a:sym typeface="+mn-ea"/>
              </a:rPr>
              <a:t>,Informatics in Medicine Unlocked , Elsevier, 19 January 2024.</a:t>
            </a:r>
          </a:p>
          <a:p>
            <a:pPr indent="0" algn="just">
              <a:buFont typeface="+mj-lt"/>
              <a:buNone/>
            </a:pPr>
            <a:r>
              <a:rPr lang="en-IN" altLang="en-US" dirty="0">
                <a:latin typeface="Times New Roman" panose="02020603050405020304" pitchFamily="18" charset="0"/>
                <a:cs typeface="Times New Roman" panose="02020603050405020304" pitchFamily="18" charset="0"/>
                <a:sym typeface="+mn-ea"/>
              </a:rPr>
              <a:t>[2] </a:t>
            </a:r>
            <a:r>
              <a:rPr lang="en-IN" altLang="en-US" dirty="0" err="1">
                <a:latin typeface="Times New Roman" panose="02020603050405020304" pitchFamily="18" charset="0"/>
                <a:cs typeface="Times New Roman" panose="02020603050405020304" pitchFamily="18" charset="0"/>
                <a:sym typeface="+mn-ea"/>
              </a:rPr>
              <a:t>Kasthuri.E</a:t>
            </a:r>
            <a:r>
              <a:rPr lang="en-IN" altLang="en-US" dirty="0">
                <a:latin typeface="Times New Roman" panose="02020603050405020304" pitchFamily="18" charset="0"/>
                <a:cs typeface="Times New Roman" panose="02020603050405020304" pitchFamily="18" charset="0"/>
                <a:sym typeface="+mn-ea"/>
              </a:rPr>
              <a:t>, S.Subbulakshmi , Rajasree Sreedhan , “ Insightful Clinical Assistance for Anemia Prediction with Data Analysis and Explainable AI”, Procedia ScienceDirect , Elsevier , 2024.</a:t>
            </a:r>
          </a:p>
          <a:p>
            <a:pPr indent="0" algn="just">
              <a:buFont typeface="+mj-lt"/>
              <a:buNone/>
            </a:pPr>
            <a:r>
              <a:rPr lang="en-IN" altLang="en-US" dirty="0">
                <a:latin typeface="Times New Roman" panose="02020603050405020304" pitchFamily="18" charset="0"/>
                <a:cs typeface="Times New Roman" panose="02020603050405020304" pitchFamily="18" charset="0"/>
                <a:sym typeface="+mn-ea"/>
              </a:rPr>
              <a:t>[3] Justice Williams Asare, Peter Appiahene, et.al,</a:t>
            </a:r>
            <a:r>
              <a:rPr lang="en-US" altLang="en-US" dirty="0">
                <a:latin typeface="Times New Roman" panose="02020603050405020304" pitchFamily="18" charset="0"/>
                <a:cs typeface="Times New Roman" panose="02020603050405020304" pitchFamily="18" charset="0"/>
                <a:sym typeface="+mn-ea"/>
              </a:rPr>
              <a:t>"</a:t>
            </a:r>
            <a:r>
              <a:rPr lang="en-IN" altLang="en-US" dirty="0">
                <a:latin typeface="Times New Roman" panose="02020603050405020304" pitchFamily="18" charset="0"/>
                <a:cs typeface="Times New Roman" panose="02020603050405020304" pitchFamily="18" charset="0"/>
                <a:sym typeface="+mn-ea"/>
              </a:rPr>
              <a:t>Detection of </a:t>
            </a:r>
            <a:r>
              <a:rPr lang="en-IN" altLang="en-US" dirty="0" err="1">
                <a:latin typeface="Times New Roman" panose="02020603050405020304" pitchFamily="18" charset="0"/>
                <a:cs typeface="Times New Roman" panose="02020603050405020304" pitchFamily="18" charset="0"/>
                <a:sym typeface="+mn-ea"/>
              </a:rPr>
              <a:t>anemia</a:t>
            </a:r>
            <a:r>
              <a:rPr lang="en-IN" altLang="en-US" dirty="0">
                <a:latin typeface="Times New Roman" panose="02020603050405020304" pitchFamily="18" charset="0"/>
                <a:cs typeface="Times New Roman" panose="02020603050405020304" pitchFamily="18" charset="0"/>
                <a:sym typeface="+mn-ea"/>
              </a:rPr>
              <a:t> using medical images: A comparative study of machine learning learing algorithm-A systematic literature review</a:t>
            </a:r>
            <a:r>
              <a:rPr lang="en-US" altLang="en-US" dirty="0">
                <a:latin typeface="Times New Roman" panose="02020603050405020304" pitchFamily="18" charset="0"/>
                <a:cs typeface="Times New Roman" panose="02020603050405020304" pitchFamily="18" charset="0"/>
                <a:sym typeface="+mn-ea"/>
              </a:rPr>
              <a:t>"</a:t>
            </a:r>
            <a:r>
              <a:rPr lang="en-IN" altLang="en-US" dirty="0">
                <a:latin typeface="Times New Roman" panose="02020603050405020304" pitchFamily="18" charset="0"/>
                <a:cs typeface="Times New Roman" panose="02020603050405020304" pitchFamily="18" charset="0"/>
                <a:sym typeface="+mn-ea"/>
              </a:rPr>
              <a:t>, Informatics in Medicine Unlocked , Elsevier, 26 May 2023.</a:t>
            </a:r>
          </a:p>
          <a:p>
            <a:pPr indent="0" algn="just">
              <a:buFont typeface="+mj-lt"/>
              <a:buNone/>
            </a:pPr>
            <a:r>
              <a:rPr lang="en-IN" altLang="en-US" dirty="0">
                <a:latin typeface="Times New Roman" panose="02020603050405020304" pitchFamily="18" charset="0"/>
                <a:cs typeface="Times New Roman" panose="02020603050405020304" pitchFamily="18" charset="0"/>
                <a:sym typeface="+mn-ea"/>
              </a:rPr>
              <a:t>[4] Sana Maidoumi, Charif Radouan Ouaziz, et.al, </a:t>
            </a:r>
            <a:r>
              <a:rPr lang="en-US" altLang="en-US" dirty="0">
                <a:latin typeface="Times New Roman" panose="02020603050405020304" pitchFamily="18" charset="0"/>
                <a:cs typeface="Times New Roman" panose="02020603050405020304" pitchFamily="18" charset="0"/>
                <a:sym typeface="+mn-ea"/>
              </a:rPr>
              <a:t>"Iron deficiency and cognitive impairment in children with low blood lead levels"</a:t>
            </a:r>
            <a:r>
              <a:rPr lang="en-IN" altLang="en-US" dirty="0">
                <a:latin typeface="Times New Roman" panose="02020603050405020304" pitchFamily="18" charset="0"/>
                <a:cs typeface="Times New Roman" panose="02020603050405020304" pitchFamily="18" charset="0"/>
                <a:sym typeface="+mn-ea"/>
              </a:rPr>
              <a:t>, Toxicology Reports , Elsevier, 23 August 2022.</a:t>
            </a:r>
          </a:p>
          <a:p>
            <a:pPr indent="0" algn="just">
              <a:buFont typeface="+mj-lt"/>
              <a:buNone/>
            </a:pPr>
            <a:r>
              <a:rPr lang="en-IN" altLang="en-US" dirty="0">
                <a:latin typeface="Times New Roman" panose="02020603050405020304" pitchFamily="18" charset="0"/>
                <a:cs typeface="Times New Roman" panose="02020603050405020304" pitchFamily="18" charset="0"/>
                <a:sym typeface="+mn-ea"/>
              </a:rPr>
              <a:t>[5] Tuba Karagul Yildiz, Nilufer Yurtay, Birgul Onec,</a:t>
            </a:r>
            <a:r>
              <a:rPr lang="en-US" altLang="en-US" dirty="0">
                <a:latin typeface="Times New Roman" panose="02020603050405020304" pitchFamily="18" charset="0"/>
                <a:cs typeface="Times New Roman" panose="02020603050405020304" pitchFamily="18" charset="0"/>
                <a:sym typeface="+mn-ea"/>
              </a:rPr>
              <a:t>"Classifying anemia types using artificial learning methods"</a:t>
            </a:r>
            <a:r>
              <a:rPr lang="en-IN" altLang="en-US" dirty="0">
                <a:latin typeface="Times New Roman" panose="02020603050405020304" pitchFamily="18" charset="0"/>
                <a:cs typeface="Times New Roman" panose="02020603050405020304" pitchFamily="18" charset="0"/>
                <a:sym typeface="+mn-ea"/>
              </a:rPr>
              <a:t>,</a:t>
            </a:r>
            <a:r>
              <a:rPr lang="en-US" altLang="en-US" dirty="0">
                <a:latin typeface="Times New Roman" panose="02020603050405020304" pitchFamily="18" charset="0"/>
                <a:cs typeface="Times New Roman" panose="02020603050405020304" pitchFamily="18" charset="0"/>
                <a:sym typeface="+mn-ea"/>
              </a:rPr>
              <a:t> </a:t>
            </a:r>
            <a:r>
              <a:rPr lang="en-IN" altLang="en-US" dirty="0">
                <a:latin typeface="Times New Roman" panose="02020603050405020304" pitchFamily="18" charset="0"/>
                <a:cs typeface="Times New Roman" panose="02020603050405020304" pitchFamily="18" charset="0"/>
                <a:sym typeface="+mn-ea"/>
              </a:rPr>
              <a:t>Engineering Science and Technology , an international journal, Elsevier, 7 January 2021.</a:t>
            </a:r>
          </a:p>
          <a:p>
            <a:pPr indent="0" algn="just">
              <a:buFont typeface="+mj-lt"/>
              <a:buNone/>
            </a:pPr>
            <a:r>
              <a:rPr lang="en-IN" altLang="en-US" dirty="0">
                <a:latin typeface="Times New Roman" panose="02020603050405020304" pitchFamily="18" charset="0"/>
                <a:cs typeface="Times New Roman" panose="02020603050405020304" pitchFamily="18" charset="0"/>
                <a:sym typeface="+mn-ea"/>
              </a:rPr>
              <a:t>[6] Sarah J.Hart</a:t>
            </a:r>
            <a:r>
              <a:rPr lang="en-US" altLang="en-US" dirty="0">
                <a:latin typeface="Times New Roman" panose="02020603050405020304" pitchFamily="18" charset="0"/>
                <a:cs typeface="Times New Roman" panose="02020603050405020304" pitchFamily="18" charset="0"/>
                <a:sym typeface="+mn-ea"/>
              </a:rPr>
              <a:t>,</a:t>
            </a:r>
            <a:r>
              <a:rPr lang="en-IN" altLang="en-US" dirty="0">
                <a:latin typeface="Times New Roman" panose="02020603050405020304" pitchFamily="18" charset="0"/>
                <a:cs typeface="Times New Roman" panose="02020603050405020304" pitchFamily="18" charset="0"/>
                <a:sym typeface="+mn-ea"/>
              </a:rPr>
              <a:t> Kanecia Zimmerman, Corinne M. Linardic,</a:t>
            </a:r>
            <a:r>
              <a:rPr lang="en-US" altLang="en-US" dirty="0">
                <a:latin typeface="Times New Roman" panose="02020603050405020304" pitchFamily="18" charset="0"/>
                <a:cs typeface="Times New Roman" panose="02020603050405020304" pitchFamily="18" charset="0"/>
                <a:sym typeface="+mn-ea"/>
              </a:rPr>
              <a:t> et.al "Detection of iron deficiency in children with Down syndrome"</a:t>
            </a:r>
            <a:r>
              <a:rPr lang="en-IN" altLang="en-US" dirty="0">
                <a:latin typeface="Times New Roman" panose="02020603050405020304" pitchFamily="18" charset="0"/>
                <a:cs typeface="Times New Roman" panose="02020603050405020304" pitchFamily="18" charset="0"/>
                <a:sym typeface="+mn-ea"/>
              </a:rPr>
              <a:t>, Genetics in Medicine, Nature Publishing Group, February 2020.</a:t>
            </a:r>
          </a:p>
          <a:p>
            <a:pPr indent="0" algn="just">
              <a:buFont typeface="+mj-lt"/>
              <a:buNone/>
            </a:pPr>
            <a:r>
              <a:rPr lang="en-IN" altLang="en-US" dirty="0">
                <a:latin typeface="Times New Roman" panose="02020603050405020304" pitchFamily="18" charset="0"/>
                <a:cs typeface="Times New Roman" panose="02020603050405020304" pitchFamily="18" charset="0"/>
                <a:sym typeface="+mn-ea"/>
              </a:rPr>
              <a:t>[7] Olufunke </a:t>
            </a:r>
            <a:r>
              <a:rPr lang="en-IN" altLang="en-US" dirty="0" err="1">
                <a:latin typeface="Times New Roman" panose="02020603050405020304" pitchFamily="18" charset="0"/>
                <a:cs typeface="Times New Roman" panose="02020603050405020304" pitchFamily="18" charset="0"/>
                <a:sym typeface="+mn-ea"/>
              </a:rPr>
              <a:t>Odunlade</a:t>
            </a:r>
            <a:r>
              <a:rPr lang="en-IN" altLang="en-US" dirty="0">
                <a:latin typeface="Times New Roman" panose="02020603050405020304" pitchFamily="18" charset="0"/>
                <a:cs typeface="Times New Roman" panose="02020603050405020304" pitchFamily="18" charset="0"/>
                <a:sym typeface="+mn-ea"/>
              </a:rPr>
              <a:t>, Olugbenga </a:t>
            </a:r>
            <a:r>
              <a:rPr lang="en-IN" altLang="en-US" dirty="0" err="1">
                <a:latin typeface="Times New Roman" panose="02020603050405020304" pitchFamily="18" charset="0"/>
                <a:cs typeface="Times New Roman" panose="02020603050405020304" pitchFamily="18" charset="0"/>
                <a:sym typeface="+mn-ea"/>
              </a:rPr>
              <a:t>Adeodu</a:t>
            </a:r>
            <a:r>
              <a:rPr lang="en-IN" altLang="en-US" dirty="0">
                <a:latin typeface="Times New Roman" panose="02020603050405020304" pitchFamily="18" charset="0"/>
                <a:cs typeface="Times New Roman" panose="02020603050405020304" pitchFamily="18" charset="0"/>
                <a:sym typeface="+mn-ea"/>
              </a:rPr>
              <a:t>, et.al </a:t>
            </a:r>
            <a:r>
              <a:rPr lang="en-US" altLang="en-US" dirty="0">
                <a:latin typeface="Times New Roman" panose="02020603050405020304" pitchFamily="18" charset="0"/>
                <a:cs typeface="Times New Roman" panose="02020603050405020304" pitchFamily="18" charset="0"/>
                <a:sym typeface="+mn-ea"/>
              </a:rPr>
              <a:t>"Iron</a:t>
            </a:r>
            <a:r>
              <a:rPr lang="en-IN" altLang="en-US" dirty="0">
                <a:latin typeface="Times New Roman" panose="02020603050405020304" pitchFamily="18" charset="0"/>
                <a:cs typeface="Times New Roman" panose="02020603050405020304" pitchFamily="18" charset="0"/>
                <a:sym typeface="+mn-ea"/>
              </a:rPr>
              <a:t> </a:t>
            </a:r>
            <a:r>
              <a:rPr lang="en-US" altLang="en-US" dirty="0">
                <a:latin typeface="Times New Roman" panose="02020603050405020304" pitchFamily="18" charset="0"/>
                <a:cs typeface="Times New Roman" panose="02020603050405020304" pitchFamily="18" charset="0"/>
                <a:sym typeface="+mn-ea"/>
              </a:rPr>
              <a:t>deficiency, still a rarity in children with sickle cell anemia in </a:t>
            </a:r>
            <a:r>
              <a:rPr lang="en-IN" altLang="en-US" dirty="0">
                <a:latin typeface="Times New Roman" panose="02020603050405020304" pitchFamily="18" charset="0"/>
                <a:cs typeface="Times New Roman" panose="02020603050405020304" pitchFamily="18" charset="0"/>
                <a:sym typeface="+mn-ea"/>
              </a:rPr>
              <a:t>IL</a:t>
            </a:r>
            <a:r>
              <a:rPr lang="en-US" altLang="en-US" dirty="0">
                <a:latin typeface="Times New Roman" panose="02020603050405020304" pitchFamily="18" charset="0"/>
                <a:cs typeface="Times New Roman" panose="02020603050405020304" pitchFamily="18" charset="0"/>
                <a:sym typeface="+mn-ea"/>
              </a:rPr>
              <a:t>e-</a:t>
            </a:r>
            <a:r>
              <a:rPr lang="en-IN" altLang="en-US" dirty="0">
                <a:latin typeface="Times New Roman" panose="02020603050405020304" pitchFamily="18" charset="0"/>
                <a:cs typeface="Times New Roman" panose="02020603050405020304" pitchFamily="18" charset="0"/>
                <a:sym typeface="+mn-ea"/>
              </a:rPr>
              <a:t>I</a:t>
            </a:r>
            <a:r>
              <a:rPr lang="en-US" altLang="en-US" dirty="0">
                <a:latin typeface="Times New Roman" panose="02020603050405020304" pitchFamily="18" charset="0"/>
                <a:cs typeface="Times New Roman" panose="02020603050405020304" pitchFamily="18" charset="0"/>
                <a:sym typeface="+mn-ea"/>
              </a:rPr>
              <a:t>fe, Nigeria"</a:t>
            </a:r>
            <a:r>
              <a:rPr lang="en-IN" altLang="en-US" dirty="0">
                <a:latin typeface="Times New Roman" panose="02020603050405020304" pitchFamily="18" charset="0"/>
                <a:cs typeface="Times New Roman" panose="02020603050405020304" pitchFamily="18" charset="0"/>
                <a:sym typeface="+mn-ea"/>
              </a:rPr>
              <a:t>,</a:t>
            </a:r>
            <a:r>
              <a:rPr lang="en-US" altLang="en-US" dirty="0">
                <a:latin typeface="Times New Roman" panose="02020603050405020304" pitchFamily="18" charset="0"/>
                <a:cs typeface="Times New Roman" panose="02020603050405020304" pitchFamily="18" charset="0"/>
                <a:sym typeface="+mn-ea"/>
              </a:rPr>
              <a:t> Hematology, Transfusion and Cell Therapy,  Elsevier , </a:t>
            </a:r>
            <a:r>
              <a:rPr lang="en-IN" altLang="en-US" dirty="0">
                <a:latin typeface="Times New Roman" panose="02020603050405020304" pitchFamily="18" charset="0"/>
                <a:cs typeface="Times New Roman" panose="02020603050405020304" pitchFamily="18" charset="0"/>
                <a:sym typeface="+mn-ea"/>
              </a:rPr>
              <a:t>28 March </a:t>
            </a:r>
            <a:r>
              <a:rPr lang="en-US" altLang="en-US" dirty="0">
                <a:latin typeface="Times New Roman" panose="02020603050405020304" pitchFamily="18" charset="0"/>
                <a:cs typeface="Times New Roman" panose="02020603050405020304" pitchFamily="18" charset="0"/>
                <a:sym typeface="+mn-ea"/>
              </a:rPr>
              <a:t>2019.</a:t>
            </a:r>
          </a:p>
          <a:p>
            <a:pPr indent="0" algn="just">
              <a:buFont typeface="+mj-lt"/>
              <a:buNone/>
            </a:pPr>
            <a:r>
              <a:rPr lang="en-IN" altLang="en-US" dirty="0">
                <a:latin typeface="Times New Roman" panose="02020603050405020304" pitchFamily="18" charset="0"/>
                <a:cs typeface="Times New Roman" panose="02020603050405020304" pitchFamily="18" charset="0"/>
                <a:sym typeface="+mn-ea"/>
              </a:rPr>
              <a:t>[8]  Dr.V.Geetha, Dr.C.K.Gomathy, Kommuru Keerthi, et.al </a:t>
            </a:r>
            <a:r>
              <a:rPr lang="en-US" altLang="en-US" dirty="0">
                <a:latin typeface="Times New Roman" panose="02020603050405020304" pitchFamily="18" charset="0"/>
                <a:cs typeface="Times New Roman" panose="02020603050405020304" pitchFamily="18" charset="0"/>
                <a:sym typeface="+mn-ea"/>
              </a:rPr>
              <a:t>"</a:t>
            </a:r>
            <a:r>
              <a:rPr lang="en-IN" altLang="en-US" dirty="0">
                <a:latin typeface="Times New Roman" panose="02020603050405020304" pitchFamily="18" charset="0"/>
                <a:cs typeface="Times New Roman" panose="02020603050405020304" pitchFamily="18" charset="0"/>
                <a:sym typeface="+mn-ea"/>
              </a:rPr>
              <a:t>Diagnostic Approach To Anemia in Adults Using Machine Learing </a:t>
            </a:r>
            <a:r>
              <a:rPr lang="en-US" altLang="en-US" dirty="0">
                <a:latin typeface="Times New Roman" panose="02020603050405020304" pitchFamily="18" charset="0"/>
                <a:cs typeface="Times New Roman" panose="02020603050405020304" pitchFamily="18" charset="0"/>
                <a:sym typeface="+mn-ea"/>
              </a:rPr>
              <a:t>"</a:t>
            </a:r>
            <a:r>
              <a:rPr lang="en-IN" altLang="en-US" dirty="0">
                <a:latin typeface="Times New Roman" panose="02020603050405020304" pitchFamily="18" charset="0"/>
                <a:cs typeface="Times New Roman" panose="02020603050405020304" pitchFamily="18" charset="0"/>
                <a:sym typeface="+mn-ea"/>
              </a:rPr>
              <a:t>, Pharmaaceutical Negative Results , Original Article , 2022.</a:t>
            </a:r>
          </a:p>
          <a:p>
            <a:pPr indent="0" algn="just">
              <a:buFont typeface="+mj-lt"/>
              <a:buNone/>
            </a:pPr>
            <a:r>
              <a:rPr lang="en-IN" altLang="en-US" dirty="0">
                <a:latin typeface="Times New Roman" panose="02020603050405020304" pitchFamily="18" charset="0"/>
                <a:cs typeface="Times New Roman" panose="02020603050405020304" pitchFamily="18" charset="0"/>
                <a:sym typeface="+mn-ea"/>
              </a:rPr>
              <a:t>[9]  Fu-Ping Lai, Yao-Jong Yang, </a:t>
            </a:r>
            <a:r>
              <a:rPr lang="en-US" altLang="en-US" dirty="0">
                <a:latin typeface="Times New Roman" panose="02020603050405020304" pitchFamily="18" charset="0"/>
                <a:cs typeface="Times New Roman" panose="02020603050405020304" pitchFamily="18" charset="0"/>
                <a:sym typeface="+mn-ea"/>
              </a:rPr>
              <a:t>"</a:t>
            </a:r>
            <a:r>
              <a:rPr lang="en-IN" altLang="en-US" dirty="0">
                <a:latin typeface="Times New Roman" panose="02020603050405020304" pitchFamily="18" charset="0"/>
                <a:cs typeface="Times New Roman" panose="02020603050405020304" pitchFamily="18" charset="0"/>
                <a:sym typeface="+mn-ea"/>
              </a:rPr>
              <a:t>The prevalence &amp; characteristics of cow’s milk protein allergy in infants &amp; young children with iron deficiency aneamia</a:t>
            </a:r>
            <a:r>
              <a:rPr lang="en-US" altLang="en-US" dirty="0">
                <a:latin typeface="Times New Roman" panose="02020603050405020304" pitchFamily="18" charset="0"/>
                <a:cs typeface="Times New Roman" panose="02020603050405020304" pitchFamily="18" charset="0"/>
                <a:sym typeface="+mn-ea"/>
              </a:rPr>
              <a:t>"</a:t>
            </a:r>
            <a:r>
              <a:rPr lang="en-IN" altLang="en-US" dirty="0">
                <a:latin typeface="Times New Roman" panose="02020603050405020304" pitchFamily="18" charset="0"/>
                <a:cs typeface="Times New Roman" panose="02020603050405020304" pitchFamily="18" charset="0"/>
                <a:sym typeface="+mn-ea"/>
              </a:rPr>
              <a:t>, ScienceDirect, Elsevier Taiwan Pediatric Association, 30 June 2017.</a:t>
            </a:r>
            <a:endParaRPr lang="en-US" altLang="en-US" dirty="0">
              <a:latin typeface="Times New Roman" panose="02020603050405020304" pitchFamily="18" charset="0"/>
              <a:cs typeface="Times New Roman" panose="02020603050405020304" pitchFamily="18" charset="0"/>
              <a:sym typeface="+mn-ea"/>
            </a:endParaRPr>
          </a:p>
          <a:p>
            <a:pPr algn="just">
              <a:buNone/>
            </a:pPr>
            <a:endParaRPr lang="en-US" altLang="en-US" dirty="0">
              <a:latin typeface="Times New Roman" panose="02020603050405020304" pitchFamily="18" charset="0"/>
              <a:cs typeface="Times New Roman" panose="02020603050405020304" pitchFamily="18" charset="0"/>
            </a:endParaRPr>
          </a:p>
          <a:p>
            <a:pPr indent="0" algn="just">
              <a:buFont typeface="Wingdings" panose="05000000000000000000" pitchFamily="2" charset="2"/>
              <a:buNone/>
            </a:pPr>
            <a:endParaRPr lang="en-IN" sz="1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801979" y="2921168"/>
            <a:ext cx="6096000" cy="1015663"/>
          </a:xfrm>
          <a:prstGeom prst="rect">
            <a:avLst/>
          </a:prstGeom>
          <a:noFill/>
        </p:spPr>
        <p:txBody>
          <a:bodyPr wrap="square">
            <a:spAutoFit/>
          </a:bodyPr>
          <a:lstStyle/>
          <a:p>
            <a:r>
              <a:rPr lang="en-IN" sz="6000" b="1" dirty="0">
                <a:latin typeface="Times New Roman" panose="02020603050405020304" pitchFamily="18" charset="0"/>
                <a:cs typeface="Times New Roman" panose="02020603050405020304" pitchFamily="18" charset="0"/>
              </a:rPr>
              <a:t>THANK YOU !</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ABLE_ENDDRAG_ORIGIN_RECT" val="571*142"/>
  <p:tag name="TABLE_ENDDRAG_RECT" val="200*237*571*142"/>
</p:tagLst>
</file>

<file path=ppt/tags/tag2.xml><?xml version="1.0" encoding="utf-8"?>
<p:tagLst xmlns:a="http://schemas.openxmlformats.org/drawingml/2006/main" xmlns:r="http://schemas.openxmlformats.org/officeDocument/2006/relationships" xmlns:p="http://schemas.openxmlformats.org/presentationml/2006/main">
  <p:tag name="TABLE_ENDDRAG_ORIGIN_RECT" val="876*440"/>
  <p:tag name="TABLE_ENDDRAG_RECT" val="58*79*876*440"/>
</p:tagLst>
</file>

<file path=ppt/tags/tag3.xml><?xml version="1.0" encoding="utf-8"?>
<p:tagLst xmlns:a="http://schemas.openxmlformats.org/drawingml/2006/main" xmlns:r="http://schemas.openxmlformats.org/officeDocument/2006/relationships" xmlns:p="http://schemas.openxmlformats.org/presentationml/2006/main">
  <p:tag name="TABLE_ENDDRAG_ORIGIN_RECT" val="861*488"/>
  <p:tag name="TABLE_ENDDRAG_RECT" val="76*49*861*488"/>
</p:tagLst>
</file>

<file path=ppt/tags/tag4.xml><?xml version="1.0" encoding="utf-8"?>
<p:tagLst xmlns:a="http://schemas.openxmlformats.org/drawingml/2006/main" xmlns:r="http://schemas.openxmlformats.org/officeDocument/2006/relationships" xmlns:p="http://schemas.openxmlformats.org/presentationml/2006/main">
  <p:tag name="TABLE_ENDDRAG_ORIGIN_RECT" val="881*505"/>
  <p:tag name="TABLE_ENDDRAG_RECT" val="48*16*881*505"/>
</p:tagLst>
</file>

<file path=ppt/tags/tag5.xml><?xml version="1.0" encoding="utf-8"?>
<p:tagLst xmlns:a="http://schemas.openxmlformats.org/drawingml/2006/main" xmlns:r="http://schemas.openxmlformats.org/officeDocument/2006/relationships" xmlns:p="http://schemas.openxmlformats.org/presentationml/2006/main">
  <p:tag name="TABLE_ENDDRAG_ORIGIN_RECT" val="833*428"/>
  <p:tag name="TABLE_ENDDRAG_RECT" val="99*73*833*428"/>
</p:tagLst>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Wisp</Template>
  <TotalTime>7</TotalTime>
  <Words>2025</Words>
  <Application>Microsoft Office PowerPoint</Application>
  <PresentationFormat>Widescreen</PresentationFormat>
  <Paragraphs>150</Paragraphs>
  <Slides>17</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17</vt:i4>
      </vt:variant>
    </vt:vector>
  </HeadingPairs>
  <TitlesOfParts>
    <vt:vector size="23" baseType="lpstr">
      <vt:lpstr>Arial</vt:lpstr>
      <vt:lpstr>Century Gothic</vt:lpstr>
      <vt:lpstr>Times New Roman</vt:lpstr>
      <vt:lpstr>Wingdings</vt:lpstr>
      <vt:lpstr>Wingdings 3</vt:lpstr>
      <vt:lpstr>Wisp</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Software components:</vt:lpstr>
      <vt:lpstr>PowerPoint Presentation</vt:lpstr>
      <vt:lpstr>PowerPoint Presentation</vt:lpstr>
      <vt:lpstr>Real time demonstration &amp; Results :- </vt:lpstr>
      <vt:lpstr>PowerPoint Presentation</vt:lpstr>
      <vt:lpstr>Work done:</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Avinash Royal</dc:creator>
  <cp:lastModifiedBy>Avinash Royal</cp:lastModifiedBy>
  <cp:revision>26</cp:revision>
  <dcterms:created xsi:type="dcterms:W3CDTF">2025-07-29T16:00:00Z</dcterms:created>
  <dcterms:modified xsi:type="dcterms:W3CDTF">2025-10-15T05:46:28Z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8E153C7E65834DBF972241F47F8F52DB_13</vt:lpwstr>
  </property>
  <property fmtid="{D5CDD505-2E9C-101B-9397-08002B2CF9AE}" pid="3" name="KSOProductBuildVer">
    <vt:lpwstr>1033-12.2.0.22549</vt:lpwstr>
  </property>
</Properties>
</file>